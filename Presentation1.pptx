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2" r:id="rId7"/>
    <p:sldId id="261" r:id="rId8"/>
    <p:sldId id="263" r:id="rId9"/>
    <p:sldId id="264" r:id="rId10"/>
    <p:sldId id="265" r:id="rId11"/>
    <p:sldId id="268"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C398"/>
    <a:srgbClr val="A4B27B"/>
    <a:srgbClr val="76844D"/>
    <a:srgbClr val="568059"/>
    <a:srgbClr val="3A6957"/>
    <a:srgbClr val="E0E5D2"/>
    <a:srgbClr val="CCD4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93A103-080D-4E4A-A4CC-8FA1435AFCF4}" type="datetimeFigureOut">
              <a:rPr lang="en-IN" smtClean="0"/>
              <a:t>24-10-2026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04FD55-4D92-4FE8-9014-231273F4543E}" type="slidenum">
              <a:rPr lang="en-IN" smtClean="0"/>
              <a:t>‹#›</a:t>
            </a:fld>
            <a:endParaRPr lang="en-IN"/>
          </a:p>
        </p:txBody>
      </p:sp>
    </p:spTree>
    <p:extLst>
      <p:ext uri="{BB962C8B-B14F-4D97-AF65-F5344CB8AC3E}">
        <p14:creationId xmlns:p14="http://schemas.microsoft.com/office/powerpoint/2010/main" val="1392697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04FD55-4D92-4FE8-9014-231273F4543E}" type="slidenum">
              <a:rPr lang="en-IN" smtClean="0"/>
              <a:t>3</a:t>
            </a:fld>
            <a:endParaRPr lang="en-IN"/>
          </a:p>
        </p:txBody>
      </p:sp>
    </p:spTree>
    <p:extLst>
      <p:ext uri="{BB962C8B-B14F-4D97-AF65-F5344CB8AC3E}">
        <p14:creationId xmlns:p14="http://schemas.microsoft.com/office/powerpoint/2010/main" val="1616612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9DFA1-9DA8-1E7C-513F-293A8075A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FED5D-97D3-082D-5E12-06CAABA85D2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30A42E2-B64F-501A-8F84-D34D52D8A87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65E68BD-716C-BDCC-0463-FC7EC48B2CAA}"/>
              </a:ext>
            </a:extLst>
          </p:cNvPr>
          <p:cNvSpPr>
            <a:spLocks noGrp="1"/>
          </p:cNvSpPr>
          <p:nvPr>
            <p:ph type="sldNum" sz="quarter" idx="5"/>
          </p:nvPr>
        </p:nvSpPr>
        <p:spPr/>
        <p:txBody>
          <a:bodyPr/>
          <a:lstStyle/>
          <a:p>
            <a:fld id="{3004FD55-4D92-4FE8-9014-231273F4543E}" type="slidenum">
              <a:rPr lang="en-IN" smtClean="0"/>
              <a:t>4</a:t>
            </a:fld>
            <a:endParaRPr lang="en-IN"/>
          </a:p>
        </p:txBody>
      </p:sp>
    </p:spTree>
    <p:extLst>
      <p:ext uri="{BB962C8B-B14F-4D97-AF65-F5344CB8AC3E}">
        <p14:creationId xmlns:p14="http://schemas.microsoft.com/office/powerpoint/2010/main" val="531192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ECB9A-AE3B-FF6F-E9C4-380D490F3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87EAF-7FFD-34C3-C9E3-0D1947F6B69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ABF736-B4C2-0E6F-CE12-EB5FEC21ED1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B52030D-58F9-ACB7-FABB-AE83456285A7}"/>
              </a:ext>
            </a:extLst>
          </p:cNvPr>
          <p:cNvSpPr>
            <a:spLocks noGrp="1"/>
          </p:cNvSpPr>
          <p:nvPr>
            <p:ph type="sldNum" sz="quarter" idx="5"/>
          </p:nvPr>
        </p:nvSpPr>
        <p:spPr/>
        <p:txBody>
          <a:bodyPr/>
          <a:lstStyle/>
          <a:p>
            <a:fld id="{3004FD55-4D92-4FE8-9014-231273F4543E}" type="slidenum">
              <a:rPr lang="en-IN" smtClean="0"/>
              <a:t>6</a:t>
            </a:fld>
            <a:endParaRPr lang="en-IN"/>
          </a:p>
        </p:txBody>
      </p:sp>
    </p:spTree>
    <p:extLst>
      <p:ext uri="{BB962C8B-B14F-4D97-AF65-F5344CB8AC3E}">
        <p14:creationId xmlns:p14="http://schemas.microsoft.com/office/powerpoint/2010/main" val="989604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004FD55-4D92-4FE8-9014-231273F4543E}" type="slidenum">
              <a:rPr lang="en-IN" smtClean="0"/>
              <a:t>7</a:t>
            </a:fld>
            <a:endParaRPr lang="en-IN"/>
          </a:p>
        </p:txBody>
      </p:sp>
    </p:spTree>
    <p:extLst>
      <p:ext uri="{BB962C8B-B14F-4D97-AF65-F5344CB8AC3E}">
        <p14:creationId xmlns:p14="http://schemas.microsoft.com/office/powerpoint/2010/main" val="1045214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10258-4306-DE00-CE96-563E22D37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C2492-44B8-609A-A918-8F3962A577F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D2C4D35-5737-E717-DB0B-38D6EFDBA0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F8BBF9-2738-8291-3401-CFFF1D957F2C}"/>
              </a:ext>
            </a:extLst>
          </p:cNvPr>
          <p:cNvSpPr>
            <a:spLocks noGrp="1"/>
          </p:cNvSpPr>
          <p:nvPr>
            <p:ph type="sldNum" sz="quarter" idx="5"/>
          </p:nvPr>
        </p:nvSpPr>
        <p:spPr/>
        <p:txBody>
          <a:bodyPr/>
          <a:lstStyle/>
          <a:p>
            <a:fld id="{3004FD55-4D92-4FE8-9014-231273F4543E}" type="slidenum">
              <a:rPr lang="en-IN" smtClean="0"/>
              <a:t>8</a:t>
            </a:fld>
            <a:endParaRPr lang="en-IN"/>
          </a:p>
        </p:txBody>
      </p:sp>
    </p:spTree>
    <p:extLst>
      <p:ext uri="{BB962C8B-B14F-4D97-AF65-F5344CB8AC3E}">
        <p14:creationId xmlns:p14="http://schemas.microsoft.com/office/powerpoint/2010/main" val="2857860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CB98E-6453-1C51-3EC1-88D13249D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F5599-3EFC-DE74-2676-7958A9E9C16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8994171-5943-7C7B-3373-1F008ADCFB0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88B89EB-CF4C-5DAB-B86B-BAEE0BFAAF88}"/>
              </a:ext>
            </a:extLst>
          </p:cNvPr>
          <p:cNvSpPr>
            <a:spLocks noGrp="1"/>
          </p:cNvSpPr>
          <p:nvPr>
            <p:ph type="sldNum" sz="quarter" idx="5"/>
          </p:nvPr>
        </p:nvSpPr>
        <p:spPr/>
        <p:txBody>
          <a:bodyPr/>
          <a:lstStyle/>
          <a:p>
            <a:fld id="{3004FD55-4D92-4FE8-9014-231273F4543E}" type="slidenum">
              <a:rPr lang="en-IN" smtClean="0"/>
              <a:t>9</a:t>
            </a:fld>
            <a:endParaRPr lang="en-IN"/>
          </a:p>
        </p:txBody>
      </p:sp>
    </p:spTree>
    <p:extLst>
      <p:ext uri="{BB962C8B-B14F-4D97-AF65-F5344CB8AC3E}">
        <p14:creationId xmlns:p14="http://schemas.microsoft.com/office/powerpoint/2010/main" val="319897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E4F11-3F86-2500-911D-A479B3CCCB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C41B1-EEC3-46B3-032F-77A14245E97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F91A7D-877E-940D-B4D0-4629B09AB0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A3DC002-3C97-791F-0BE1-F105C60E9B6C}"/>
              </a:ext>
            </a:extLst>
          </p:cNvPr>
          <p:cNvSpPr>
            <a:spLocks noGrp="1"/>
          </p:cNvSpPr>
          <p:nvPr>
            <p:ph type="sldNum" sz="quarter" idx="5"/>
          </p:nvPr>
        </p:nvSpPr>
        <p:spPr/>
        <p:txBody>
          <a:bodyPr/>
          <a:lstStyle/>
          <a:p>
            <a:fld id="{3004FD55-4D92-4FE8-9014-231273F4543E}" type="slidenum">
              <a:rPr lang="en-IN" smtClean="0"/>
              <a:t>10</a:t>
            </a:fld>
            <a:endParaRPr lang="en-IN"/>
          </a:p>
        </p:txBody>
      </p:sp>
    </p:spTree>
    <p:extLst>
      <p:ext uri="{BB962C8B-B14F-4D97-AF65-F5344CB8AC3E}">
        <p14:creationId xmlns:p14="http://schemas.microsoft.com/office/powerpoint/2010/main" val="785969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C4BE5-8CB9-9A63-050F-7F9542555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29E04-7159-550B-F438-FFFCEFD268E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DE35C2C-8BD8-DE88-0578-C4BD60DB533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A720CE3-32F1-9AA4-5DFE-473164B4F8AB}"/>
              </a:ext>
            </a:extLst>
          </p:cNvPr>
          <p:cNvSpPr>
            <a:spLocks noGrp="1"/>
          </p:cNvSpPr>
          <p:nvPr>
            <p:ph type="sldNum" sz="quarter" idx="5"/>
          </p:nvPr>
        </p:nvSpPr>
        <p:spPr/>
        <p:txBody>
          <a:bodyPr/>
          <a:lstStyle/>
          <a:p>
            <a:fld id="{3004FD55-4D92-4FE8-9014-231273F4543E}" type="slidenum">
              <a:rPr lang="en-IN" smtClean="0"/>
              <a:t>11</a:t>
            </a:fld>
            <a:endParaRPr lang="en-IN"/>
          </a:p>
        </p:txBody>
      </p:sp>
    </p:spTree>
    <p:extLst>
      <p:ext uri="{BB962C8B-B14F-4D97-AF65-F5344CB8AC3E}">
        <p14:creationId xmlns:p14="http://schemas.microsoft.com/office/powerpoint/2010/main" val="1643066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20BD-48AE-1C4A-F32F-38284D4AA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367056-E1A7-EF5F-2553-746154E20DF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1B545ED-A03A-E754-0EC8-D523A4A6F7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820F9AF-E350-2B6E-04D6-0979EC45B0D0}"/>
              </a:ext>
            </a:extLst>
          </p:cNvPr>
          <p:cNvSpPr>
            <a:spLocks noGrp="1"/>
          </p:cNvSpPr>
          <p:nvPr>
            <p:ph type="sldNum" sz="quarter" idx="5"/>
          </p:nvPr>
        </p:nvSpPr>
        <p:spPr/>
        <p:txBody>
          <a:bodyPr/>
          <a:lstStyle/>
          <a:p>
            <a:fld id="{3004FD55-4D92-4FE8-9014-231273F4543E}" type="slidenum">
              <a:rPr lang="en-IN" smtClean="0"/>
              <a:t>12</a:t>
            </a:fld>
            <a:endParaRPr lang="en-IN"/>
          </a:p>
        </p:txBody>
      </p:sp>
    </p:spTree>
    <p:extLst>
      <p:ext uri="{BB962C8B-B14F-4D97-AF65-F5344CB8AC3E}">
        <p14:creationId xmlns:p14="http://schemas.microsoft.com/office/powerpoint/2010/main" val="3259945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58F51-EC19-8182-B9D6-CA8E4FD3C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FC31918-29B8-25C5-E3AD-F1BD62F91A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E136E7-9865-4562-64D5-46F769D06BD0}"/>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5" name="Footer Placeholder 4">
            <a:extLst>
              <a:ext uri="{FF2B5EF4-FFF2-40B4-BE49-F238E27FC236}">
                <a16:creationId xmlns:a16="http://schemas.microsoft.com/office/drawing/2014/main" id="{08785A73-63C1-029E-1F9C-7F1A5C9682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DCC69D-C3AC-C15D-0C0B-719470938685}"/>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1126245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B64F7-A5FA-A09D-A7B6-40E82307CC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A5C13F-66CA-2B23-2BC3-214A4DBF2E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E71CFE-E825-B84A-6859-375E936DEC89}"/>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5" name="Footer Placeholder 4">
            <a:extLst>
              <a:ext uri="{FF2B5EF4-FFF2-40B4-BE49-F238E27FC236}">
                <a16:creationId xmlns:a16="http://schemas.microsoft.com/office/drawing/2014/main" id="{07C6AE73-434B-83E3-5C67-6A418408D0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595772-5515-FA91-5725-85F34D412D8A}"/>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3038947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7C2B3-4470-D36A-A2F3-AC20006DA2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AB0C43-C952-F026-F35B-2B7614921F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C02458-04DA-894D-917F-8CA00BA683E0}"/>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5" name="Footer Placeholder 4">
            <a:extLst>
              <a:ext uri="{FF2B5EF4-FFF2-40B4-BE49-F238E27FC236}">
                <a16:creationId xmlns:a16="http://schemas.microsoft.com/office/drawing/2014/main" id="{4984D824-2F65-B19A-F5FC-5B7A66F44F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15DDB5-9F70-BE54-DB51-3E6733FB18EA}"/>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434055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D3C4-DB99-4CD7-4B36-A2536AA2B3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9FC99C-5C5D-3133-4212-3803DF91C0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536476-FEE4-0638-A14B-34E118ADB6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6C2D8D-7E4E-F8F3-4D6D-F9699B2DF695}"/>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6" name="Footer Placeholder 5">
            <a:extLst>
              <a:ext uri="{FF2B5EF4-FFF2-40B4-BE49-F238E27FC236}">
                <a16:creationId xmlns:a16="http://schemas.microsoft.com/office/drawing/2014/main" id="{CAE55812-0198-6FC6-CCB6-C0FD9048C7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89B1CF-E56A-77FA-43A1-141CCF7A00CE}"/>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1916363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F85C-6D9C-9D08-0652-BD918D14BE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C4E199-172B-7074-04DE-21968F131F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FE51C6-B8B3-1A73-FE18-EB0CCCFA0C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547B6FE-69BF-7E9D-F6B0-470B094D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EDDE23-5C92-0AB8-B0D4-C028E5E4E6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AFA6E1-45B6-B37C-1776-370AA566DDC4}"/>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8" name="Footer Placeholder 7">
            <a:extLst>
              <a:ext uri="{FF2B5EF4-FFF2-40B4-BE49-F238E27FC236}">
                <a16:creationId xmlns:a16="http://schemas.microsoft.com/office/drawing/2014/main" id="{101EE12C-CDF4-C394-0667-6E0C39F01D7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D820C7-818C-A0F7-F99B-425FC7E8B1CB}"/>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4242542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36775-48B3-1C55-DA04-C2E251DECA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76CD46-ABBC-9742-76F8-6EC8A336DC66}"/>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4" name="Footer Placeholder 3">
            <a:extLst>
              <a:ext uri="{FF2B5EF4-FFF2-40B4-BE49-F238E27FC236}">
                <a16:creationId xmlns:a16="http://schemas.microsoft.com/office/drawing/2014/main" id="{5ECC7E9C-47C5-F399-6F45-E1EC5A8C1D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00F338-BCF6-8F2B-9E8E-E269E8A0CE99}"/>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2438200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DD75A1-975F-2CDA-F650-780565845027}"/>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3" name="Footer Placeholder 2">
            <a:extLst>
              <a:ext uri="{FF2B5EF4-FFF2-40B4-BE49-F238E27FC236}">
                <a16:creationId xmlns:a16="http://schemas.microsoft.com/office/drawing/2014/main" id="{DF9C231C-D00F-B2DF-0CF0-82EF36B9DA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DE0EAD-FC03-7548-23CC-52231B50E7E3}"/>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982106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9F377-C69A-AF7D-325E-2EAB0D5838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B0F82C0-1E69-9932-5629-9A98EB754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9FB350-15CC-A1E5-703D-1FB56FCA02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191B4C-993B-43BB-121A-C02541861C06}"/>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6" name="Footer Placeholder 5">
            <a:extLst>
              <a:ext uri="{FF2B5EF4-FFF2-40B4-BE49-F238E27FC236}">
                <a16:creationId xmlns:a16="http://schemas.microsoft.com/office/drawing/2014/main" id="{1407A87C-D7DA-CD75-AC69-B02054FC9C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529A9F-49B7-24A1-610B-435F9E985190}"/>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345038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3DEAA-2CD4-6D41-080E-1074A3637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88DE910-3630-AB64-E851-A4D856782B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5235D7-E7F6-BDEC-804A-672299290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0DAC5E-4ED4-F394-3C83-84F6EE7FA60D}"/>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6" name="Footer Placeholder 5">
            <a:extLst>
              <a:ext uri="{FF2B5EF4-FFF2-40B4-BE49-F238E27FC236}">
                <a16:creationId xmlns:a16="http://schemas.microsoft.com/office/drawing/2014/main" id="{E90ABE8E-8FD5-A1F4-EF98-B774A9A2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21DD7A-B8E1-9850-E7D9-50D4998A6998}"/>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280307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CBC-9389-1B92-BE36-21E991FF4E3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3EC058-0D75-D3AF-6D1E-34D854760C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9D87BA-D0F7-C952-4B32-A1962BCC303D}"/>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5" name="Footer Placeholder 4">
            <a:extLst>
              <a:ext uri="{FF2B5EF4-FFF2-40B4-BE49-F238E27FC236}">
                <a16:creationId xmlns:a16="http://schemas.microsoft.com/office/drawing/2014/main" id="{B480CA62-2ED0-3B98-66CF-C136000B81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B648D4-6D21-5B77-C00B-E6F0C59E05DD}"/>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106612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12D777-6E62-1661-7FCD-C5B77A7D0E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1DB965-6662-3C82-9CA0-10BC3C6839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E69909-990D-403B-F926-73FA36F5CFD6}"/>
              </a:ext>
            </a:extLst>
          </p:cNvPr>
          <p:cNvSpPr>
            <a:spLocks noGrp="1"/>
          </p:cNvSpPr>
          <p:nvPr>
            <p:ph type="dt" sz="half" idx="10"/>
          </p:nvPr>
        </p:nvSpPr>
        <p:spPr/>
        <p:txBody>
          <a:bodyPr/>
          <a:lstStyle/>
          <a:p>
            <a:fld id="{2A8C0AD4-DB31-43D9-A777-3452B674165F}" type="datetimeFigureOut">
              <a:rPr lang="en-IN" smtClean="0"/>
              <a:t>24-10-2026</a:t>
            </a:fld>
            <a:endParaRPr lang="en-IN"/>
          </a:p>
        </p:txBody>
      </p:sp>
      <p:sp>
        <p:nvSpPr>
          <p:cNvPr id="5" name="Footer Placeholder 4">
            <a:extLst>
              <a:ext uri="{FF2B5EF4-FFF2-40B4-BE49-F238E27FC236}">
                <a16:creationId xmlns:a16="http://schemas.microsoft.com/office/drawing/2014/main" id="{F7393F6A-CC67-BA64-13D8-A11B82BDDC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32C496-4294-64FC-DCA2-ACA964AB2B1D}"/>
              </a:ext>
            </a:extLst>
          </p:cNvPr>
          <p:cNvSpPr>
            <a:spLocks noGrp="1"/>
          </p:cNvSpPr>
          <p:nvPr>
            <p:ph type="sldNum" sz="quarter" idx="12"/>
          </p:nvPr>
        </p:nvSpPr>
        <p:spPr/>
        <p:txBody>
          <a:bodyPr/>
          <a:lstStyle/>
          <a:p>
            <a:fld id="{096EF208-E566-4873-92E8-AC01E4C91DF9}" type="slidenum">
              <a:rPr lang="en-IN" smtClean="0"/>
              <a:t>‹#›</a:t>
            </a:fld>
            <a:endParaRPr lang="en-IN"/>
          </a:p>
        </p:txBody>
      </p:sp>
    </p:spTree>
    <p:extLst>
      <p:ext uri="{BB962C8B-B14F-4D97-AF65-F5344CB8AC3E}">
        <p14:creationId xmlns:p14="http://schemas.microsoft.com/office/powerpoint/2010/main" val="2581935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5F0E5-4216-2885-7584-BAF63ECF0B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88FDD7-D01F-2272-1B95-C272F1F67C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20C8B2-F4DD-17AD-CDB5-6999F412FD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8C0AD4-DB31-43D9-A777-3452B674165F}" type="datetimeFigureOut">
              <a:rPr lang="en-IN" smtClean="0"/>
              <a:t>24-10-2026</a:t>
            </a:fld>
            <a:endParaRPr lang="en-IN"/>
          </a:p>
        </p:txBody>
      </p:sp>
      <p:sp>
        <p:nvSpPr>
          <p:cNvPr id="5" name="Footer Placeholder 4">
            <a:extLst>
              <a:ext uri="{FF2B5EF4-FFF2-40B4-BE49-F238E27FC236}">
                <a16:creationId xmlns:a16="http://schemas.microsoft.com/office/drawing/2014/main" id="{2CBF9277-3CEA-3316-A31C-B063F55C9B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60E290-E2E1-AF21-BE0B-E8DD410B4F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6EF208-E566-4873-92E8-AC01E4C91DF9}" type="slidenum">
              <a:rPr lang="en-IN" smtClean="0"/>
              <a:t>‹#›</a:t>
            </a:fld>
            <a:endParaRPr lang="en-IN"/>
          </a:p>
        </p:txBody>
      </p:sp>
    </p:spTree>
    <p:extLst>
      <p:ext uri="{BB962C8B-B14F-4D97-AF65-F5344CB8AC3E}">
        <p14:creationId xmlns:p14="http://schemas.microsoft.com/office/powerpoint/2010/main" val="2705408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6.png"/><Relationship Id="rId5" Type="http://schemas.microsoft.com/office/2007/relationships/hdphoto" Target="../media/hdphoto2.wdp"/><Relationship Id="rId10" Type="http://schemas.openxmlformats.org/officeDocument/2006/relationships/image" Target="../media/image5.png"/><Relationship Id="rId4" Type="http://schemas.openxmlformats.org/officeDocument/2006/relationships/image" Target="../media/image2.png"/><Relationship Id="rId9" Type="http://schemas.microsoft.com/office/2007/relationships/hdphoto" Target="../media/hdphoto4.wdp"/></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 Id="rId9" Type="http://schemas.microsoft.com/office/2007/relationships/hdphoto" Target="../media/hdphoto4.wdp"/></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4.wdp"/><Relationship Id="rId5" Type="http://schemas.openxmlformats.org/officeDocument/2006/relationships/image" Target="../media/image4.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microsoft.com/office/2007/relationships/hdphoto" Target="../media/hdphoto1.wdp"/><Relationship Id="rId7"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png"/><Relationship Id="rId5" Type="http://schemas.microsoft.com/office/2007/relationships/hdphoto" Target="../media/hdphoto3.wdp"/><Relationship Id="rId4" Type="http://schemas.openxmlformats.org/officeDocument/2006/relationships/image" Target="../media/image3.png"/><Relationship Id="rId9" Type="http://schemas.microsoft.com/office/2007/relationships/hdphoto" Target="../media/hdphoto4.wdp"/></Relationships>
</file>

<file path=ppt/slides/_rels/slide6.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1.png"/><Relationship Id="rId7" Type="http://schemas.openxmlformats.org/officeDocument/2006/relationships/image" Target="../media/image9.png"/><Relationship Id="rId12" Type="http://schemas.microsoft.com/office/2007/relationships/hdphoto" Target="../media/hdphoto7.wdp"/><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1.png"/><Relationship Id="rId5" Type="http://schemas.openxmlformats.org/officeDocument/2006/relationships/image" Target="../media/image7.svg"/><Relationship Id="rId10" Type="http://schemas.microsoft.com/office/2007/relationships/hdphoto" Target="../media/hdphoto6.wdp"/><Relationship Id="rId4" Type="http://schemas.microsoft.com/office/2007/relationships/hdphoto" Target="../media/hdphoto1.wdp"/><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1.png"/><Relationship Id="rId7" Type="http://schemas.openxmlformats.org/officeDocument/2006/relationships/image" Target="../media/image9.png"/><Relationship Id="rId12" Type="http://schemas.microsoft.com/office/2007/relationships/hdphoto" Target="../media/hdphoto7.wdp"/><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1.png"/><Relationship Id="rId5" Type="http://schemas.openxmlformats.org/officeDocument/2006/relationships/image" Target="../media/image7.svg"/><Relationship Id="rId10" Type="http://schemas.microsoft.com/office/2007/relationships/hdphoto" Target="../media/hdphoto6.wdp"/><Relationship Id="rId4" Type="http://schemas.microsoft.com/office/2007/relationships/hdphoto" Target="../media/hdphoto1.wdp"/><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1.png"/><Relationship Id="rId7" Type="http://schemas.openxmlformats.org/officeDocument/2006/relationships/image" Target="../media/image9.png"/><Relationship Id="rId12" Type="http://schemas.microsoft.com/office/2007/relationships/hdphoto" Target="../media/hdphoto6.wdp"/><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0.png"/><Relationship Id="rId5" Type="http://schemas.openxmlformats.org/officeDocument/2006/relationships/image" Target="../media/image7.svg"/><Relationship Id="rId10" Type="http://schemas.microsoft.com/office/2007/relationships/hdphoto" Target="../media/hdphoto7.wdp"/><Relationship Id="rId4" Type="http://schemas.microsoft.com/office/2007/relationships/hdphoto" Target="../media/hdphoto1.wdp"/><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1.png"/><Relationship Id="rId7" Type="http://schemas.openxmlformats.org/officeDocument/2006/relationships/image" Target="../media/image9.png"/><Relationship Id="rId12" Type="http://schemas.microsoft.com/office/2007/relationships/hdphoto" Target="../media/hdphoto6.wdp"/><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0.png"/><Relationship Id="rId5" Type="http://schemas.openxmlformats.org/officeDocument/2006/relationships/image" Target="../media/image7.svg"/><Relationship Id="rId10" Type="http://schemas.microsoft.com/office/2007/relationships/hdphoto" Target="../media/hdphoto7.wdp"/><Relationship Id="rId4" Type="http://schemas.microsoft.com/office/2007/relationships/hdphoto" Target="../media/hdphoto1.wdp"/><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1.png"/><Relationship Id="rId7" Type="http://schemas.openxmlformats.org/officeDocument/2006/relationships/image" Target="../media/image9.png"/><Relationship Id="rId12" Type="http://schemas.microsoft.com/office/2007/relationships/hdphoto" Target="../media/hdphoto6.wdp"/><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0.png"/><Relationship Id="rId5" Type="http://schemas.openxmlformats.org/officeDocument/2006/relationships/image" Target="../media/image7.svg"/><Relationship Id="rId10" Type="http://schemas.microsoft.com/office/2007/relationships/hdphoto" Target="../media/hdphoto7.wdp"/><Relationship Id="rId4" Type="http://schemas.microsoft.com/office/2007/relationships/hdphoto" Target="../media/hdphoto1.wdp"/><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2.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4.png"/><Relationship Id="rId4" Type="http://schemas.microsoft.com/office/2007/relationships/hdphoto" Target="../media/hdphoto8.wdp"/></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svg"/><Relationship Id="rId4" Type="http://schemas.microsoft.com/office/2007/relationships/hdphoto" Target="../media/hdphoto8.wdp"/></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9.wdp"/><Relationship Id="rId5" Type="http://schemas.openxmlformats.org/officeDocument/2006/relationships/image" Target="../media/image16.png"/><Relationship Id="rId4" Type="http://schemas.openxmlformats.org/officeDocument/2006/relationships/image" Target="../media/image15.sv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10.wdp"/><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microsoft.com/office/2007/relationships/hdphoto" Target="../media/hdphoto9.wdp"/><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is may contain: an image of a green background that is very soft">
            <a:extLst>
              <a:ext uri="{FF2B5EF4-FFF2-40B4-BE49-F238E27FC236}">
                <a16:creationId xmlns:a16="http://schemas.microsoft.com/office/drawing/2014/main" id="{88649614-3259-01FE-FB37-71A7B427855E}"/>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0" y="-1"/>
            <a:ext cx="12191999" cy="6858001"/>
          </a:xfrm>
          <a:prstGeom prst="rect">
            <a:avLst/>
          </a:prstGeom>
        </p:spPr>
      </p:pic>
      <p:pic>
        <p:nvPicPr>
          <p:cNvPr id="10" name="Picture 9" descr="This may contain: an abstract green and white background with wavy lines">
            <a:extLst>
              <a:ext uri="{FF2B5EF4-FFF2-40B4-BE49-F238E27FC236}">
                <a16:creationId xmlns:a16="http://schemas.microsoft.com/office/drawing/2014/main" id="{CFCE508F-8921-CF47-FD01-86F4946D3DB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2709" b="96182" l="3520" r="99840">
                        <a14:foregroundMark x1="12640" y1="11823" x2="50880" y2="37562"/>
                        <a14:foregroundMark x1="3520" y1="3448" x2="12800" y2="83621"/>
                        <a14:foregroundMark x1="12800" y1="83621" x2="12800" y2="83621"/>
                        <a14:foregroundMark x1="12800" y1="83621" x2="12800" y2="83621"/>
                        <a14:foregroundMark x1="7200" y1="6773" x2="94080" y2="9236"/>
                        <a14:foregroundMark x1="94080" y1="9236" x2="93280" y2="2833"/>
                        <a14:foregroundMark x1="6560" y1="96305" x2="17920" y2="71059"/>
                        <a14:foregroundMark x1="17920" y1="71059" x2="17920" y2="70567"/>
                        <a14:foregroundMark x1="34400" y1="57143" x2="34400" y2="57143"/>
                        <a14:foregroundMark x1="99840" y1="2709" x2="99840" y2="2709"/>
                        <a14:foregroundMark x1="9600" y1="93103" x2="36160" y2="17857"/>
                        <a14:foregroundMark x1="36160" y1="17857" x2="36160" y2="17857"/>
                        <a14:foregroundMark x1="83360" y1="9852" x2="40160" y2="21305"/>
                        <a14:foregroundMark x1="40160" y1="21305" x2="15680" y2="48030"/>
                        <a14:foregroundMark x1="15680" y1="48030" x2="18720" y2="62562"/>
                      </a14:backgroundRemoval>
                    </a14:imgEffect>
                  </a14:imgLayer>
                </a14:imgProps>
              </a:ext>
            </a:extLst>
          </a:blip>
          <a:stretch>
            <a:fillRect/>
          </a:stretch>
        </p:blipFill>
        <p:spPr>
          <a:xfrm>
            <a:off x="0" y="0"/>
            <a:ext cx="4292033" cy="6858000"/>
          </a:xfrm>
          <a:prstGeom prst="rect">
            <a:avLst/>
          </a:prstGeom>
        </p:spPr>
      </p:pic>
      <p:pic>
        <p:nvPicPr>
          <p:cNvPr id="9" name="Picture 8" descr="This may contain: watercolor painting of green leaves on a white background by corbi87">
            <a:extLst>
              <a:ext uri="{FF2B5EF4-FFF2-40B4-BE49-F238E27FC236}">
                <a16:creationId xmlns:a16="http://schemas.microsoft.com/office/drawing/2014/main" id="{A6900A64-47C7-381C-2D2E-02C5B22BADAD}"/>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3790" b="96210" l="3397" r="93342">
                        <a14:foregroundMark x1="84918" y1="7213" x2="84918" y2="7213"/>
                        <a14:foregroundMark x1="93614" y1="3790" x2="93614" y2="3790"/>
                        <a14:foregroundMark x1="10190" y1="94499" x2="10190" y2="94499"/>
                        <a14:foregroundMark x1="3397" y1="96210" x2="3397" y2="96210"/>
                      </a14:backgroundRemoval>
                    </a14:imgEffect>
                  </a14:imgLayer>
                </a14:imgProps>
              </a:ext>
            </a:extLst>
          </a:blip>
          <a:stretch>
            <a:fillRect/>
          </a:stretch>
        </p:blipFill>
        <p:spPr>
          <a:xfrm rot="10800000">
            <a:off x="10187545" y="-126567"/>
            <a:ext cx="2245424" cy="2495593"/>
          </a:xfrm>
          <a:prstGeom prst="rect">
            <a:avLst/>
          </a:prstGeom>
        </p:spPr>
      </p:pic>
      <p:pic>
        <p:nvPicPr>
          <p:cNvPr id="7" name="Picture 6" descr="This may contain: watercolor painting of green leaves on a white background by corbi87">
            <a:extLst>
              <a:ext uri="{FF2B5EF4-FFF2-40B4-BE49-F238E27FC236}">
                <a16:creationId xmlns:a16="http://schemas.microsoft.com/office/drawing/2014/main" id="{467C8DC7-5E3B-F03B-4AE6-3980A58B67D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3790" b="96210" l="3397" r="93342">
                        <a14:foregroundMark x1="84918" y1="7213" x2="84918" y2="7213"/>
                        <a14:foregroundMark x1="93614" y1="3790" x2="93614" y2="3790"/>
                        <a14:foregroundMark x1="10190" y1="94499" x2="10190" y2="94499"/>
                        <a14:foregroundMark x1="3397" y1="96210" x2="3397" y2="96210"/>
                      </a14:backgroundRemoval>
                    </a14:imgEffect>
                  </a14:imgLayer>
                </a14:imgProps>
              </a:ext>
            </a:extLst>
          </a:blip>
          <a:stretch>
            <a:fillRect/>
          </a:stretch>
        </p:blipFill>
        <p:spPr>
          <a:xfrm rot="535001">
            <a:off x="58609" y="4602179"/>
            <a:ext cx="2245424" cy="2495593"/>
          </a:xfrm>
          <a:prstGeom prst="rect">
            <a:avLst/>
          </a:prstGeom>
        </p:spPr>
      </p:pic>
      <p:pic>
        <p:nvPicPr>
          <p:cNvPr id="12" name="Picture 11" descr="This may contain: a green area with some lines going through it">
            <a:extLst>
              <a:ext uri="{FF2B5EF4-FFF2-40B4-BE49-F238E27FC236}">
                <a16:creationId xmlns:a16="http://schemas.microsoft.com/office/drawing/2014/main" id="{8FB65379-C1E5-EBCA-4749-1235DA48893D}"/>
              </a:ext>
            </a:extLst>
          </p:cNvPr>
          <p:cNvPicPr>
            <a:picLocks noChangeAspect="1"/>
          </p:cNvPicPr>
          <p:nvPr/>
        </p:nvPicPr>
        <p:blipFill>
          <a:blip r:embed="rId8">
            <a:alphaModFix amt="85000"/>
            <a:extLst>
              <a:ext uri="{BEBA8EAE-BF5A-486C-A8C5-ECC9F3942E4B}">
                <a14:imgProps xmlns:a14="http://schemas.microsoft.com/office/drawing/2010/main">
                  <a14:imgLayer r:embed="rId9">
                    <a14:imgEffect>
                      <a14:backgroundRemoval t="2287" b="98753" l="2230" r="99314">
                        <a14:foregroundMark x1="6861" y1="70270" x2="16981" y2="15593"/>
                        <a14:foregroundMark x1="16981" y1="15593" x2="16467" y2="14553"/>
                        <a14:foregroundMark x1="11664" y1="14553" x2="43225" y2="10187"/>
                        <a14:foregroundMark x1="43225" y1="10187" x2="66038" y2="11642"/>
                        <a14:foregroundMark x1="77187" y1="3950" x2="3259" y2="3950"/>
                        <a14:foregroundMark x1="3259" y1="3950" x2="2401" y2="5821"/>
                        <a14:foregroundMark x1="9949" y1="91268" x2="29331" y2="54678"/>
                        <a14:foregroundMark x1="8405" y1="95218" x2="35849" y2="41164"/>
                        <a14:foregroundMark x1="6003" y1="99168" x2="5660" y2="79418"/>
                        <a14:foregroundMark x1="30360" y1="61538" x2="76501" y2="43659"/>
                        <a14:foregroundMark x1="76501" y1="43659" x2="84906" y2="30353"/>
                        <a14:foregroundMark x1="84906" y1="30353" x2="92624" y2="7069"/>
                        <a14:foregroundMark x1="46998" y1="41372" x2="92624" y2="9563"/>
                        <a14:foregroundMark x1="98456" y1="2703" x2="95712" y2="12266"/>
                        <a14:foregroundMark x1="95712" y1="12266" x2="93310" y2="16216"/>
                        <a14:foregroundMark x1="39280" y1="43035" x2="38422" y2="49480"/>
                        <a14:foregroundMark x1="37907" y1="47193" x2="34648" y2="46570"/>
                        <a14:foregroundMark x1="20926" y1="50104" x2="30189" y2="56757"/>
                        <a14:foregroundMark x1="99314" y1="2287" x2="99314" y2="2287"/>
                      </a14:backgroundRemoval>
                    </a14:imgEffect>
                    <a14:imgEffect>
                      <a14:saturation sat="66000"/>
                    </a14:imgEffect>
                  </a14:imgLayer>
                </a14:imgProps>
              </a:ext>
            </a:extLst>
          </a:blip>
          <a:srcRect l="-3475" t="2699"/>
          <a:stretch>
            <a:fillRect/>
          </a:stretch>
        </p:blipFill>
        <p:spPr>
          <a:xfrm rot="16200000" flipV="1">
            <a:off x="8136180" y="2928746"/>
            <a:ext cx="3768980" cy="4342659"/>
          </a:xfrm>
          <a:prstGeom prst="rect">
            <a:avLst/>
          </a:prstGeom>
        </p:spPr>
      </p:pic>
      <p:grpSp>
        <p:nvGrpSpPr>
          <p:cNvPr id="26" name="Group 25">
            <a:extLst>
              <a:ext uri="{FF2B5EF4-FFF2-40B4-BE49-F238E27FC236}">
                <a16:creationId xmlns:a16="http://schemas.microsoft.com/office/drawing/2014/main" id="{6EB268EC-07A2-3D0C-9500-B00F5E6815A5}"/>
              </a:ext>
            </a:extLst>
          </p:cNvPr>
          <p:cNvGrpSpPr/>
          <p:nvPr/>
        </p:nvGrpSpPr>
        <p:grpSpPr>
          <a:xfrm>
            <a:off x="4717033" y="2120338"/>
            <a:ext cx="2522755" cy="2887090"/>
            <a:chOff x="4694474" y="912024"/>
            <a:chExt cx="2803052" cy="3229110"/>
          </a:xfrm>
        </p:grpSpPr>
        <p:pic>
          <p:nvPicPr>
            <p:cNvPr id="24" name="Picture 23">
              <a:extLst>
                <a:ext uri="{FF2B5EF4-FFF2-40B4-BE49-F238E27FC236}">
                  <a16:creationId xmlns:a16="http://schemas.microsoft.com/office/drawing/2014/main" id="{794D66A4-4E7F-51AD-1B7C-08E7FBD2ADEA}"/>
                </a:ext>
              </a:extLst>
            </p:cNvPr>
            <p:cNvPicPr>
              <a:picLocks noChangeAspect="1"/>
            </p:cNvPicPr>
            <p:nvPr/>
          </p:nvPicPr>
          <p:blipFill>
            <a:blip r:embed="rId10"/>
            <a:stretch>
              <a:fillRect/>
            </a:stretch>
          </p:blipFill>
          <p:spPr>
            <a:xfrm>
              <a:off x="4694474" y="912024"/>
              <a:ext cx="2803052" cy="1541254"/>
            </a:xfrm>
            <a:prstGeom prst="rect">
              <a:avLst/>
            </a:prstGeom>
          </p:spPr>
        </p:pic>
        <p:pic>
          <p:nvPicPr>
            <p:cNvPr id="16" name="Picture 15">
              <a:extLst>
                <a:ext uri="{FF2B5EF4-FFF2-40B4-BE49-F238E27FC236}">
                  <a16:creationId xmlns:a16="http://schemas.microsoft.com/office/drawing/2014/main" id="{86A184E1-C94A-2E14-0947-6602B3A98E8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244496" y="2186568"/>
              <a:ext cx="2046667" cy="1954566"/>
            </a:xfrm>
            <a:prstGeom prst="rect">
              <a:avLst/>
            </a:prstGeom>
          </p:spPr>
        </p:pic>
      </p:grpSp>
      <p:sp>
        <p:nvSpPr>
          <p:cNvPr id="25" name="TextBox 24">
            <a:extLst>
              <a:ext uri="{FF2B5EF4-FFF2-40B4-BE49-F238E27FC236}">
                <a16:creationId xmlns:a16="http://schemas.microsoft.com/office/drawing/2014/main" id="{2359EF13-F7FB-3A57-C066-340562B892C7}"/>
              </a:ext>
            </a:extLst>
          </p:cNvPr>
          <p:cNvSpPr txBox="1"/>
          <p:nvPr/>
        </p:nvSpPr>
        <p:spPr>
          <a:xfrm>
            <a:off x="4762498" y="6367285"/>
            <a:ext cx="3026228" cy="369332"/>
          </a:xfrm>
          <a:prstGeom prst="rect">
            <a:avLst/>
          </a:prstGeom>
          <a:noFill/>
        </p:spPr>
        <p:txBody>
          <a:bodyPr wrap="square" rtlCol="0">
            <a:spAutoFit/>
          </a:bodyPr>
          <a:lstStyle/>
          <a:p>
            <a:r>
              <a:rPr lang="en-IN" dirty="0"/>
              <a:t>Bloom Within, Shine Beyond!</a:t>
            </a:r>
          </a:p>
        </p:txBody>
      </p:sp>
    </p:spTree>
    <p:extLst>
      <p:ext uri="{BB962C8B-B14F-4D97-AF65-F5344CB8AC3E}">
        <p14:creationId xmlns:p14="http://schemas.microsoft.com/office/powerpoint/2010/main" val="1436136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08ECE-9380-AC41-D779-3B38A1A7ADD3}"/>
            </a:ext>
          </a:extLst>
        </p:cNvPr>
        <p:cNvGrpSpPr/>
        <p:nvPr/>
      </p:nvGrpSpPr>
      <p:grpSpPr>
        <a:xfrm>
          <a:off x="0" y="0"/>
          <a:ext cx="0" cy="0"/>
          <a:chOff x="0" y="0"/>
          <a:chExt cx="0" cy="0"/>
        </a:xfrm>
      </p:grpSpPr>
      <p:pic>
        <p:nvPicPr>
          <p:cNvPr id="4" name="Picture 3" descr="This may contain: an image of a green background that is very soft">
            <a:extLst>
              <a:ext uri="{FF2B5EF4-FFF2-40B4-BE49-F238E27FC236}">
                <a16:creationId xmlns:a16="http://schemas.microsoft.com/office/drawing/2014/main" id="{755DF8B5-A952-ED12-E608-D41513EACF39}"/>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0" y="-1"/>
            <a:ext cx="12191999" cy="6858001"/>
          </a:xfrm>
          <a:prstGeom prst="rect">
            <a:avLst/>
          </a:prstGeom>
        </p:spPr>
      </p:pic>
      <p:pic>
        <p:nvPicPr>
          <p:cNvPr id="10" name="Picture 9" descr="This may contain: an abstract green and white background with wavy lines">
            <a:extLst>
              <a:ext uri="{FF2B5EF4-FFF2-40B4-BE49-F238E27FC236}">
                <a16:creationId xmlns:a16="http://schemas.microsoft.com/office/drawing/2014/main" id="{A6540A61-6584-E981-BB87-B49F8DBBE44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2709" b="96182" l="3520" r="99840">
                        <a14:foregroundMark x1="12640" y1="11823" x2="50880" y2="37562"/>
                        <a14:foregroundMark x1="3520" y1="3448" x2="12800" y2="83621"/>
                        <a14:foregroundMark x1="12800" y1="83621" x2="12800" y2="83621"/>
                        <a14:foregroundMark x1="12800" y1="83621" x2="12800" y2="83621"/>
                        <a14:foregroundMark x1="7200" y1="6773" x2="94080" y2="9236"/>
                        <a14:foregroundMark x1="94080" y1="9236" x2="93280" y2="2833"/>
                        <a14:foregroundMark x1="6560" y1="96305" x2="17920" y2="71059"/>
                        <a14:foregroundMark x1="17920" y1="71059" x2="17920" y2="70567"/>
                        <a14:foregroundMark x1="34400" y1="57143" x2="34400" y2="57143"/>
                        <a14:foregroundMark x1="99840" y1="2709" x2="99840" y2="2709"/>
                        <a14:foregroundMark x1="9600" y1="93103" x2="36160" y2="17857"/>
                        <a14:foregroundMark x1="36160" y1="17857" x2="36160" y2="17857"/>
                        <a14:foregroundMark x1="83360" y1="9852" x2="40160" y2="21305"/>
                        <a14:foregroundMark x1="40160" y1="21305" x2="15680" y2="48030"/>
                        <a14:foregroundMark x1="15680" y1="48030" x2="18720" y2="62562"/>
                      </a14:backgroundRemoval>
                    </a14:imgEffect>
                  </a14:imgLayer>
                </a14:imgProps>
              </a:ext>
            </a:extLst>
          </a:blip>
          <a:stretch>
            <a:fillRect/>
          </a:stretch>
        </p:blipFill>
        <p:spPr>
          <a:xfrm>
            <a:off x="0" y="0"/>
            <a:ext cx="4292033" cy="6858000"/>
          </a:xfrm>
          <a:prstGeom prst="rect">
            <a:avLst/>
          </a:prstGeom>
        </p:spPr>
      </p:pic>
      <p:pic>
        <p:nvPicPr>
          <p:cNvPr id="9" name="Picture 8" descr="This may contain: watercolor painting of green leaves on a white background by corbi87">
            <a:extLst>
              <a:ext uri="{FF2B5EF4-FFF2-40B4-BE49-F238E27FC236}">
                <a16:creationId xmlns:a16="http://schemas.microsoft.com/office/drawing/2014/main" id="{2A266FAA-A910-E354-891E-709917481CA7}"/>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3790" b="96210" l="3397" r="93342">
                        <a14:foregroundMark x1="84918" y1="7213" x2="84918" y2="7213"/>
                        <a14:foregroundMark x1="93614" y1="3790" x2="93614" y2="3790"/>
                        <a14:foregroundMark x1="10190" y1="94499" x2="10190" y2="94499"/>
                        <a14:foregroundMark x1="3397" y1="96210" x2="3397" y2="96210"/>
                      </a14:backgroundRemoval>
                    </a14:imgEffect>
                  </a14:imgLayer>
                </a14:imgProps>
              </a:ext>
            </a:extLst>
          </a:blip>
          <a:stretch>
            <a:fillRect/>
          </a:stretch>
        </p:blipFill>
        <p:spPr>
          <a:xfrm rot="10800000">
            <a:off x="10809513" y="-126568"/>
            <a:ext cx="1623455" cy="1804329"/>
          </a:xfrm>
          <a:prstGeom prst="rect">
            <a:avLst/>
          </a:prstGeom>
        </p:spPr>
      </p:pic>
      <p:pic>
        <p:nvPicPr>
          <p:cNvPr id="7" name="Picture 6" descr="This may contain: watercolor painting of green leaves on a white background by corbi87">
            <a:extLst>
              <a:ext uri="{FF2B5EF4-FFF2-40B4-BE49-F238E27FC236}">
                <a16:creationId xmlns:a16="http://schemas.microsoft.com/office/drawing/2014/main" id="{F3B6EC10-20CC-D57C-6368-2425618A59E4}"/>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3790" b="96210" l="3397" r="93342">
                        <a14:foregroundMark x1="84918" y1="7213" x2="84918" y2="7213"/>
                        <a14:foregroundMark x1="93614" y1="3790" x2="93614" y2="3790"/>
                        <a14:foregroundMark x1="10190" y1="94499" x2="10190" y2="94499"/>
                        <a14:foregroundMark x1="3397" y1="96210" x2="3397" y2="96210"/>
                      </a14:backgroundRemoval>
                    </a14:imgEffect>
                  </a14:imgLayer>
                </a14:imgProps>
              </a:ext>
            </a:extLst>
          </a:blip>
          <a:stretch>
            <a:fillRect/>
          </a:stretch>
        </p:blipFill>
        <p:spPr>
          <a:xfrm rot="535001">
            <a:off x="2116" y="5326723"/>
            <a:ext cx="1540065" cy="1711648"/>
          </a:xfrm>
          <a:prstGeom prst="rect">
            <a:avLst/>
          </a:prstGeom>
        </p:spPr>
      </p:pic>
      <p:pic>
        <p:nvPicPr>
          <p:cNvPr id="12" name="Picture 11" descr="This may contain: a green area with some lines going through it">
            <a:extLst>
              <a:ext uri="{FF2B5EF4-FFF2-40B4-BE49-F238E27FC236}">
                <a16:creationId xmlns:a16="http://schemas.microsoft.com/office/drawing/2014/main" id="{55470475-59D9-593B-439B-DCEF12BC292E}"/>
              </a:ext>
            </a:extLst>
          </p:cNvPr>
          <p:cNvPicPr>
            <a:picLocks noChangeAspect="1"/>
          </p:cNvPicPr>
          <p:nvPr/>
        </p:nvPicPr>
        <p:blipFill>
          <a:blip r:embed="rId8">
            <a:alphaModFix amt="85000"/>
            <a:extLst>
              <a:ext uri="{BEBA8EAE-BF5A-486C-A8C5-ECC9F3942E4B}">
                <a14:imgProps xmlns:a14="http://schemas.microsoft.com/office/drawing/2010/main">
                  <a14:imgLayer r:embed="rId9">
                    <a14:imgEffect>
                      <a14:backgroundRemoval t="2287" b="98753" l="2230" r="99314">
                        <a14:foregroundMark x1="6861" y1="70270" x2="16981" y2="15593"/>
                        <a14:foregroundMark x1="16981" y1="15593" x2="16467" y2="14553"/>
                        <a14:foregroundMark x1="11664" y1="14553" x2="43225" y2="10187"/>
                        <a14:foregroundMark x1="43225" y1="10187" x2="66038" y2="11642"/>
                        <a14:foregroundMark x1="77187" y1="3950" x2="3259" y2="3950"/>
                        <a14:foregroundMark x1="3259" y1="3950" x2="2401" y2="5821"/>
                        <a14:foregroundMark x1="9949" y1="91268" x2="29331" y2="54678"/>
                        <a14:foregroundMark x1="8405" y1="95218" x2="35849" y2="41164"/>
                        <a14:foregroundMark x1="6003" y1="99168" x2="5660" y2="79418"/>
                        <a14:foregroundMark x1="30360" y1="61538" x2="76501" y2="43659"/>
                        <a14:foregroundMark x1="76501" y1="43659" x2="84906" y2="30353"/>
                        <a14:foregroundMark x1="84906" y1="30353" x2="92624" y2="7069"/>
                        <a14:foregroundMark x1="46998" y1="41372" x2="92624" y2="9563"/>
                        <a14:foregroundMark x1="98456" y1="2703" x2="95712" y2="12266"/>
                        <a14:foregroundMark x1="95712" y1="12266" x2="93310" y2="16216"/>
                        <a14:foregroundMark x1="39280" y1="43035" x2="38422" y2="49480"/>
                        <a14:foregroundMark x1="37907" y1="47193" x2="34648" y2="46570"/>
                        <a14:foregroundMark x1="20926" y1="50104" x2="30189" y2="56757"/>
                        <a14:foregroundMark x1="99314" y1="2287" x2="99314" y2="2287"/>
                      </a14:backgroundRemoval>
                    </a14:imgEffect>
                    <a14:imgEffect>
                      <a14:saturation sat="66000"/>
                    </a14:imgEffect>
                  </a14:imgLayer>
                </a14:imgProps>
              </a:ext>
            </a:extLst>
          </a:blip>
          <a:srcRect l="-3475" t="2699"/>
          <a:stretch>
            <a:fillRect/>
          </a:stretch>
        </p:blipFill>
        <p:spPr>
          <a:xfrm rot="16200000" flipV="1">
            <a:off x="8136180" y="2928746"/>
            <a:ext cx="3768980" cy="4342659"/>
          </a:xfrm>
          <a:prstGeom prst="rect">
            <a:avLst/>
          </a:prstGeom>
        </p:spPr>
      </p:pic>
      <p:sp>
        <p:nvSpPr>
          <p:cNvPr id="3" name="TextBox 2">
            <a:extLst>
              <a:ext uri="{FF2B5EF4-FFF2-40B4-BE49-F238E27FC236}">
                <a16:creationId xmlns:a16="http://schemas.microsoft.com/office/drawing/2014/main" id="{D4EF74B3-7F21-8F21-6868-D7A4016A5DA8}"/>
              </a:ext>
            </a:extLst>
          </p:cNvPr>
          <p:cNvSpPr txBox="1"/>
          <p:nvPr/>
        </p:nvSpPr>
        <p:spPr>
          <a:xfrm>
            <a:off x="2483871" y="2521426"/>
            <a:ext cx="7309757" cy="2354491"/>
          </a:xfrm>
          <a:prstGeom prst="rect">
            <a:avLst/>
          </a:prstGeom>
          <a:noFill/>
        </p:spPr>
        <p:txBody>
          <a:bodyPr wrap="square">
            <a:spAutoFit/>
          </a:bodyPr>
          <a:lstStyle/>
          <a:p>
            <a:pPr algn="ctr"/>
            <a:r>
              <a:rPr lang="en-IN" sz="2100" dirty="0">
                <a:latin typeface="Castellar" panose="020A0402060406010301" pitchFamily="18" charset="0"/>
              </a:rPr>
              <a:t>Mind Bloom is a mental wellness companion application designed to help users understand their emotions, monitor their mental well-being, and build healthier daily habits through mood assessment, journaling, meditation, and AI-powered support.</a:t>
            </a:r>
          </a:p>
        </p:txBody>
      </p:sp>
    </p:spTree>
    <p:extLst>
      <p:ext uri="{BB962C8B-B14F-4D97-AF65-F5344CB8AC3E}">
        <p14:creationId xmlns:p14="http://schemas.microsoft.com/office/powerpoint/2010/main" val="28304898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87FFA-67C4-5F41-2E51-5942D81DDF18}"/>
            </a:ext>
          </a:extLst>
        </p:cNvPr>
        <p:cNvGrpSpPr/>
        <p:nvPr/>
      </p:nvGrpSpPr>
      <p:grpSpPr>
        <a:xfrm>
          <a:off x="0" y="0"/>
          <a:ext cx="0" cy="0"/>
          <a:chOff x="0" y="0"/>
          <a:chExt cx="0" cy="0"/>
        </a:xfrm>
      </p:grpSpPr>
      <p:pic>
        <p:nvPicPr>
          <p:cNvPr id="88" name="Picture 87" descr="This may contain: an image of a green background that is very soft">
            <a:extLst>
              <a:ext uri="{FF2B5EF4-FFF2-40B4-BE49-F238E27FC236}">
                <a16:creationId xmlns:a16="http://schemas.microsoft.com/office/drawing/2014/main" id="{B167301D-B1BE-A4DD-A799-C581869EF669}"/>
              </a:ext>
            </a:extLst>
          </p:cNvPr>
          <p:cNvPicPr>
            <a:picLocks noChangeAspect="1"/>
          </p:cNvPicPr>
          <p:nvPr/>
        </p:nvPicPr>
        <p:blipFill>
          <a:blip r:embed="rId3">
            <a:duotone>
              <a:prstClr val="black"/>
              <a:schemeClr val="accent6">
                <a:lumMod val="40000"/>
                <a:lumOff val="60000"/>
                <a:tint val="45000"/>
                <a:satMod val="400000"/>
              </a:schemeClr>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0" y="-1"/>
            <a:ext cx="12191999" cy="6858001"/>
          </a:xfrm>
          <a:prstGeom prst="rect">
            <a:avLst/>
          </a:prstGeom>
        </p:spPr>
      </p:pic>
      <p:grpSp>
        <p:nvGrpSpPr>
          <p:cNvPr id="86" name="Group 85">
            <a:extLst>
              <a:ext uri="{FF2B5EF4-FFF2-40B4-BE49-F238E27FC236}">
                <a16:creationId xmlns:a16="http://schemas.microsoft.com/office/drawing/2014/main" id="{B2F83833-BE62-0839-E7B8-A95535B9F059}"/>
              </a:ext>
            </a:extLst>
          </p:cNvPr>
          <p:cNvGrpSpPr/>
          <p:nvPr/>
        </p:nvGrpSpPr>
        <p:grpSpPr>
          <a:xfrm>
            <a:off x="1204038" y="0"/>
            <a:ext cx="2468880" cy="6858000"/>
            <a:chOff x="9723120" y="0"/>
            <a:chExt cx="2468880" cy="6858000"/>
          </a:xfrm>
        </p:grpSpPr>
        <p:sp>
          <p:nvSpPr>
            <p:cNvPr id="40" name="Rectangle 39">
              <a:extLst>
                <a:ext uri="{FF2B5EF4-FFF2-40B4-BE49-F238E27FC236}">
                  <a16:creationId xmlns:a16="http://schemas.microsoft.com/office/drawing/2014/main" id="{EB7A3B17-D798-95DA-5A67-54EE1351B7C0}"/>
                </a:ext>
              </a:extLst>
            </p:cNvPr>
            <p:cNvSpPr/>
            <p:nvPr/>
          </p:nvSpPr>
          <p:spPr>
            <a:xfrm>
              <a:off x="9723120" y="0"/>
              <a:ext cx="2468880" cy="6858000"/>
            </a:xfrm>
            <a:prstGeom prst="rect">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4" name="Rectangle 63">
              <a:extLst>
                <a:ext uri="{FF2B5EF4-FFF2-40B4-BE49-F238E27FC236}">
                  <a16:creationId xmlns:a16="http://schemas.microsoft.com/office/drawing/2014/main" id="{7DD4EC18-642A-B045-79E7-24955C3D6E9A}"/>
                </a:ext>
              </a:extLst>
            </p:cNvPr>
            <p:cNvSpPr/>
            <p:nvPr/>
          </p:nvSpPr>
          <p:spPr>
            <a:xfrm>
              <a:off x="10065797"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05</a:t>
              </a:r>
            </a:p>
          </p:txBody>
        </p:sp>
        <p:sp>
          <p:nvSpPr>
            <p:cNvPr id="74" name="TextBox 73">
              <a:extLst>
                <a:ext uri="{FF2B5EF4-FFF2-40B4-BE49-F238E27FC236}">
                  <a16:creationId xmlns:a16="http://schemas.microsoft.com/office/drawing/2014/main" id="{9F852B21-957A-F721-FC30-801B53B4E944}"/>
                </a:ext>
              </a:extLst>
            </p:cNvPr>
            <p:cNvSpPr txBox="1"/>
            <p:nvPr/>
          </p:nvSpPr>
          <p:spPr>
            <a:xfrm>
              <a:off x="10065797" y="755645"/>
              <a:ext cx="1966518" cy="3447098"/>
            </a:xfrm>
            <a:prstGeom prst="rect">
              <a:avLst/>
            </a:prstGeom>
            <a:noFill/>
          </p:spPr>
          <p:txBody>
            <a:bodyPr wrap="square">
              <a:spAutoFit/>
            </a:bodyPr>
            <a:lstStyle/>
            <a:p>
              <a:pPr algn="ctr"/>
              <a:r>
                <a:rPr lang="en-IN" sz="1700" b="1" dirty="0"/>
                <a:t>Dashboard Display &amp; Dynamic Updates: </a:t>
              </a:r>
            </a:p>
            <a:p>
              <a:pPr algn="ctr"/>
              <a:endParaRPr lang="en-IN" sz="1700" b="1" dirty="0"/>
            </a:p>
            <a:p>
              <a:pPr algn="ctr"/>
              <a:r>
                <a:rPr lang="en-IN" sz="1500" dirty="0"/>
                <a:t>The dashboard displays relevant user information and available features. </a:t>
              </a:r>
              <a:r>
                <a:rPr lang="en-IN" sz="1500" b="1" dirty="0"/>
                <a:t>JavaScript</a:t>
              </a:r>
              <a:r>
                <a:rPr lang="en-IN" sz="1500" dirty="0"/>
                <a:t> uses </a:t>
              </a:r>
              <a:r>
                <a:rPr lang="en-IN" sz="1500" dirty="0">
                  <a:latin typeface="+mn-lt"/>
                </a:rPr>
                <a:t>fetch()</a:t>
              </a:r>
              <a:r>
                <a:rPr lang="en-IN" sz="1500" dirty="0"/>
                <a:t> to communicate with </a:t>
              </a:r>
              <a:r>
                <a:rPr lang="en-IN" sz="1500" b="1" dirty="0"/>
                <a:t>Flask</a:t>
              </a:r>
              <a:r>
                <a:rPr lang="en-IN" sz="1500" dirty="0"/>
                <a:t> APIs and update parts of the page without reloading the entire page.</a:t>
              </a:r>
            </a:p>
          </p:txBody>
        </p:sp>
      </p:grpSp>
      <p:grpSp>
        <p:nvGrpSpPr>
          <p:cNvPr id="81" name="Group 80">
            <a:extLst>
              <a:ext uri="{FF2B5EF4-FFF2-40B4-BE49-F238E27FC236}">
                <a16:creationId xmlns:a16="http://schemas.microsoft.com/office/drawing/2014/main" id="{F78644E1-E788-57E5-367E-FA62E9D94135}"/>
              </a:ext>
            </a:extLst>
          </p:cNvPr>
          <p:cNvGrpSpPr/>
          <p:nvPr/>
        </p:nvGrpSpPr>
        <p:grpSpPr>
          <a:xfrm>
            <a:off x="980795" y="-2"/>
            <a:ext cx="2432304" cy="6858000"/>
            <a:chOff x="7296910" y="0"/>
            <a:chExt cx="2432304" cy="6858000"/>
          </a:xfrm>
        </p:grpSpPr>
        <p:sp>
          <p:nvSpPr>
            <p:cNvPr id="38" name="Rectangle 37">
              <a:extLst>
                <a:ext uri="{FF2B5EF4-FFF2-40B4-BE49-F238E27FC236}">
                  <a16:creationId xmlns:a16="http://schemas.microsoft.com/office/drawing/2014/main" id="{50C696D7-E223-ECE4-D239-4BFA627C3D53}"/>
                </a:ext>
              </a:extLst>
            </p:cNvPr>
            <p:cNvSpPr/>
            <p:nvPr/>
          </p:nvSpPr>
          <p:spPr>
            <a:xfrm>
              <a:off x="7296910" y="0"/>
              <a:ext cx="2432304" cy="6858000"/>
            </a:xfrm>
            <a:prstGeom prst="rect">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8" name="Rectangle 57">
              <a:extLst>
                <a:ext uri="{FF2B5EF4-FFF2-40B4-BE49-F238E27FC236}">
                  <a16:creationId xmlns:a16="http://schemas.microsoft.com/office/drawing/2014/main" id="{298A6E5B-5D95-992B-2D0F-1EC2A725B8C9}"/>
                </a:ext>
              </a:extLst>
            </p:cNvPr>
            <p:cNvSpPr/>
            <p:nvPr/>
          </p:nvSpPr>
          <p:spPr>
            <a:xfrm>
              <a:off x="7713335"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04</a:t>
              </a:r>
            </a:p>
          </p:txBody>
        </p:sp>
        <p:sp>
          <p:nvSpPr>
            <p:cNvPr id="72" name="TextBox 71">
              <a:extLst>
                <a:ext uri="{FF2B5EF4-FFF2-40B4-BE49-F238E27FC236}">
                  <a16:creationId xmlns:a16="http://schemas.microsoft.com/office/drawing/2014/main" id="{059C7AFC-6D6C-AA67-80E4-B81225D6907C}"/>
                </a:ext>
              </a:extLst>
            </p:cNvPr>
            <p:cNvSpPr txBox="1"/>
            <p:nvPr/>
          </p:nvSpPr>
          <p:spPr>
            <a:xfrm>
              <a:off x="7667024" y="755645"/>
              <a:ext cx="1756088" cy="2785378"/>
            </a:xfrm>
            <a:prstGeom prst="rect">
              <a:avLst/>
            </a:prstGeom>
            <a:noFill/>
          </p:spPr>
          <p:txBody>
            <a:bodyPr wrap="square">
              <a:spAutoFit/>
            </a:bodyPr>
            <a:lstStyle/>
            <a:p>
              <a:pPr algn="ctr"/>
              <a:r>
                <a:rPr lang="en-IN" sz="1700" b="1" dirty="0"/>
                <a:t>Response Generation:</a:t>
              </a:r>
            </a:p>
            <a:p>
              <a:pPr algn="ctr"/>
              <a:endParaRPr lang="en-IN" sz="1700" b="1" dirty="0"/>
            </a:p>
            <a:p>
              <a:pPr algn="ctr"/>
              <a:endParaRPr lang="en-IN" sz="1700" b="1" dirty="0"/>
            </a:p>
            <a:p>
              <a:pPr algn="ctr"/>
              <a:r>
                <a:rPr lang="en-IN" sz="1700" b="1" dirty="0"/>
                <a:t> </a:t>
              </a:r>
              <a:r>
                <a:rPr lang="en-IN" sz="1500" dirty="0"/>
                <a:t>Flask processes the request and either renders a </a:t>
              </a:r>
              <a:r>
                <a:rPr lang="en-IN" sz="1500" b="1" dirty="0"/>
                <a:t>Jinja</a:t>
              </a:r>
              <a:r>
                <a:rPr lang="en-IN" sz="1500" dirty="0"/>
                <a:t> template into an HTML page or returns JSON data to the frontend.</a:t>
              </a:r>
            </a:p>
          </p:txBody>
        </p:sp>
      </p:grpSp>
      <p:grpSp>
        <p:nvGrpSpPr>
          <p:cNvPr id="85" name="Group 84">
            <a:extLst>
              <a:ext uri="{FF2B5EF4-FFF2-40B4-BE49-F238E27FC236}">
                <a16:creationId xmlns:a16="http://schemas.microsoft.com/office/drawing/2014/main" id="{7262ED35-36EA-E1FB-FAC8-39613A5CC57D}"/>
              </a:ext>
            </a:extLst>
          </p:cNvPr>
          <p:cNvGrpSpPr/>
          <p:nvPr/>
        </p:nvGrpSpPr>
        <p:grpSpPr>
          <a:xfrm>
            <a:off x="674777" y="-2"/>
            <a:ext cx="2432304" cy="6858000"/>
            <a:chOff x="4876802" y="0"/>
            <a:chExt cx="2432304" cy="6858000"/>
          </a:xfrm>
        </p:grpSpPr>
        <p:sp>
          <p:nvSpPr>
            <p:cNvPr id="36" name="Rectangle 35">
              <a:extLst>
                <a:ext uri="{FF2B5EF4-FFF2-40B4-BE49-F238E27FC236}">
                  <a16:creationId xmlns:a16="http://schemas.microsoft.com/office/drawing/2014/main" id="{454A0291-A971-119B-2D53-C2E274362A13}"/>
                </a:ext>
              </a:extLst>
            </p:cNvPr>
            <p:cNvSpPr/>
            <p:nvPr/>
          </p:nvSpPr>
          <p:spPr>
            <a:xfrm>
              <a:off x="4876802" y="0"/>
              <a:ext cx="2432304" cy="6858000"/>
            </a:xfrm>
            <a:prstGeom prst="rect">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0" name="Rectangle 59">
              <a:extLst>
                <a:ext uri="{FF2B5EF4-FFF2-40B4-BE49-F238E27FC236}">
                  <a16:creationId xmlns:a16="http://schemas.microsoft.com/office/drawing/2014/main" id="{722625C7-06BD-CCF2-B621-6D8379336EF2}"/>
                </a:ext>
              </a:extLst>
            </p:cNvPr>
            <p:cNvSpPr/>
            <p:nvPr/>
          </p:nvSpPr>
          <p:spPr>
            <a:xfrm>
              <a:off x="5201190"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03</a:t>
              </a:r>
            </a:p>
          </p:txBody>
        </p:sp>
        <p:sp>
          <p:nvSpPr>
            <p:cNvPr id="70" name="TextBox 69">
              <a:extLst>
                <a:ext uri="{FF2B5EF4-FFF2-40B4-BE49-F238E27FC236}">
                  <a16:creationId xmlns:a16="http://schemas.microsoft.com/office/drawing/2014/main" id="{3D5BCB74-56E3-F5A4-C9F0-5B8727DC0E04}"/>
                </a:ext>
              </a:extLst>
            </p:cNvPr>
            <p:cNvSpPr txBox="1"/>
            <p:nvPr/>
          </p:nvSpPr>
          <p:spPr>
            <a:xfrm>
              <a:off x="5185955" y="755645"/>
              <a:ext cx="1768279" cy="3908762"/>
            </a:xfrm>
            <a:prstGeom prst="rect">
              <a:avLst/>
            </a:prstGeom>
            <a:noFill/>
          </p:spPr>
          <p:txBody>
            <a:bodyPr wrap="square">
              <a:spAutoFit/>
            </a:bodyPr>
            <a:lstStyle/>
            <a:p>
              <a:pPr algn="ctr"/>
              <a:r>
                <a:rPr lang="en-IN" sz="1700" b="1" dirty="0"/>
                <a:t>Authentication &amp; Database Op:</a:t>
              </a:r>
            </a:p>
            <a:p>
              <a:pPr algn="ctr"/>
              <a:endParaRPr lang="en-IN" sz="1700" b="1" dirty="0"/>
            </a:p>
            <a:p>
              <a:pPr algn="ctr"/>
              <a:endParaRPr lang="en-IN" sz="1700" b="1" dirty="0"/>
            </a:p>
            <a:p>
              <a:pPr algn="ctr"/>
              <a:r>
                <a:rPr lang="en-IN" sz="1500" dirty="0"/>
                <a:t>Flask verifies login credentials against stored account information and uses </a:t>
              </a:r>
              <a:r>
                <a:rPr lang="en-IN" sz="1500" b="1" dirty="0"/>
                <a:t>SQLAlchemy</a:t>
              </a:r>
              <a:r>
                <a:rPr lang="en-IN" sz="1500" dirty="0"/>
                <a:t> to retrieve, insert, update, or delete data in the database. After successful login, the user is redirected to the dashboard.</a:t>
              </a:r>
            </a:p>
          </p:txBody>
        </p:sp>
      </p:grpSp>
      <p:grpSp>
        <p:nvGrpSpPr>
          <p:cNvPr id="77" name="Group 76">
            <a:extLst>
              <a:ext uri="{FF2B5EF4-FFF2-40B4-BE49-F238E27FC236}">
                <a16:creationId xmlns:a16="http://schemas.microsoft.com/office/drawing/2014/main" id="{E909AD38-C18E-152B-0031-F0DA522C427C}"/>
              </a:ext>
            </a:extLst>
          </p:cNvPr>
          <p:cNvGrpSpPr/>
          <p:nvPr/>
        </p:nvGrpSpPr>
        <p:grpSpPr>
          <a:xfrm>
            <a:off x="332101" y="-2"/>
            <a:ext cx="2432304" cy="6858000"/>
            <a:chOff x="2432303" y="0"/>
            <a:chExt cx="2432304" cy="6858000"/>
          </a:xfrm>
        </p:grpSpPr>
        <p:sp>
          <p:nvSpPr>
            <p:cNvPr id="34" name="Rectangle 33">
              <a:extLst>
                <a:ext uri="{FF2B5EF4-FFF2-40B4-BE49-F238E27FC236}">
                  <a16:creationId xmlns:a16="http://schemas.microsoft.com/office/drawing/2014/main" id="{B8D05061-AAC4-7590-DD9E-D1D124B5FE78}"/>
                </a:ext>
              </a:extLst>
            </p:cNvPr>
            <p:cNvSpPr/>
            <p:nvPr/>
          </p:nvSpPr>
          <p:spPr>
            <a:xfrm>
              <a:off x="2432303" y="0"/>
              <a:ext cx="2432304" cy="6858000"/>
            </a:xfrm>
            <a:prstGeom prst="rect">
              <a:avLst/>
            </a:prstGeom>
            <a:solidFill>
              <a:srgbClr val="CCD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2" name="Rectangle 61">
              <a:extLst>
                <a:ext uri="{FF2B5EF4-FFF2-40B4-BE49-F238E27FC236}">
                  <a16:creationId xmlns:a16="http://schemas.microsoft.com/office/drawing/2014/main" id="{76497741-CF04-8FA1-E6B8-93EB8F42FE32}"/>
                </a:ext>
              </a:extLst>
            </p:cNvPr>
            <p:cNvSpPr/>
            <p:nvPr/>
          </p:nvSpPr>
          <p:spPr>
            <a:xfrm>
              <a:off x="2895039"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02</a:t>
              </a:r>
            </a:p>
          </p:txBody>
        </p:sp>
        <p:sp>
          <p:nvSpPr>
            <p:cNvPr id="68" name="TextBox 67">
              <a:extLst>
                <a:ext uri="{FF2B5EF4-FFF2-40B4-BE49-F238E27FC236}">
                  <a16:creationId xmlns:a16="http://schemas.microsoft.com/office/drawing/2014/main" id="{CFFFD4BD-AF88-EAC5-BE50-93130538951E}"/>
                </a:ext>
              </a:extLst>
            </p:cNvPr>
            <p:cNvSpPr txBox="1"/>
            <p:nvPr/>
          </p:nvSpPr>
          <p:spPr>
            <a:xfrm>
              <a:off x="2783571" y="755645"/>
              <a:ext cx="1774934" cy="4139595"/>
            </a:xfrm>
            <a:prstGeom prst="rect">
              <a:avLst/>
            </a:prstGeom>
            <a:noFill/>
          </p:spPr>
          <p:txBody>
            <a:bodyPr wrap="square">
              <a:spAutoFit/>
            </a:bodyPr>
            <a:lstStyle/>
            <a:p>
              <a:pPr algn="ctr"/>
              <a:r>
                <a:rPr lang="en-IN" sz="1700" b="1" dirty="0"/>
                <a:t>Request Handling: </a:t>
              </a:r>
            </a:p>
            <a:p>
              <a:pPr algn="ctr"/>
              <a:endParaRPr lang="en-IN" sz="1700" b="1" dirty="0"/>
            </a:p>
            <a:p>
              <a:pPr algn="ctr"/>
              <a:endParaRPr lang="en-IN" sz="1700" b="1" dirty="0"/>
            </a:p>
            <a:p>
              <a:pPr algn="ctr"/>
              <a:r>
                <a:rPr lang="en-IN" sz="1500" dirty="0"/>
                <a:t>The browser sends the request or login credentials to the appropriate</a:t>
              </a:r>
              <a:r>
                <a:rPr lang="en-IN" sz="1500" b="1" dirty="0"/>
                <a:t> Flask route</a:t>
              </a:r>
              <a:r>
                <a:rPr lang="en-IN" sz="1500" dirty="0"/>
                <a:t> in </a:t>
              </a:r>
              <a:r>
                <a:rPr lang="en-IN" sz="1500" dirty="0">
                  <a:latin typeface="+mn-lt"/>
                </a:rPr>
                <a:t>app.py</a:t>
              </a:r>
              <a:r>
                <a:rPr lang="en-IN" sz="1500" dirty="0"/>
                <a:t>. Flask processes the request and uses authentication and authorization checks, such as </a:t>
              </a:r>
              <a:r>
                <a:rPr lang="en-IN" sz="1500" b="1" dirty="0">
                  <a:latin typeface="+mn-lt"/>
                </a:rPr>
                <a:t>@login_required</a:t>
              </a:r>
              <a:r>
                <a:rPr lang="en-IN" sz="1500" dirty="0"/>
                <a:t>, to protect restricted pages.</a:t>
              </a:r>
            </a:p>
          </p:txBody>
        </p:sp>
      </p:grpSp>
      <p:grpSp>
        <p:nvGrpSpPr>
          <p:cNvPr id="75" name="Group 74">
            <a:extLst>
              <a:ext uri="{FF2B5EF4-FFF2-40B4-BE49-F238E27FC236}">
                <a16:creationId xmlns:a16="http://schemas.microsoft.com/office/drawing/2014/main" id="{FF1E6EE5-5140-208D-72E2-BD6BC0CF8182}"/>
              </a:ext>
            </a:extLst>
          </p:cNvPr>
          <p:cNvGrpSpPr/>
          <p:nvPr/>
        </p:nvGrpSpPr>
        <p:grpSpPr>
          <a:xfrm>
            <a:off x="-12196" y="-2"/>
            <a:ext cx="2432304" cy="6858000"/>
            <a:chOff x="-1" y="0"/>
            <a:chExt cx="2432304" cy="6858000"/>
          </a:xfrm>
        </p:grpSpPr>
        <p:sp>
          <p:nvSpPr>
            <p:cNvPr id="2" name="Rectangle 1">
              <a:extLst>
                <a:ext uri="{FF2B5EF4-FFF2-40B4-BE49-F238E27FC236}">
                  <a16:creationId xmlns:a16="http://schemas.microsoft.com/office/drawing/2014/main" id="{BD2E75BB-F7F4-C593-A790-F66C638CB1F9}"/>
                </a:ext>
              </a:extLst>
            </p:cNvPr>
            <p:cNvSpPr/>
            <p:nvPr/>
          </p:nvSpPr>
          <p:spPr>
            <a:xfrm>
              <a:off x="-1" y="0"/>
              <a:ext cx="2432304" cy="6858000"/>
            </a:xfrm>
            <a:prstGeom prst="rect">
              <a:avLst/>
            </a:prstGeom>
            <a:solidFill>
              <a:srgbClr val="E0E5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6" name="Rectangle 55">
              <a:extLst>
                <a:ext uri="{FF2B5EF4-FFF2-40B4-BE49-F238E27FC236}">
                  <a16:creationId xmlns:a16="http://schemas.microsoft.com/office/drawing/2014/main" id="{EB72E3FB-D7A7-AB75-3C3E-4FB3A81C3AD1}"/>
                </a:ext>
              </a:extLst>
            </p:cNvPr>
            <p:cNvSpPr/>
            <p:nvPr/>
          </p:nvSpPr>
          <p:spPr>
            <a:xfrm>
              <a:off x="432254"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01</a:t>
              </a:r>
            </a:p>
          </p:txBody>
        </p:sp>
        <p:sp>
          <p:nvSpPr>
            <p:cNvPr id="66" name="TextBox 65">
              <a:extLst>
                <a:ext uri="{FF2B5EF4-FFF2-40B4-BE49-F238E27FC236}">
                  <a16:creationId xmlns:a16="http://schemas.microsoft.com/office/drawing/2014/main" id="{9B4AD0E2-C68D-AE19-7EF9-2E49668DAF12}"/>
                </a:ext>
              </a:extLst>
            </p:cNvPr>
            <p:cNvSpPr txBox="1"/>
            <p:nvPr/>
          </p:nvSpPr>
          <p:spPr>
            <a:xfrm>
              <a:off x="218798" y="755645"/>
              <a:ext cx="1859190" cy="3016210"/>
            </a:xfrm>
            <a:prstGeom prst="rect">
              <a:avLst/>
            </a:prstGeom>
            <a:noFill/>
          </p:spPr>
          <p:txBody>
            <a:bodyPr wrap="square">
              <a:spAutoFit/>
            </a:bodyPr>
            <a:lstStyle/>
            <a:p>
              <a:pPr algn="ctr"/>
              <a:r>
                <a:rPr lang="en-IN" sz="1700" b="1" dirty="0"/>
                <a:t>User Interaction &amp; Form Validation:</a:t>
              </a:r>
            </a:p>
            <a:p>
              <a:pPr algn="ctr"/>
              <a:endParaRPr lang="en-IN" sz="1700" b="1" dirty="0"/>
            </a:p>
            <a:p>
              <a:pPr algn="ctr"/>
              <a:endParaRPr lang="en-IN" sz="1700" b="1" dirty="0"/>
            </a:p>
            <a:p>
              <a:pPr algn="ctr"/>
              <a:r>
                <a:rPr lang="en-IN" sz="1700" b="1" dirty="0"/>
                <a:t> </a:t>
              </a:r>
              <a:r>
                <a:rPr lang="en-IN" sz="1500" dirty="0"/>
                <a:t>The user interacts with Mind Bloom by clicking buttons or entering information. </a:t>
              </a:r>
              <a:r>
                <a:rPr lang="en-IN" sz="1500" b="1" dirty="0"/>
                <a:t>JavaScript</a:t>
              </a:r>
              <a:r>
                <a:rPr lang="en-IN" sz="1500" dirty="0"/>
                <a:t> checks whether the required form fields are filled in before submission.</a:t>
              </a:r>
            </a:p>
          </p:txBody>
        </p:sp>
      </p:grpSp>
      <p:pic>
        <p:nvPicPr>
          <p:cNvPr id="95" name="Picture 94" descr="This may contain: a green area with some lines going through it">
            <a:extLst>
              <a:ext uri="{FF2B5EF4-FFF2-40B4-BE49-F238E27FC236}">
                <a16:creationId xmlns:a16="http://schemas.microsoft.com/office/drawing/2014/main" id="{982E3A45-B0F5-569D-48CE-661AD580A137}"/>
              </a:ext>
            </a:extLst>
          </p:cNvPr>
          <p:cNvPicPr>
            <a:picLocks noChangeAspect="1"/>
          </p:cNvPicPr>
          <p:nvPr/>
        </p:nvPicPr>
        <p:blipFill>
          <a:blip r:embed="rId5">
            <a:alphaModFix amt="85000"/>
            <a:extLst>
              <a:ext uri="{BEBA8EAE-BF5A-486C-A8C5-ECC9F3942E4B}">
                <a14:imgProps xmlns:a14="http://schemas.microsoft.com/office/drawing/2010/main">
                  <a14:imgLayer r:embed="rId6">
                    <a14:imgEffect>
                      <a14:backgroundRemoval t="2287" b="98753" l="2230" r="99314">
                        <a14:foregroundMark x1="6861" y1="70270" x2="16981" y2="15593"/>
                        <a14:foregroundMark x1="16981" y1="15593" x2="16467" y2="14553"/>
                        <a14:foregroundMark x1="11664" y1="14553" x2="43225" y2="10187"/>
                        <a14:foregroundMark x1="43225" y1="10187" x2="66038" y2="11642"/>
                        <a14:foregroundMark x1="77187" y1="3950" x2="3259" y2="3950"/>
                        <a14:foregroundMark x1="3259" y1="3950" x2="2401" y2="5821"/>
                        <a14:foregroundMark x1="9949" y1="91268" x2="29331" y2="54678"/>
                        <a14:foregroundMark x1="8405" y1="95218" x2="35849" y2="41164"/>
                        <a14:foregroundMark x1="6003" y1="99168" x2="5660" y2="79418"/>
                        <a14:foregroundMark x1="30360" y1="61538" x2="76501" y2="43659"/>
                        <a14:foregroundMark x1="76501" y1="43659" x2="84906" y2="30353"/>
                        <a14:foregroundMark x1="84906" y1="30353" x2="92624" y2="7069"/>
                        <a14:foregroundMark x1="46998" y1="41372" x2="92624" y2="9563"/>
                        <a14:foregroundMark x1="98456" y1="2703" x2="95712" y2="12266"/>
                        <a14:foregroundMark x1="95712" y1="12266" x2="93310" y2="16216"/>
                        <a14:foregroundMark x1="39280" y1="43035" x2="38422" y2="49480"/>
                        <a14:foregroundMark x1="37907" y1="47193" x2="34648" y2="46570"/>
                        <a14:foregroundMark x1="20926" y1="50104" x2="30189" y2="56757"/>
                        <a14:foregroundMark x1="99314" y1="2287" x2="99314" y2="2287"/>
                      </a14:backgroundRemoval>
                    </a14:imgEffect>
                    <a14:imgEffect>
                      <a14:saturation sat="66000"/>
                    </a14:imgEffect>
                  </a14:imgLayer>
                </a14:imgProps>
              </a:ext>
            </a:extLst>
          </a:blip>
          <a:srcRect l="-3475" t="2699"/>
          <a:stretch>
            <a:fillRect/>
          </a:stretch>
        </p:blipFill>
        <p:spPr>
          <a:xfrm rot="16200000" flipV="1">
            <a:off x="8136180" y="2928746"/>
            <a:ext cx="3768980" cy="4342659"/>
          </a:xfrm>
          <a:prstGeom prst="rect">
            <a:avLst/>
          </a:prstGeom>
        </p:spPr>
      </p:pic>
      <p:sp>
        <p:nvSpPr>
          <p:cNvPr id="89" name="Rectangle 88">
            <a:extLst>
              <a:ext uri="{FF2B5EF4-FFF2-40B4-BE49-F238E27FC236}">
                <a16:creationId xmlns:a16="http://schemas.microsoft.com/office/drawing/2014/main" id="{5FC2DD2C-3A28-F994-8335-3A1D5AEEC2D4}"/>
              </a:ext>
            </a:extLst>
          </p:cNvPr>
          <p:cNvSpPr/>
          <p:nvPr/>
        </p:nvSpPr>
        <p:spPr>
          <a:xfrm>
            <a:off x="4724015" y="1832862"/>
            <a:ext cx="6070765" cy="3170099"/>
          </a:xfrm>
          <a:prstGeom prst="rect">
            <a:avLst/>
          </a:prstGeom>
          <a:noFill/>
        </p:spPr>
        <p:txBody>
          <a:bodyPr wrap="none" lIns="91440" tIns="45720" rIns="91440" bIns="45720">
            <a:spAutoFit/>
          </a:bodyPr>
          <a:lstStyle/>
          <a:p>
            <a:pPr algn="ctr"/>
            <a:r>
              <a:rPr lang="en-US" sz="10000" b="0" cap="none" spc="0" dirty="0">
                <a:ln w="0"/>
                <a:solidFill>
                  <a:schemeClr val="tx1"/>
                </a:solidFill>
                <a:effectLst>
                  <a:outerShdw blurRad="38100" dist="19050" dir="2700000" algn="tl" rotWithShape="0">
                    <a:schemeClr val="dk1">
                      <a:alpha val="40000"/>
                    </a:schemeClr>
                  </a:outerShdw>
                </a:effectLst>
              </a:rPr>
              <a:t>Application</a:t>
            </a:r>
          </a:p>
          <a:p>
            <a:pPr algn="ctr"/>
            <a:r>
              <a:rPr lang="en-US" sz="10000" dirty="0">
                <a:ln w="0"/>
                <a:effectLst>
                  <a:outerShdw blurRad="38100" dist="19050" dir="2700000" algn="tl" rotWithShape="0">
                    <a:schemeClr val="dk1">
                      <a:alpha val="40000"/>
                    </a:schemeClr>
                  </a:outerShdw>
                </a:effectLst>
              </a:rPr>
              <a:t>Workflow</a:t>
            </a:r>
            <a:endParaRPr lang="en-US" sz="10000" b="0" cap="none" spc="0" dirty="0">
              <a:ln w="0"/>
              <a:solidFill>
                <a:schemeClr val="tx1"/>
              </a:solidFill>
              <a:effectLst>
                <a:outerShdw blurRad="38100" dist="19050" dir="2700000" algn="tl" rotWithShape="0">
                  <a:schemeClr val="dk1">
                    <a:alpha val="40000"/>
                  </a:schemeClr>
                </a:outerShdw>
              </a:effectLst>
            </a:endParaRPr>
          </a:p>
        </p:txBody>
      </p:sp>
      <p:pic>
        <p:nvPicPr>
          <p:cNvPr id="93" name="Picture 92" descr="This may contain: watercolor painting of green leaves on a white background by corbi87">
            <a:extLst>
              <a:ext uri="{FF2B5EF4-FFF2-40B4-BE49-F238E27FC236}">
                <a16:creationId xmlns:a16="http://schemas.microsoft.com/office/drawing/2014/main" id="{6D99F9D9-5804-11EE-1A9F-7F8D6CB0E122}"/>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790" b="96210" l="3397" r="93342">
                        <a14:foregroundMark x1="84918" y1="7213" x2="84918" y2="7213"/>
                        <a14:foregroundMark x1="93614" y1="3790" x2="93614" y2="3790"/>
                        <a14:foregroundMark x1="10190" y1="94499" x2="10190" y2="94499"/>
                        <a14:foregroundMark x1="3397" y1="96210" x2="3397" y2="96210"/>
                      </a14:backgroundRemoval>
                    </a14:imgEffect>
                  </a14:imgLayer>
                </a14:imgProps>
              </a:ext>
            </a:extLst>
          </a:blip>
          <a:stretch>
            <a:fillRect/>
          </a:stretch>
        </p:blipFill>
        <p:spPr>
          <a:xfrm rot="10800000">
            <a:off x="10809513" y="-126568"/>
            <a:ext cx="1623455" cy="1804329"/>
          </a:xfrm>
          <a:prstGeom prst="rect">
            <a:avLst/>
          </a:prstGeom>
        </p:spPr>
      </p:pic>
    </p:spTree>
    <p:extLst>
      <p:ext uri="{BB962C8B-B14F-4D97-AF65-F5344CB8AC3E}">
        <p14:creationId xmlns:p14="http://schemas.microsoft.com/office/powerpoint/2010/main" val="1831010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2127B-0420-5B7F-96BA-5049EA563C04}"/>
            </a:ext>
          </a:extLst>
        </p:cNvPr>
        <p:cNvGrpSpPr/>
        <p:nvPr/>
      </p:nvGrpSpPr>
      <p:grpSpPr>
        <a:xfrm>
          <a:off x="0" y="0"/>
          <a:ext cx="0" cy="0"/>
          <a:chOff x="0" y="0"/>
          <a:chExt cx="0" cy="0"/>
        </a:xfrm>
      </p:grpSpPr>
      <p:pic>
        <p:nvPicPr>
          <p:cNvPr id="88" name="Picture 87" descr="This may contain: an image of a green background that is very soft">
            <a:extLst>
              <a:ext uri="{FF2B5EF4-FFF2-40B4-BE49-F238E27FC236}">
                <a16:creationId xmlns:a16="http://schemas.microsoft.com/office/drawing/2014/main" id="{F30D07E0-3658-6894-43D6-2666C0627DA0}"/>
              </a:ext>
            </a:extLst>
          </p:cNvPr>
          <p:cNvPicPr>
            <a:picLocks noChangeAspect="1"/>
          </p:cNvPicPr>
          <p:nvPr/>
        </p:nvPicPr>
        <p:blipFill>
          <a:blip r:embed="rId3">
            <a:duotone>
              <a:prstClr val="black"/>
              <a:schemeClr val="accent6">
                <a:lumMod val="40000"/>
                <a:lumOff val="60000"/>
                <a:tint val="45000"/>
                <a:satMod val="400000"/>
              </a:schemeClr>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0" y="-1"/>
            <a:ext cx="12191999" cy="6858001"/>
          </a:xfrm>
          <a:prstGeom prst="rect">
            <a:avLst/>
          </a:prstGeom>
        </p:spPr>
      </p:pic>
      <p:grpSp>
        <p:nvGrpSpPr>
          <p:cNvPr id="86" name="Group 85">
            <a:extLst>
              <a:ext uri="{FF2B5EF4-FFF2-40B4-BE49-F238E27FC236}">
                <a16:creationId xmlns:a16="http://schemas.microsoft.com/office/drawing/2014/main" id="{E5C6C95A-B8D5-B9C0-5CF4-B801FEE52026}"/>
              </a:ext>
            </a:extLst>
          </p:cNvPr>
          <p:cNvGrpSpPr/>
          <p:nvPr/>
        </p:nvGrpSpPr>
        <p:grpSpPr>
          <a:xfrm>
            <a:off x="9698173" y="0"/>
            <a:ext cx="2468880" cy="6858000"/>
            <a:chOff x="9723120" y="0"/>
            <a:chExt cx="2468880" cy="6858000"/>
          </a:xfrm>
        </p:grpSpPr>
        <p:sp>
          <p:nvSpPr>
            <p:cNvPr id="40" name="Rectangle 39">
              <a:extLst>
                <a:ext uri="{FF2B5EF4-FFF2-40B4-BE49-F238E27FC236}">
                  <a16:creationId xmlns:a16="http://schemas.microsoft.com/office/drawing/2014/main" id="{2A5ED790-2B4E-03A8-5450-96DB1693DC72}"/>
                </a:ext>
              </a:extLst>
            </p:cNvPr>
            <p:cNvSpPr/>
            <p:nvPr/>
          </p:nvSpPr>
          <p:spPr>
            <a:xfrm>
              <a:off x="9723120" y="0"/>
              <a:ext cx="2468880" cy="6858000"/>
            </a:xfrm>
            <a:prstGeom prst="rect">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4" name="Rectangle 63">
              <a:extLst>
                <a:ext uri="{FF2B5EF4-FFF2-40B4-BE49-F238E27FC236}">
                  <a16:creationId xmlns:a16="http://schemas.microsoft.com/office/drawing/2014/main" id="{6F733D87-4762-B0F8-BA13-1DF1CF075319}"/>
                </a:ext>
              </a:extLst>
            </p:cNvPr>
            <p:cNvSpPr/>
            <p:nvPr/>
          </p:nvSpPr>
          <p:spPr>
            <a:xfrm>
              <a:off x="10065797"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05</a:t>
              </a:r>
            </a:p>
          </p:txBody>
        </p:sp>
        <p:sp>
          <p:nvSpPr>
            <p:cNvPr id="74" name="TextBox 73">
              <a:extLst>
                <a:ext uri="{FF2B5EF4-FFF2-40B4-BE49-F238E27FC236}">
                  <a16:creationId xmlns:a16="http://schemas.microsoft.com/office/drawing/2014/main" id="{55C12BCF-2F39-5E8E-D9BD-CF7EFB086F3B}"/>
                </a:ext>
              </a:extLst>
            </p:cNvPr>
            <p:cNvSpPr txBox="1"/>
            <p:nvPr/>
          </p:nvSpPr>
          <p:spPr>
            <a:xfrm>
              <a:off x="10065797" y="755645"/>
              <a:ext cx="1966518" cy="3447098"/>
            </a:xfrm>
            <a:prstGeom prst="rect">
              <a:avLst/>
            </a:prstGeom>
            <a:noFill/>
          </p:spPr>
          <p:txBody>
            <a:bodyPr wrap="square">
              <a:spAutoFit/>
            </a:bodyPr>
            <a:lstStyle/>
            <a:p>
              <a:pPr algn="ctr"/>
              <a:r>
                <a:rPr lang="en-IN" sz="1700" b="1" dirty="0"/>
                <a:t>Dashboard Display &amp; Dynamic Updates: </a:t>
              </a:r>
            </a:p>
            <a:p>
              <a:pPr algn="ctr"/>
              <a:endParaRPr lang="en-IN" sz="1700" b="1" dirty="0"/>
            </a:p>
            <a:p>
              <a:pPr algn="ctr"/>
              <a:r>
                <a:rPr lang="en-IN" sz="1500" dirty="0"/>
                <a:t>The dashboard displays relevant user information and available features. </a:t>
              </a:r>
              <a:r>
                <a:rPr lang="en-IN" sz="1500" b="1" dirty="0"/>
                <a:t>JavaScript</a:t>
              </a:r>
              <a:r>
                <a:rPr lang="en-IN" sz="1500" dirty="0"/>
                <a:t> uses </a:t>
              </a:r>
              <a:r>
                <a:rPr lang="en-IN" sz="1500" dirty="0">
                  <a:latin typeface="+mn-lt"/>
                </a:rPr>
                <a:t>fetch()</a:t>
              </a:r>
              <a:r>
                <a:rPr lang="en-IN" sz="1500" dirty="0"/>
                <a:t> to communicate with </a:t>
              </a:r>
              <a:r>
                <a:rPr lang="en-IN" sz="1500" b="1" dirty="0"/>
                <a:t>Flask</a:t>
              </a:r>
              <a:r>
                <a:rPr lang="en-IN" sz="1500" dirty="0"/>
                <a:t> APIs and update parts of the page without reloading the entire page.</a:t>
              </a:r>
            </a:p>
          </p:txBody>
        </p:sp>
      </p:grpSp>
      <p:grpSp>
        <p:nvGrpSpPr>
          <p:cNvPr id="81" name="Group 80">
            <a:extLst>
              <a:ext uri="{FF2B5EF4-FFF2-40B4-BE49-F238E27FC236}">
                <a16:creationId xmlns:a16="http://schemas.microsoft.com/office/drawing/2014/main" id="{D2B02D7F-723A-631B-4EB8-E8D5B9BB9EB2}"/>
              </a:ext>
            </a:extLst>
          </p:cNvPr>
          <p:cNvGrpSpPr/>
          <p:nvPr/>
        </p:nvGrpSpPr>
        <p:grpSpPr>
          <a:xfrm>
            <a:off x="7258506" y="0"/>
            <a:ext cx="2432304" cy="6858000"/>
            <a:chOff x="7296910" y="0"/>
            <a:chExt cx="2432304" cy="6858000"/>
          </a:xfrm>
        </p:grpSpPr>
        <p:sp>
          <p:nvSpPr>
            <p:cNvPr id="38" name="Rectangle 37">
              <a:extLst>
                <a:ext uri="{FF2B5EF4-FFF2-40B4-BE49-F238E27FC236}">
                  <a16:creationId xmlns:a16="http://schemas.microsoft.com/office/drawing/2014/main" id="{C8B5BE3A-FB17-BC7F-D116-274818AEBEB2}"/>
                </a:ext>
              </a:extLst>
            </p:cNvPr>
            <p:cNvSpPr/>
            <p:nvPr/>
          </p:nvSpPr>
          <p:spPr>
            <a:xfrm>
              <a:off x="7296910" y="0"/>
              <a:ext cx="2432304" cy="6858000"/>
            </a:xfrm>
            <a:prstGeom prst="rect">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8" name="Rectangle 57">
              <a:extLst>
                <a:ext uri="{FF2B5EF4-FFF2-40B4-BE49-F238E27FC236}">
                  <a16:creationId xmlns:a16="http://schemas.microsoft.com/office/drawing/2014/main" id="{A934E792-8577-5D78-B387-806FEEECD33A}"/>
                </a:ext>
              </a:extLst>
            </p:cNvPr>
            <p:cNvSpPr/>
            <p:nvPr/>
          </p:nvSpPr>
          <p:spPr>
            <a:xfrm>
              <a:off x="7713335"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04</a:t>
              </a:r>
            </a:p>
          </p:txBody>
        </p:sp>
        <p:sp>
          <p:nvSpPr>
            <p:cNvPr id="72" name="TextBox 71">
              <a:extLst>
                <a:ext uri="{FF2B5EF4-FFF2-40B4-BE49-F238E27FC236}">
                  <a16:creationId xmlns:a16="http://schemas.microsoft.com/office/drawing/2014/main" id="{786200FE-6B10-DF4E-3F06-94E4404D85C6}"/>
                </a:ext>
              </a:extLst>
            </p:cNvPr>
            <p:cNvSpPr txBox="1"/>
            <p:nvPr/>
          </p:nvSpPr>
          <p:spPr>
            <a:xfrm>
              <a:off x="7667024" y="755645"/>
              <a:ext cx="1756088" cy="2785378"/>
            </a:xfrm>
            <a:prstGeom prst="rect">
              <a:avLst/>
            </a:prstGeom>
            <a:noFill/>
          </p:spPr>
          <p:txBody>
            <a:bodyPr wrap="square">
              <a:spAutoFit/>
            </a:bodyPr>
            <a:lstStyle/>
            <a:p>
              <a:pPr algn="ctr"/>
              <a:r>
                <a:rPr lang="en-IN" sz="1700" b="1" dirty="0"/>
                <a:t>Response Generation:</a:t>
              </a:r>
            </a:p>
            <a:p>
              <a:pPr algn="ctr"/>
              <a:endParaRPr lang="en-IN" sz="1700" b="1" dirty="0"/>
            </a:p>
            <a:p>
              <a:pPr algn="ctr"/>
              <a:endParaRPr lang="en-IN" sz="1700" b="1" dirty="0"/>
            </a:p>
            <a:p>
              <a:pPr algn="ctr"/>
              <a:r>
                <a:rPr lang="en-IN" sz="1700" b="1" dirty="0"/>
                <a:t> </a:t>
              </a:r>
              <a:r>
                <a:rPr lang="en-IN" sz="1500" dirty="0"/>
                <a:t>Flask processes the request and either renders a </a:t>
              </a:r>
              <a:r>
                <a:rPr lang="en-IN" sz="1500" b="1" dirty="0"/>
                <a:t>Jinja</a:t>
              </a:r>
              <a:r>
                <a:rPr lang="en-IN" sz="1500" dirty="0"/>
                <a:t> template into an HTML page or returns JSON data to the frontend.</a:t>
              </a:r>
            </a:p>
          </p:txBody>
        </p:sp>
      </p:grpSp>
      <p:grpSp>
        <p:nvGrpSpPr>
          <p:cNvPr id="85" name="Group 84">
            <a:extLst>
              <a:ext uri="{FF2B5EF4-FFF2-40B4-BE49-F238E27FC236}">
                <a16:creationId xmlns:a16="http://schemas.microsoft.com/office/drawing/2014/main" id="{831C7FFB-2A8E-4624-5BCC-0C9B201B5642}"/>
              </a:ext>
            </a:extLst>
          </p:cNvPr>
          <p:cNvGrpSpPr/>
          <p:nvPr/>
        </p:nvGrpSpPr>
        <p:grpSpPr>
          <a:xfrm>
            <a:off x="4844243" y="23254"/>
            <a:ext cx="2432304" cy="6858000"/>
            <a:chOff x="4853942" y="0"/>
            <a:chExt cx="2432304" cy="6858000"/>
          </a:xfrm>
        </p:grpSpPr>
        <p:sp>
          <p:nvSpPr>
            <p:cNvPr id="36" name="Rectangle 35">
              <a:extLst>
                <a:ext uri="{FF2B5EF4-FFF2-40B4-BE49-F238E27FC236}">
                  <a16:creationId xmlns:a16="http://schemas.microsoft.com/office/drawing/2014/main" id="{7FB84E5B-D699-36D6-3479-A1DE2DD22460}"/>
                </a:ext>
              </a:extLst>
            </p:cNvPr>
            <p:cNvSpPr/>
            <p:nvPr/>
          </p:nvSpPr>
          <p:spPr>
            <a:xfrm>
              <a:off x="4853942" y="0"/>
              <a:ext cx="2432304" cy="6858000"/>
            </a:xfrm>
            <a:prstGeom prst="rect">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0" name="Rectangle 59">
              <a:extLst>
                <a:ext uri="{FF2B5EF4-FFF2-40B4-BE49-F238E27FC236}">
                  <a16:creationId xmlns:a16="http://schemas.microsoft.com/office/drawing/2014/main" id="{2D49A10A-C8E4-2735-17B8-9F3AB5177203}"/>
                </a:ext>
              </a:extLst>
            </p:cNvPr>
            <p:cNvSpPr/>
            <p:nvPr/>
          </p:nvSpPr>
          <p:spPr>
            <a:xfrm>
              <a:off x="5201190"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03</a:t>
              </a:r>
            </a:p>
          </p:txBody>
        </p:sp>
        <p:sp>
          <p:nvSpPr>
            <p:cNvPr id="70" name="TextBox 69">
              <a:extLst>
                <a:ext uri="{FF2B5EF4-FFF2-40B4-BE49-F238E27FC236}">
                  <a16:creationId xmlns:a16="http://schemas.microsoft.com/office/drawing/2014/main" id="{D8C8134F-C816-B14F-5392-18244C73F57D}"/>
                </a:ext>
              </a:extLst>
            </p:cNvPr>
            <p:cNvSpPr txBox="1"/>
            <p:nvPr/>
          </p:nvSpPr>
          <p:spPr>
            <a:xfrm>
              <a:off x="5185955" y="755645"/>
              <a:ext cx="1768279" cy="3908762"/>
            </a:xfrm>
            <a:prstGeom prst="rect">
              <a:avLst/>
            </a:prstGeom>
            <a:noFill/>
          </p:spPr>
          <p:txBody>
            <a:bodyPr wrap="square">
              <a:spAutoFit/>
            </a:bodyPr>
            <a:lstStyle/>
            <a:p>
              <a:pPr algn="ctr"/>
              <a:r>
                <a:rPr lang="en-IN" sz="1700" b="1" dirty="0"/>
                <a:t>Authentication &amp; Database Op:</a:t>
              </a:r>
            </a:p>
            <a:p>
              <a:pPr algn="ctr"/>
              <a:endParaRPr lang="en-IN" sz="1700" b="1" dirty="0"/>
            </a:p>
            <a:p>
              <a:pPr algn="ctr"/>
              <a:endParaRPr lang="en-IN" sz="1700" b="1" dirty="0"/>
            </a:p>
            <a:p>
              <a:pPr algn="ctr"/>
              <a:r>
                <a:rPr lang="en-IN" sz="1500" dirty="0"/>
                <a:t>Flask verifies login credentials against stored account information and uses </a:t>
              </a:r>
              <a:r>
                <a:rPr lang="en-IN" sz="1500" b="1" dirty="0"/>
                <a:t>SQLAlchemy</a:t>
              </a:r>
              <a:r>
                <a:rPr lang="en-IN" sz="1500" dirty="0"/>
                <a:t> to retrieve, insert, update, or delete data in the database. After successful login, the user is redirected to the dashboard.</a:t>
              </a:r>
            </a:p>
          </p:txBody>
        </p:sp>
      </p:grpSp>
      <p:grpSp>
        <p:nvGrpSpPr>
          <p:cNvPr id="77" name="Group 76">
            <a:extLst>
              <a:ext uri="{FF2B5EF4-FFF2-40B4-BE49-F238E27FC236}">
                <a16:creationId xmlns:a16="http://schemas.microsoft.com/office/drawing/2014/main" id="{2BE33FD4-452A-2789-8A46-F1310640BF74}"/>
              </a:ext>
            </a:extLst>
          </p:cNvPr>
          <p:cNvGrpSpPr/>
          <p:nvPr/>
        </p:nvGrpSpPr>
        <p:grpSpPr>
          <a:xfrm>
            <a:off x="2404576" y="23254"/>
            <a:ext cx="2432304" cy="6858000"/>
            <a:chOff x="2432303" y="0"/>
            <a:chExt cx="2432304" cy="6858000"/>
          </a:xfrm>
        </p:grpSpPr>
        <p:sp>
          <p:nvSpPr>
            <p:cNvPr id="34" name="Rectangle 33">
              <a:extLst>
                <a:ext uri="{FF2B5EF4-FFF2-40B4-BE49-F238E27FC236}">
                  <a16:creationId xmlns:a16="http://schemas.microsoft.com/office/drawing/2014/main" id="{72FB7BEE-7603-B0C3-34AF-C89409443F4B}"/>
                </a:ext>
              </a:extLst>
            </p:cNvPr>
            <p:cNvSpPr/>
            <p:nvPr/>
          </p:nvSpPr>
          <p:spPr>
            <a:xfrm>
              <a:off x="2432303" y="0"/>
              <a:ext cx="2432304" cy="6858000"/>
            </a:xfrm>
            <a:prstGeom prst="rect">
              <a:avLst/>
            </a:prstGeom>
            <a:solidFill>
              <a:srgbClr val="CCD4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2" name="Rectangle 61">
              <a:extLst>
                <a:ext uri="{FF2B5EF4-FFF2-40B4-BE49-F238E27FC236}">
                  <a16:creationId xmlns:a16="http://schemas.microsoft.com/office/drawing/2014/main" id="{10F89296-CFC7-E055-45A6-E8755C7A980C}"/>
                </a:ext>
              </a:extLst>
            </p:cNvPr>
            <p:cNvSpPr/>
            <p:nvPr/>
          </p:nvSpPr>
          <p:spPr>
            <a:xfrm>
              <a:off x="2895039"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02</a:t>
              </a:r>
            </a:p>
          </p:txBody>
        </p:sp>
        <p:sp>
          <p:nvSpPr>
            <p:cNvPr id="68" name="TextBox 67">
              <a:extLst>
                <a:ext uri="{FF2B5EF4-FFF2-40B4-BE49-F238E27FC236}">
                  <a16:creationId xmlns:a16="http://schemas.microsoft.com/office/drawing/2014/main" id="{32FDAE4A-CB3A-0528-C355-0836FF2F7F92}"/>
                </a:ext>
              </a:extLst>
            </p:cNvPr>
            <p:cNvSpPr txBox="1"/>
            <p:nvPr/>
          </p:nvSpPr>
          <p:spPr>
            <a:xfrm>
              <a:off x="2783571" y="755645"/>
              <a:ext cx="1774934" cy="4139595"/>
            </a:xfrm>
            <a:prstGeom prst="rect">
              <a:avLst/>
            </a:prstGeom>
            <a:noFill/>
          </p:spPr>
          <p:txBody>
            <a:bodyPr wrap="square">
              <a:spAutoFit/>
            </a:bodyPr>
            <a:lstStyle/>
            <a:p>
              <a:pPr algn="ctr"/>
              <a:r>
                <a:rPr lang="en-IN" sz="1700" b="1" dirty="0"/>
                <a:t>Request Handling: </a:t>
              </a:r>
            </a:p>
            <a:p>
              <a:pPr algn="ctr"/>
              <a:endParaRPr lang="en-IN" sz="1700" b="1" dirty="0"/>
            </a:p>
            <a:p>
              <a:pPr algn="ctr"/>
              <a:endParaRPr lang="en-IN" sz="1700" b="1" dirty="0"/>
            </a:p>
            <a:p>
              <a:pPr algn="ctr"/>
              <a:r>
                <a:rPr lang="en-IN" sz="1500" dirty="0"/>
                <a:t>The browser sends the request or login credentials to the appropriate</a:t>
              </a:r>
              <a:r>
                <a:rPr lang="en-IN" sz="1500" b="1" dirty="0"/>
                <a:t> Flask route</a:t>
              </a:r>
              <a:r>
                <a:rPr lang="en-IN" sz="1500" dirty="0"/>
                <a:t> in </a:t>
              </a:r>
              <a:r>
                <a:rPr lang="en-IN" sz="1500" dirty="0">
                  <a:latin typeface="+mn-lt"/>
                </a:rPr>
                <a:t>app.py</a:t>
              </a:r>
              <a:r>
                <a:rPr lang="en-IN" sz="1500" dirty="0"/>
                <a:t>. Flask processes the request and uses authentication and authorization checks, such as </a:t>
              </a:r>
              <a:r>
                <a:rPr lang="en-IN" sz="1500" b="1" dirty="0">
                  <a:latin typeface="+mn-lt"/>
                </a:rPr>
                <a:t>@login_required</a:t>
              </a:r>
              <a:r>
                <a:rPr lang="en-IN" sz="1500" dirty="0"/>
                <a:t>, to protect restricted pages.</a:t>
              </a:r>
            </a:p>
          </p:txBody>
        </p:sp>
      </p:grpSp>
      <p:grpSp>
        <p:nvGrpSpPr>
          <p:cNvPr id="75" name="Group 74">
            <a:extLst>
              <a:ext uri="{FF2B5EF4-FFF2-40B4-BE49-F238E27FC236}">
                <a16:creationId xmlns:a16="http://schemas.microsoft.com/office/drawing/2014/main" id="{AD0AD261-884C-EB53-59E1-76FD8CEDB35B}"/>
              </a:ext>
            </a:extLst>
          </p:cNvPr>
          <p:cNvGrpSpPr/>
          <p:nvPr/>
        </p:nvGrpSpPr>
        <p:grpSpPr>
          <a:xfrm>
            <a:off x="-17050" y="11627"/>
            <a:ext cx="2432304" cy="6858000"/>
            <a:chOff x="-1" y="0"/>
            <a:chExt cx="2432304" cy="6858000"/>
          </a:xfrm>
        </p:grpSpPr>
        <p:sp>
          <p:nvSpPr>
            <p:cNvPr id="2" name="Rectangle 1">
              <a:extLst>
                <a:ext uri="{FF2B5EF4-FFF2-40B4-BE49-F238E27FC236}">
                  <a16:creationId xmlns:a16="http://schemas.microsoft.com/office/drawing/2014/main" id="{2FF1074B-DA0D-3E16-810D-D75BA9A5469B}"/>
                </a:ext>
              </a:extLst>
            </p:cNvPr>
            <p:cNvSpPr/>
            <p:nvPr/>
          </p:nvSpPr>
          <p:spPr>
            <a:xfrm>
              <a:off x="-1" y="0"/>
              <a:ext cx="2432304" cy="6858000"/>
            </a:xfrm>
            <a:prstGeom prst="rect">
              <a:avLst/>
            </a:prstGeom>
            <a:solidFill>
              <a:srgbClr val="E0E5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6" name="Rectangle 55">
              <a:extLst>
                <a:ext uri="{FF2B5EF4-FFF2-40B4-BE49-F238E27FC236}">
                  <a16:creationId xmlns:a16="http://schemas.microsoft.com/office/drawing/2014/main" id="{0E467599-8653-8196-FF5C-74624047B8FE}"/>
                </a:ext>
              </a:extLst>
            </p:cNvPr>
            <p:cNvSpPr/>
            <p:nvPr/>
          </p:nvSpPr>
          <p:spPr>
            <a:xfrm>
              <a:off x="432254" y="5002963"/>
              <a:ext cx="1629935" cy="1569660"/>
            </a:xfrm>
            <a:prstGeom prst="rect">
              <a:avLst/>
            </a:prstGeom>
            <a:noFill/>
          </p:spPr>
          <p:txBody>
            <a:bodyPr wrap="square" lIns="91440" tIns="45720" rIns="91440" bIns="45720">
              <a:spAutoFit/>
            </a:bodyPr>
            <a:lstStyle/>
            <a:p>
              <a:pPr algn="ctr"/>
              <a:r>
                <a:rPr lang="en-US" sz="9600" b="0" cap="none" spc="0" dirty="0">
                  <a:ln w="0"/>
                  <a:solidFill>
                    <a:schemeClr val="tx1"/>
                  </a:solidFill>
                  <a:effectLst>
                    <a:outerShdw blurRad="38100" dist="19050" dir="2700000" algn="tl" rotWithShape="0">
                      <a:schemeClr val="dk1">
                        <a:alpha val="40000"/>
                      </a:schemeClr>
                    </a:outerShdw>
                  </a:effectLst>
                </a:rPr>
                <a:t>01</a:t>
              </a:r>
            </a:p>
          </p:txBody>
        </p:sp>
        <p:sp>
          <p:nvSpPr>
            <p:cNvPr id="66" name="TextBox 65">
              <a:extLst>
                <a:ext uri="{FF2B5EF4-FFF2-40B4-BE49-F238E27FC236}">
                  <a16:creationId xmlns:a16="http://schemas.microsoft.com/office/drawing/2014/main" id="{CD3B278E-A450-1D7D-4C93-AE6C8526F709}"/>
                </a:ext>
              </a:extLst>
            </p:cNvPr>
            <p:cNvSpPr txBox="1"/>
            <p:nvPr/>
          </p:nvSpPr>
          <p:spPr>
            <a:xfrm>
              <a:off x="218798" y="755645"/>
              <a:ext cx="1859190" cy="3016210"/>
            </a:xfrm>
            <a:prstGeom prst="rect">
              <a:avLst/>
            </a:prstGeom>
            <a:noFill/>
          </p:spPr>
          <p:txBody>
            <a:bodyPr wrap="square">
              <a:spAutoFit/>
            </a:bodyPr>
            <a:lstStyle/>
            <a:p>
              <a:pPr algn="ctr"/>
              <a:r>
                <a:rPr lang="en-IN" sz="1700" b="1" dirty="0"/>
                <a:t>User Interaction &amp; Form Validation:</a:t>
              </a:r>
            </a:p>
            <a:p>
              <a:pPr algn="ctr"/>
              <a:endParaRPr lang="en-IN" sz="1700" b="1" dirty="0"/>
            </a:p>
            <a:p>
              <a:pPr algn="ctr"/>
              <a:endParaRPr lang="en-IN" sz="1700" b="1" dirty="0"/>
            </a:p>
            <a:p>
              <a:pPr algn="ctr"/>
              <a:r>
                <a:rPr lang="en-IN" sz="1700" b="1" dirty="0"/>
                <a:t> </a:t>
              </a:r>
              <a:r>
                <a:rPr lang="en-IN" sz="1500" dirty="0"/>
                <a:t>The user interacts with Mind Bloom by clicking buttons or entering information. </a:t>
              </a:r>
              <a:r>
                <a:rPr lang="en-IN" sz="1500" b="1" dirty="0"/>
                <a:t>JavaScript</a:t>
              </a:r>
              <a:r>
                <a:rPr lang="en-IN" sz="1500" dirty="0"/>
                <a:t> checks whether the required form fields are filled in before submission.</a:t>
              </a:r>
            </a:p>
          </p:txBody>
        </p:sp>
      </p:grpSp>
    </p:spTree>
    <p:extLst>
      <p:ext uri="{BB962C8B-B14F-4D97-AF65-F5344CB8AC3E}">
        <p14:creationId xmlns:p14="http://schemas.microsoft.com/office/powerpoint/2010/main" val="1243547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2B1FF2C7-25E9-96E3-3305-2F2985979DB9}"/>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0" y="-1"/>
            <a:ext cx="12191999" cy="6858001"/>
          </a:xfrm>
          <a:prstGeom prst="rect">
            <a:avLst/>
          </a:prstGeom>
          <a:noFill/>
        </p:spPr>
      </p:pic>
      <p:sp>
        <p:nvSpPr>
          <p:cNvPr id="11" name="Oval 10">
            <a:extLst>
              <a:ext uri="{FF2B5EF4-FFF2-40B4-BE49-F238E27FC236}">
                <a16:creationId xmlns:a16="http://schemas.microsoft.com/office/drawing/2014/main" id="{49B4A4A9-D347-3543-858C-9EE9BEF3BB6C}"/>
              </a:ext>
            </a:extLst>
          </p:cNvPr>
          <p:cNvSpPr/>
          <p:nvPr/>
        </p:nvSpPr>
        <p:spPr>
          <a:xfrm>
            <a:off x="3126920" y="473527"/>
            <a:ext cx="5938158" cy="5910944"/>
          </a:xfrm>
          <a:custGeom>
            <a:avLst/>
            <a:gdLst>
              <a:gd name="csX0" fmla="*/ 0 w 5938158"/>
              <a:gd name="csY0" fmla="*/ 2955472 h 5910944"/>
              <a:gd name="csX1" fmla="*/ 2969079 w 5938158"/>
              <a:gd name="csY1" fmla="*/ 0 h 5910944"/>
              <a:gd name="csX2" fmla="*/ 5938158 w 5938158"/>
              <a:gd name="csY2" fmla="*/ 2955472 h 5910944"/>
              <a:gd name="csX3" fmla="*/ 2969079 w 5938158"/>
              <a:gd name="csY3" fmla="*/ 5910944 h 5910944"/>
              <a:gd name="csX4" fmla="*/ 0 w 5938158"/>
              <a:gd name="csY4" fmla="*/ 2955472 h 5910944"/>
            </a:gdLst>
            <a:ahLst/>
            <a:cxnLst>
              <a:cxn ang="0">
                <a:pos x="csX0" y="csY0"/>
              </a:cxn>
              <a:cxn ang="0">
                <a:pos x="csX1" y="csY1"/>
              </a:cxn>
              <a:cxn ang="0">
                <a:pos x="csX2" y="csY2"/>
              </a:cxn>
              <a:cxn ang="0">
                <a:pos x="csX3" y="csY3"/>
              </a:cxn>
              <a:cxn ang="0">
                <a:pos x="csX4" y="csY4"/>
              </a:cxn>
            </a:cxnLst>
            <a:rect l="l" t="t" r="r" b="b"/>
            <a:pathLst>
              <a:path w="5938158" h="5910944" fill="none" extrusionOk="0">
                <a:moveTo>
                  <a:pt x="0" y="2955472"/>
                </a:moveTo>
                <a:cubicBezTo>
                  <a:pt x="268367" y="1355046"/>
                  <a:pt x="1439181" y="-226130"/>
                  <a:pt x="2969079" y="0"/>
                </a:cubicBezTo>
                <a:cubicBezTo>
                  <a:pt x="4374255" y="-35926"/>
                  <a:pt x="5844207" y="1411664"/>
                  <a:pt x="5938158" y="2955472"/>
                </a:cubicBezTo>
                <a:cubicBezTo>
                  <a:pt x="5930026" y="4510186"/>
                  <a:pt x="4435970" y="6151207"/>
                  <a:pt x="2969079" y="5910944"/>
                </a:cubicBezTo>
                <a:cubicBezTo>
                  <a:pt x="1610846" y="6068564"/>
                  <a:pt x="199123" y="4635611"/>
                  <a:pt x="0" y="2955472"/>
                </a:cubicBezTo>
                <a:close/>
              </a:path>
              <a:path w="5938158" h="5910944" stroke="0" extrusionOk="0">
                <a:moveTo>
                  <a:pt x="0" y="2955472"/>
                </a:moveTo>
                <a:cubicBezTo>
                  <a:pt x="-219314" y="1187932"/>
                  <a:pt x="1259623" y="26152"/>
                  <a:pt x="2969079" y="0"/>
                </a:cubicBezTo>
                <a:cubicBezTo>
                  <a:pt x="4829863" y="46527"/>
                  <a:pt x="5669588" y="1331750"/>
                  <a:pt x="5938158" y="2955472"/>
                </a:cubicBezTo>
                <a:cubicBezTo>
                  <a:pt x="5711375" y="4809199"/>
                  <a:pt x="4571190" y="6119138"/>
                  <a:pt x="2969079" y="5910944"/>
                </a:cubicBezTo>
                <a:cubicBezTo>
                  <a:pt x="1169178" y="5823336"/>
                  <a:pt x="234476" y="4699768"/>
                  <a:pt x="0" y="2955472"/>
                </a:cubicBezTo>
                <a:close/>
              </a:path>
            </a:pathLst>
          </a:custGeom>
          <a:solidFill>
            <a:srgbClr val="76844D"/>
          </a:solidFill>
          <a:ln w="34925" cmpd="thinThick">
            <a:solidFill>
              <a:schemeClr val="tx1">
                <a:lumMod val="95000"/>
                <a:lumOff val="5000"/>
              </a:schemeClr>
            </a:solidFill>
            <a:extLst>
              <a:ext uri="{C807C97D-BFC1-408E-A445-0C87EB9F89A2}">
                <ask:lineSketchStyleProps xmlns:ask="http://schemas.microsoft.com/office/drawing/2018/sketchyshapes" sd="1219033472">
                  <a:prstGeom prst="ellipse">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DDB50266-EEF6-8783-66F0-A6472A54E03E}"/>
              </a:ext>
            </a:extLst>
          </p:cNvPr>
          <p:cNvSpPr/>
          <p:nvPr/>
        </p:nvSpPr>
        <p:spPr>
          <a:xfrm>
            <a:off x="3711442" y="1997839"/>
            <a:ext cx="4769116" cy="2862322"/>
          </a:xfrm>
          <a:prstGeom prst="rect">
            <a:avLst/>
          </a:prstGeom>
          <a:noFill/>
        </p:spPr>
        <p:txBody>
          <a:bodyPr wrap="square" lIns="91440" tIns="45720" rIns="91440" bIns="45720">
            <a:spAutoFit/>
          </a:bodyPr>
          <a:lstStyle/>
          <a:p>
            <a:pPr algn="ctr"/>
            <a:r>
              <a:rPr lang="en-IN" sz="6000" dirty="0">
                <a:ln w="0"/>
                <a:effectLst>
                  <a:outerShdw blurRad="38100" dist="19050" dir="2700000" algn="tl" rotWithShape="0">
                    <a:schemeClr val="dk1">
                      <a:alpha val="40000"/>
                    </a:schemeClr>
                  </a:outerShdw>
                </a:effectLst>
              </a:rPr>
              <a:t>Technology Stack of Mind Bloom </a:t>
            </a:r>
            <a:endParaRPr lang="en-US" sz="6000" dirty="0">
              <a:ln w="0"/>
              <a:effectLst>
                <a:outerShdw blurRad="38100" dist="19050" dir="2700000" algn="tl" rotWithShape="0">
                  <a:schemeClr val="dk1">
                    <a:alpha val="40000"/>
                  </a:schemeClr>
                </a:outerShdw>
              </a:effectLst>
            </a:endParaRPr>
          </a:p>
        </p:txBody>
      </p:sp>
      <p:pic>
        <p:nvPicPr>
          <p:cNvPr id="13" name="Picture 12" descr="This may contain: watercolor painting of green leaves on a white background by corbi87">
            <a:extLst>
              <a:ext uri="{FF2B5EF4-FFF2-40B4-BE49-F238E27FC236}">
                <a16:creationId xmlns:a16="http://schemas.microsoft.com/office/drawing/2014/main" id="{92642B0D-8652-4CA5-25B3-F076B83D4AF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790" b="96210" l="3397" r="93342">
                        <a14:foregroundMark x1="84918" y1="7213" x2="84918" y2="7213"/>
                        <a14:foregroundMark x1="93614" y1="3790" x2="93614" y2="3790"/>
                        <a14:foregroundMark x1="10190" y1="94499" x2="10190" y2="94499"/>
                        <a14:foregroundMark x1="3397" y1="96210" x2="3397" y2="96210"/>
                      </a14:backgroundRemoval>
                    </a14:imgEffect>
                  </a14:imgLayer>
                </a14:imgProps>
              </a:ext>
            </a:extLst>
          </a:blip>
          <a:stretch>
            <a:fillRect/>
          </a:stretch>
        </p:blipFill>
        <p:spPr>
          <a:xfrm rot="10800000">
            <a:off x="10809513" y="-126568"/>
            <a:ext cx="1623455" cy="1804329"/>
          </a:xfrm>
          <a:prstGeom prst="rect">
            <a:avLst/>
          </a:prstGeom>
        </p:spPr>
      </p:pic>
      <p:pic>
        <p:nvPicPr>
          <p:cNvPr id="17" name="Picture 16" descr="This may contain: an abstract green and white background with wavy lines">
            <a:extLst>
              <a:ext uri="{FF2B5EF4-FFF2-40B4-BE49-F238E27FC236}">
                <a16:creationId xmlns:a16="http://schemas.microsoft.com/office/drawing/2014/main" id="{0759E49C-DF2C-9193-210B-B0004136A525}"/>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2709" b="96182" l="3520" r="99840">
                        <a14:foregroundMark x1="12640" y1="11823" x2="50880" y2="37562"/>
                        <a14:foregroundMark x1="3520" y1="3448" x2="12800" y2="83621"/>
                        <a14:foregroundMark x1="12800" y1="83621" x2="12800" y2="83621"/>
                        <a14:foregroundMark x1="12800" y1="83621" x2="12800" y2="83621"/>
                        <a14:foregroundMark x1="7200" y1="6773" x2="94080" y2="9236"/>
                        <a14:foregroundMark x1="94080" y1="9236" x2="93280" y2="2833"/>
                        <a14:foregroundMark x1="6560" y1="96305" x2="17920" y2="71059"/>
                        <a14:foregroundMark x1="17920" y1="71059" x2="17920" y2="70567"/>
                        <a14:foregroundMark x1="34400" y1="57143" x2="34400" y2="57143"/>
                        <a14:foregroundMark x1="99840" y1="2709" x2="99840" y2="2709"/>
                        <a14:foregroundMark x1="9600" y1="93103" x2="36160" y2="17857"/>
                        <a14:foregroundMark x1="36160" y1="17857" x2="36160" y2="17857"/>
                        <a14:foregroundMark x1="83360" y1="9852" x2="40160" y2="21305"/>
                        <a14:foregroundMark x1="40160" y1="21305" x2="15680" y2="48030"/>
                        <a14:foregroundMark x1="15680" y1="48030" x2="18720" y2="62562"/>
                      </a14:backgroundRemoval>
                    </a14:imgEffect>
                  </a14:imgLayer>
                </a14:imgProps>
              </a:ext>
            </a:extLst>
          </a:blip>
          <a:stretch>
            <a:fillRect/>
          </a:stretch>
        </p:blipFill>
        <p:spPr>
          <a:xfrm>
            <a:off x="0" y="0"/>
            <a:ext cx="4292033" cy="6858000"/>
          </a:xfrm>
          <a:prstGeom prst="rect">
            <a:avLst/>
          </a:prstGeom>
        </p:spPr>
      </p:pic>
      <p:pic>
        <p:nvPicPr>
          <p:cNvPr id="15" name="Picture 14" descr="This may contain: watercolor painting of green leaves on a white background by corbi87">
            <a:extLst>
              <a:ext uri="{FF2B5EF4-FFF2-40B4-BE49-F238E27FC236}">
                <a16:creationId xmlns:a16="http://schemas.microsoft.com/office/drawing/2014/main" id="{405D576D-AD18-1A7D-C1C2-5829E99BC72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790" b="96210" l="3397" r="93342">
                        <a14:foregroundMark x1="84918" y1="7213" x2="84918" y2="7213"/>
                        <a14:foregroundMark x1="93614" y1="3790" x2="93614" y2="3790"/>
                        <a14:foregroundMark x1="10190" y1="94499" x2="10190" y2="94499"/>
                        <a14:foregroundMark x1="3397" y1="96210" x2="3397" y2="96210"/>
                      </a14:backgroundRemoval>
                    </a14:imgEffect>
                  </a14:imgLayer>
                </a14:imgProps>
              </a:ext>
            </a:extLst>
          </a:blip>
          <a:stretch>
            <a:fillRect/>
          </a:stretch>
        </p:blipFill>
        <p:spPr>
          <a:xfrm rot="535001">
            <a:off x="2116" y="5326723"/>
            <a:ext cx="1540065" cy="1711648"/>
          </a:xfrm>
          <a:prstGeom prst="rect">
            <a:avLst/>
          </a:prstGeom>
        </p:spPr>
      </p:pic>
      <p:pic>
        <p:nvPicPr>
          <p:cNvPr id="19" name="Picture 18" descr="This may contain: a green area with some lines going through it">
            <a:extLst>
              <a:ext uri="{FF2B5EF4-FFF2-40B4-BE49-F238E27FC236}">
                <a16:creationId xmlns:a16="http://schemas.microsoft.com/office/drawing/2014/main" id="{051A394A-62E3-40A3-4F06-060DB56DCE6F}"/>
              </a:ext>
            </a:extLst>
          </p:cNvPr>
          <p:cNvPicPr>
            <a:picLocks noChangeAspect="1"/>
          </p:cNvPicPr>
          <p:nvPr/>
        </p:nvPicPr>
        <p:blipFill>
          <a:blip r:embed="rId8">
            <a:alphaModFix amt="85000"/>
            <a:extLst>
              <a:ext uri="{BEBA8EAE-BF5A-486C-A8C5-ECC9F3942E4B}">
                <a14:imgProps xmlns:a14="http://schemas.microsoft.com/office/drawing/2010/main">
                  <a14:imgLayer r:embed="rId9">
                    <a14:imgEffect>
                      <a14:backgroundRemoval t="2287" b="98753" l="2230" r="99314">
                        <a14:foregroundMark x1="6861" y1="70270" x2="16981" y2="15593"/>
                        <a14:foregroundMark x1="16981" y1="15593" x2="16467" y2="14553"/>
                        <a14:foregroundMark x1="11664" y1="14553" x2="43225" y2="10187"/>
                        <a14:foregroundMark x1="43225" y1="10187" x2="66038" y2="11642"/>
                        <a14:foregroundMark x1="77187" y1="3950" x2="3259" y2="3950"/>
                        <a14:foregroundMark x1="3259" y1="3950" x2="2401" y2="5821"/>
                        <a14:foregroundMark x1="9949" y1="91268" x2="29331" y2="54678"/>
                        <a14:foregroundMark x1="8405" y1="95218" x2="35849" y2="41164"/>
                        <a14:foregroundMark x1="6003" y1="99168" x2="5660" y2="79418"/>
                        <a14:foregroundMark x1="30360" y1="61538" x2="76501" y2="43659"/>
                        <a14:foregroundMark x1="76501" y1="43659" x2="84906" y2="30353"/>
                        <a14:foregroundMark x1="84906" y1="30353" x2="92624" y2="7069"/>
                        <a14:foregroundMark x1="46998" y1="41372" x2="92624" y2="9563"/>
                        <a14:foregroundMark x1="98456" y1="2703" x2="95712" y2="12266"/>
                        <a14:foregroundMark x1="95712" y1="12266" x2="93310" y2="16216"/>
                        <a14:foregroundMark x1="39280" y1="43035" x2="38422" y2="49480"/>
                        <a14:foregroundMark x1="37907" y1="47193" x2="34648" y2="46570"/>
                        <a14:foregroundMark x1="20926" y1="50104" x2="30189" y2="56757"/>
                        <a14:foregroundMark x1="99314" y1="2287" x2="99314" y2="2287"/>
                      </a14:backgroundRemoval>
                    </a14:imgEffect>
                    <a14:imgEffect>
                      <a14:saturation sat="66000"/>
                    </a14:imgEffect>
                  </a14:imgLayer>
                </a14:imgProps>
              </a:ext>
            </a:extLst>
          </a:blip>
          <a:srcRect l="-3475" t="2699"/>
          <a:stretch>
            <a:fillRect/>
          </a:stretch>
        </p:blipFill>
        <p:spPr>
          <a:xfrm rot="16200000" flipV="1">
            <a:off x="8136180" y="2928746"/>
            <a:ext cx="3768980" cy="4342659"/>
          </a:xfrm>
          <a:prstGeom prst="rect">
            <a:avLst/>
          </a:prstGeom>
        </p:spPr>
      </p:pic>
    </p:spTree>
    <p:extLst>
      <p:ext uri="{BB962C8B-B14F-4D97-AF65-F5344CB8AC3E}">
        <p14:creationId xmlns:p14="http://schemas.microsoft.com/office/powerpoint/2010/main" val="317087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8CB97-4851-75B4-704E-03BD17E4B2C3}"/>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C7DD9D28-8350-60F8-E97E-83608510F456}"/>
              </a:ext>
            </a:extLst>
          </p:cNvPr>
          <p:cNvPicPr>
            <a:picLocks noChangeAspect="1"/>
          </p:cNvPicPr>
          <p:nvPr/>
        </p:nvPicPr>
        <p:blipFill>
          <a:blip r:embed="rId3">
            <a:duotone>
              <a:prstClr val="black"/>
              <a:schemeClr val="accent6">
                <a:lumMod val="40000"/>
                <a:lumOff val="60000"/>
                <a:tint val="45000"/>
                <a:satMod val="400000"/>
              </a:schemeClr>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0" y="-1"/>
            <a:ext cx="12191999" cy="6858001"/>
          </a:xfrm>
          <a:prstGeom prst="rect">
            <a:avLst/>
          </a:prstGeom>
          <a:noFill/>
        </p:spPr>
      </p:pic>
      <p:sp>
        <p:nvSpPr>
          <p:cNvPr id="2" name="Circle: Hollow 1">
            <a:extLst>
              <a:ext uri="{FF2B5EF4-FFF2-40B4-BE49-F238E27FC236}">
                <a16:creationId xmlns:a16="http://schemas.microsoft.com/office/drawing/2014/main" id="{06CD26A8-2562-64D3-8F8C-ECA84ED9DCB8}"/>
              </a:ext>
            </a:extLst>
          </p:cNvPr>
          <p:cNvSpPr/>
          <p:nvPr/>
        </p:nvSpPr>
        <p:spPr>
          <a:xfrm>
            <a:off x="-3335642" y="217713"/>
            <a:ext cx="6671284" cy="6422572"/>
          </a:xfrm>
          <a:prstGeom prst="donut">
            <a:avLst/>
          </a:prstGeom>
          <a:solidFill>
            <a:srgbClr val="76844D"/>
          </a:solidFill>
          <a:ln w="22225">
            <a:solidFill>
              <a:schemeClr val="tx1">
                <a:lumMod val="95000"/>
                <a:lumOff val="5000"/>
              </a:schemeClr>
            </a:solidFill>
            <a:extLst>
              <a:ext uri="{C807C97D-BFC1-408E-A445-0C87EB9F89A2}">
                <ask:lineSketchStyleProps xmlns:ask="http://schemas.microsoft.com/office/drawing/2018/sketchyshapes" sd="1219033472">
                  <a:custGeom>
                    <a:avLst/>
                    <a:gdLst>
                      <a:gd name="csX0" fmla="*/ 0 w 6671284"/>
                      <a:gd name="csY0" fmla="*/ 3211286 h 6422572"/>
                      <a:gd name="csX1" fmla="*/ 3335642 w 6671284"/>
                      <a:gd name="csY1" fmla="*/ 0 h 6422572"/>
                      <a:gd name="csX2" fmla="*/ 6671284 w 6671284"/>
                      <a:gd name="csY2" fmla="*/ 3211286 h 6422572"/>
                      <a:gd name="csX3" fmla="*/ 3335642 w 6671284"/>
                      <a:gd name="csY3" fmla="*/ 6422572 h 6422572"/>
                      <a:gd name="csX4" fmla="*/ 0 w 6671284"/>
                      <a:gd name="csY4" fmla="*/ 3211286 h 6422572"/>
                      <a:gd name="csX5" fmla="*/ 1605643 w 6671284"/>
                      <a:gd name="csY5" fmla="*/ 3211286 h 6422572"/>
                      <a:gd name="csX6" fmla="*/ 3335642 w 6671284"/>
                      <a:gd name="csY6" fmla="*/ 4816929 h 6422572"/>
                      <a:gd name="csX7" fmla="*/ 5065641 w 6671284"/>
                      <a:gd name="csY7" fmla="*/ 3211286 h 6422572"/>
                      <a:gd name="csX8" fmla="*/ 3335642 w 6671284"/>
                      <a:gd name="csY8" fmla="*/ 1605643 h 6422572"/>
                      <a:gd name="csX9" fmla="*/ 1605643 w 6671284"/>
                      <a:gd name="csY9" fmla="*/ 3211286 h 64225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671284" h="6422572" fill="none" extrusionOk="0">
                        <a:moveTo>
                          <a:pt x="0" y="3211286"/>
                        </a:moveTo>
                        <a:cubicBezTo>
                          <a:pt x="-259567" y="1395759"/>
                          <a:pt x="1518016" y="20116"/>
                          <a:pt x="3335642" y="0"/>
                        </a:cubicBezTo>
                        <a:cubicBezTo>
                          <a:pt x="5310808" y="197898"/>
                          <a:pt x="6677580" y="1502950"/>
                          <a:pt x="6671284" y="3211286"/>
                        </a:cubicBezTo>
                        <a:cubicBezTo>
                          <a:pt x="6688380" y="5011164"/>
                          <a:pt x="5379861" y="6670002"/>
                          <a:pt x="3335642" y="6422572"/>
                        </a:cubicBezTo>
                        <a:cubicBezTo>
                          <a:pt x="1588227" y="6339562"/>
                          <a:pt x="6279" y="4955294"/>
                          <a:pt x="0" y="3211286"/>
                        </a:cubicBezTo>
                        <a:close/>
                        <a:moveTo>
                          <a:pt x="1605643" y="3211286"/>
                        </a:moveTo>
                        <a:cubicBezTo>
                          <a:pt x="1476363" y="4119287"/>
                          <a:pt x="2242427" y="4721875"/>
                          <a:pt x="3335642" y="4816929"/>
                        </a:cubicBezTo>
                        <a:cubicBezTo>
                          <a:pt x="4167515" y="4808157"/>
                          <a:pt x="4997096" y="3958333"/>
                          <a:pt x="5065641" y="3211286"/>
                        </a:cubicBezTo>
                        <a:cubicBezTo>
                          <a:pt x="5078870" y="2145571"/>
                          <a:pt x="4142649" y="1692321"/>
                          <a:pt x="3335642" y="1605643"/>
                        </a:cubicBezTo>
                        <a:cubicBezTo>
                          <a:pt x="2320031" y="1713209"/>
                          <a:pt x="1721554" y="2410644"/>
                          <a:pt x="1605643" y="3211286"/>
                        </a:cubicBezTo>
                        <a:close/>
                      </a:path>
                      <a:path w="6671284" h="6422572" stroke="0" extrusionOk="0">
                        <a:moveTo>
                          <a:pt x="0" y="3211286"/>
                        </a:moveTo>
                        <a:cubicBezTo>
                          <a:pt x="-126382" y="1359787"/>
                          <a:pt x="1471378" y="8272"/>
                          <a:pt x="3335642" y="0"/>
                        </a:cubicBezTo>
                        <a:cubicBezTo>
                          <a:pt x="5318726" y="29654"/>
                          <a:pt x="6354427" y="1447817"/>
                          <a:pt x="6671284" y="3211286"/>
                        </a:cubicBezTo>
                        <a:cubicBezTo>
                          <a:pt x="6544716" y="5108431"/>
                          <a:pt x="5148110" y="6587042"/>
                          <a:pt x="3335642" y="6422572"/>
                        </a:cubicBezTo>
                        <a:cubicBezTo>
                          <a:pt x="1230115" y="6278513"/>
                          <a:pt x="168514" y="5065347"/>
                          <a:pt x="0" y="3211286"/>
                        </a:cubicBezTo>
                        <a:close/>
                        <a:moveTo>
                          <a:pt x="1605643" y="3211286"/>
                        </a:moveTo>
                        <a:cubicBezTo>
                          <a:pt x="1633144" y="4101320"/>
                          <a:pt x="2452869" y="4667356"/>
                          <a:pt x="3335642" y="4816929"/>
                        </a:cubicBezTo>
                        <a:cubicBezTo>
                          <a:pt x="4194894" y="4802197"/>
                          <a:pt x="5044864" y="4117619"/>
                          <a:pt x="5065641" y="3211286"/>
                        </a:cubicBezTo>
                        <a:cubicBezTo>
                          <a:pt x="5058371" y="2255188"/>
                          <a:pt x="4204036" y="1726630"/>
                          <a:pt x="3335642" y="1605643"/>
                        </a:cubicBezTo>
                        <a:cubicBezTo>
                          <a:pt x="2462863" y="1651927"/>
                          <a:pt x="1734772" y="2355561"/>
                          <a:pt x="1605643" y="321128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Rectangle: Rounded Corners 3">
            <a:extLst>
              <a:ext uri="{FF2B5EF4-FFF2-40B4-BE49-F238E27FC236}">
                <a16:creationId xmlns:a16="http://schemas.microsoft.com/office/drawing/2014/main" id="{FBCA91CF-A5A4-0FC5-3D42-CB028B49D907}"/>
              </a:ext>
            </a:extLst>
          </p:cNvPr>
          <p:cNvSpPr/>
          <p:nvPr/>
        </p:nvSpPr>
        <p:spPr>
          <a:xfrm>
            <a:off x="3828842" y="688934"/>
            <a:ext cx="7103327" cy="5196468"/>
          </a:xfrm>
          <a:prstGeom prst="roundRect">
            <a:avLst/>
          </a:prstGeom>
          <a:solidFill>
            <a:srgbClr val="76844D"/>
          </a:solidFill>
          <a:ln w="2222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500" b="1" dirty="0">
                <a:solidFill>
                  <a:schemeClr val="tx1"/>
                </a:solidFill>
              </a:rPr>
              <a:t>1. Frontend Technologies — HTML, CSS, JavaScript</a:t>
            </a:r>
          </a:p>
          <a:p>
            <a:endParaRPr lang="en-IN" sz="2100" b="1" dirty="0">
              <a:solidFill>
                <a:schemeClr val="tx1"/>
              </a:solidFill>
            </a:endParaRPr>
          </a:p>
          <a:p>
            <a:pPr marL="342900" lvl="0" indent="-342900">
              <a:buFont typeface="Arial" panose="020B0604020202020204" pitchFamily="34" charset="0"/>
              <a:buChar char="•"/>
            </a:pPr>
            <a:r>
              <a:rPr lang="en-IN" sz="2000" dirty="0">
                <a:solidFill>
                  <a:schemeClr val="tx1"/>
                </a:solidFill>
              </a:rPr>
              <a:t>HTML structures the web pages and their content.</a:t>
            </a:r>
          </a:p>
          <a:p>
            <a:pPr marL="342900" lvl="0" indent="-342900">
              <a:buFont typeface="Arial" panose="020B0604020202020204" pitchFamily="34" charset="0"/>
              <a:buChar char="•"/>
            </a:pPr>
            <a:r>
              <a:rPr lang="en-IN" sz="2000" dirty="0">
                <a:solidFill>
                  <a:schemeClr val="tx1"/>
                </a:solidFill>
              </a:rPr>
              <a:t>CSS styles the interface, colours, layouts, and typography.</a:t>
            </a:r>
          </a:p>
          <a:p>
            <a:pPr marL="342900" lvl="0" indent="-342900">
              <a:buFont typeface="Arial" panose="020B0604020202020204" pitchFamily="34" charset="0"/>
              <a:buChar char="•"/>
            </a:pPr>
            <a:r>
              <a:rPr lang="en-IN" sz="2000" dirty="0">
                <a:solidFill>
                  <a:schemeClr val="tx1"/>
                </a:solidFill>
              </a:rPr>
              <a:t>JavaScript adds interactive features and validates form inputs.</a:t>
            </a:r>
          </a:p>
          <a:p>
            <a:pPr marL="342900" lvl="0" indent="-342900">
              <a:buFont typeface="Arial" panose="020B0604020202020204" pitchFamily="34" charset="0"/>
              <a:buChar char="•"/>
            </a:pPr>
            <a:r>
              <a:rPr lang="en-IN" sz="2000" dirty="0">
                <a:solidFill>
                  <a:schemeClr val="tx1"/>
                </a:solidFill>
              </a:rPr>
              <a:t>It helps users navigate different modules of Mind Bloom.</a:t>
            </a:r>
          </a:p>
          <a:p>
            <a:pPr marL="342900" lvl="0" indent="-342900">
              <a:buFont typeface="Arial" panose="020B0604020202020204" pitchFamily="34" charset="0"/>
              <a:buChar char="•"/>
            </a:pPr>
            <a:r>
              <a:rPr lang="en-IN" sz="2000" dirty="0">
                <a:solidFill>
                  <a:schemeClr val="tx1"/>
                </a:solidFill>
              </a:rPr>
              <a:t>JavaScript's </a:t>
            </a:r>
            <a:r>
              <a:rPr lang="en-IN" dirty="0">
                <a:solidFill>
                  <a:schemeClr val="tx1"/>
                </a:solidFill>
              </a:rPr>
              <a:t>fetch()</a:t>
            </a:r>
            <a:r>
              <a:rPr lang="en-IN" sz="2000" dirty="0">
                <a:solidFill>
                  <a:schemeClr val="tx1"/>
                </a:solidFill>
              </a:rPr>
              <a:t> enables communication with the Flask backend without reloading the entire page.</a:t>
            </a:r>
          </a:p>
        </p:txBody>
      </p:sp>
      <p:cxnSp>
        <p:nvCxnSpPr>
          <p:cNvPr id="9" name="Straight Arrow Connector 8">
            <a:extLst>
              <a:ext uri="{FF2B5EF4-FFF2-40B4-BE49-F238E27FC236}">
                <a16:creationId xmlns:a16="http://schemas.microsoft.com/office/drawing/2014/main" id="{62757EC9-FC95-966C-00A8-AFD70A102B75}"/>
              </a:ext>
            </a:extLst>
          </p:cNvPr>
          <p:cNvCxnSpPr>
            <a:cxnSpLocks/>
          </p:cNvCxnSpPr>
          <p:nvPr/>
        </p:nvCxnSpPr>
        <p:spPr>
          <a:xfrm>
            <a:off x="2442702" y="869795"/>
            <a:ext cx="1136839" cy="234176"/>
          </a:xfrm>
          <a:prstGeom prst="straightConnector1">
            <a:avLst/>
          </a:prstGeom>
          <a:ln w="444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EA3A7D7B-8E2A-A2C2-6826-F2533523875B}"/>
              </a:ext>
            </a:extLst>
          </p:cNvPr>
          <p:cNvSpPr/>
          <p:nvPr/>
        </p:nvSpPr>
        <p:spPr>
          <a:xfrm>
            <a:off x="-21668" y="189571"/>
            <a:ext cx="1984917" cy="1828800"/>
          </a:xfrm>
          <a:prstGeom prst="ellipse">
            <a:avLst/>
          </a:prstGeom>
          <a:solidFill>
            <a:srgbClr val="A4B27B"/>
          </a:solidFill>
          <a:ln w="508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 name="Graphic 15" descr="Database with solid fill">
            <a:extLst>
              <a:ext uri="{FF2B5EF4-FFF2-40B4-BE49-F238E27FC236}">
                <a16:creationId xmlns:a16="http://schemas.microsoft.com/office/drawing/2014/main" id="{240F5B4F-6176-04F8-70A1-8CFEEBEAAC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65747" y="3453753"/>
            <a:ext cx="914400" cy="914400"/>
          </a:xfrm>
          <a:prstGeom prst="rect">
            <a:avLst/>
          </a:prstGeom>
        </p:spPr>
      </p:pic>
      <p:pic>
        <p:nvPicPr>
          <p:cNvPr id="20" name="Graphic 19" descr="Internet with solid fill">
            <a:extLst>
              <a:ext uri="{FF2B5EF4-FFF2-40B4-BE49-F238E27FC236}">
                <a16:creationId xmlns:a16="http://schemas.microsoft.com/office/drawing/2014/main" id="{64667EA9-6162-0F19-9A4C-3BE1F9F433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776" y="5263028"/>
            <a:ext cx="914400" cy="914400"/>
          </a:xfrm>
          <a:prstGeom prst="rect">
            <a:avLst/>
          </a:prstGeom>
        </p:spPr>
      </p:pic>
      <p:pic>
        <p:nvPicPr>
          <p:cNvPr id="21" name="Picture 20" descr="Frontend Vector Art, Icons, and Graphics for Free Download">
            <a:extLst>
              <a:ext uri="{FF2B5EF4-FFF2-40B4-BE49-F238E27FC236}">
                <a16:creationId xmlns:a16="http://schemas.microsoft.com/office/drawing/2014/main" id="{834D1505-BADC-F3B6-F698-3146328943A4}"/>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429" b="90571" l="5429" r="91429">
                        <a14:foregroundMark x1="5714" y1="28857" x2="5714" y2="28857"/>
                        <a14:foregroundMark x1="41143" y1="47143" x2="41143" y2="47143"/>
                        <a14:foregroundMark x1="21429" y1="9714" x2="21429" y2="9714"/>
                        <a14:foregroundMark x1="28286" y1="13143" x2="28286" y2="13143"/>
                        <a14:foregroundMark x1="37714" y1="13429" x2="37714" y2="13429"/>
                        <a14:foregroundMark x1="45429" y1="13429" x2="45429" y2="13429"/>
                        <a14:foregroundMark x1="54571" y1="14571" x2="54571" y2="14571"/>
                        <a14:foregroundMark x1="72286" y1="14571" x2="72286" y2="14571"/>
                        <a14:foregroundMark x1="91714" y1="24286" x2="91714" y2="24286"/>
                        <a14:foregroundMark x1="34000" y1="52571" x2="34000" y2="52571"/>
                        <a14:foregroundMark x1="33429" y1="58000" x2="33429" y2="58000"/>
                        <a14:foregroundMark x1="58571" y1="90571" x2="58571" y2="90571"/>
                        <a14:foregroundMark x1="68000" y1="59429" x2="68000" y2="59429"/>
                        <a14:foregroundMark x1="70286" y1="40571" x2="70286" y2="40571"/>
                      </a14:backgroundRemoval>
                    </a14:imgEffect>
                  </a14:imgLayer>
                </a14:imgProps>
              </a:ext>
            </a:extLst>
          </a:blip>
          <a:stretch>
            <a:fillRect/>
          </a:stretch>
        </p:blipFill>
        <p:spPr>
          <a:xfrm>
            <a:off x="304078" y="464107"/>
            <a:ext cx="1380196" cy="1380196"/>
          </a:xfrm>
          <a:prstGeom prst="rect">
            <a:avLst/>
          </a:prstGeom>
        </p:spPr>
      </p:pic>
      <p:pic>
        <p:nvPicPr>
          <p:cNvPr id="22" name="Picture 21" descr="Back End icon. Simple element from website development collection ...">
            <a:extLst>
              <a:ext uri="{FF2B5EF4-FFF2-40B4-BE49-F238E27FC236}">
                <a16:creationId xmlns:a16="http://schemas.microsoft.com/office/drawing/2014/main" id="{097A2AA4-C880-C3C5-8A55-BC58C96865DE}"/>
              </a:ext>
            </a:extLst>
          </p:cNvPr>
          <p:cNvPicPr>
            <a:picLocks noChangeAspect="1"/>
          </p:cNvPicPr>
          <p:nvPr/>
        </p:nvPicPr>
        <p:blipFill>
          <a:blip r:embed="rId9">
            <a:biLevel thresh="75000"/>
            <a:extLst>
              <a:ext uri="{BEBA8EAE-BF5A-486C-A8C5-ECC9F3942E4B}">
                <a14:imgProps xmlns:a14="http://schemas.microsoft.com/office/drawing/2010/main">
                  <a14:imgLayer r:embed="rId10">
                    <a14:imgEffect>
                      <a14:backgroundRemoval t="10000" b="90000" l="10000" r="90000">
                        <a14:foregroundMark x1="39366" y1="59162" x2="39366" y2="59162"/>
                        <a14:foregroundMark x1="23881" y1="37522" x2="23881" y2="37522"/>
                        <a14:foregroundMark x1="36007" y1="45375" x2="36007" y2="45375"/>
                        <a14:foregroundMark x1="27425" y1="44852" x2="27425" y2="44852"/>
                        <a14:foregroundMark x1="44403" y1="45201" x2="44403" y2="45201"/>
                      </a14:backgroundRemoval>
                    </a14:imgEffect>
                  </a14:imgLayer>
                </a14:imgProps>
              </a:ext>
            </a:extLst>
          </a:blip>
          <a:stretch>
            <a:fillRect/>
          </a:stretch>
        </p:blipFill>
        <p:spPr>
          <a:xfrm>
            <a:off x="1444845" y="1552415"/>
            <a:ext cx="1738688" cy="1858709"/>
          </a:xfrm>
          <a:prstGeom prst="rect">
            <a:avLst/>
          </a:prstGeom>
        </p:spPr>
      </p:pic>
      <p:pic>
        <p:nvPicPr>
          <p:cNvPr id="23" name="Picture 22" descr="AI microchip black silhouette simple microchip icon with brain or ...">
            <a:extLst>
              <a:ext uri="{FF2B5EF4-FFF2-40B4-BE49-F238E27FC236}">
                <a16:creationId xmlns:a16="http://schemas.microsoft.com/office/drawing/2014/main" id="{1B9952C9-79AC-3EB2-A7B4-294E3B067A7D}"/>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4874" b="93502" l="5596" r="94765">
                        <a14:foregroundMark x1="34838" y1="6679" x2="34838" y2="6679"/>
                        <a14:foregroundMark x1="49458" y1="6859" x2="49458" y2="6859"/>
                        <a14:foregroundMark x1="65162" y1="8664" x2="65162" y2="8664"/>
                        <a14:foregroundMark x1="8845" y1="42599" x2="8845" y2="42599"/>
                        <a14:foregroundMark x1="7581" y1="31227" x2="7581" y2="31227"/>
                        <a14:foregroundMark x1="7942" y1="58123" x2="7942" y2="58123"/>
                        <a14:foregroundMark x1="6859" y1="69134" x2="6859" y2="69134"/>
                        <a14:foregroundMark x1="35199" y1="93502" x2="35199" y2="93502"/>
                        <a14:foregroundMark x1="52166" y1="92599" x2="52166" y2="92599"/>
                        <a14:foregroundMark x1="64260" y1="92599" x2="64260" y2="92599"/>
                        <a14:foregroundMark x1="94404" y1="69495" x2="94404" y2="69495"/>
                        <a14:foregroundMark x1="93682" y1="43141" x2="93682" y2="43141"/>
                        <a14:foregroundMark x1="6318" y1="42419" x2="6318" y2="42419"/>
                        <a14:foregroundMark x1="5596" y1="57220" x2="5596" y2="57220"/>
                        <a14:foregroundMark x1="5776" y1="30686" x2="5776" y2="30686"/>
                        <a14:foregroundMark x1="5776" y1="69134" x2="5776" y2="69134"/>
                        <a14:foregroundMark x1="5596" y1="43141" x2="5596" y2="43141"/>
                        <a14:foregroundMark x1="65162" y1="5054" x2="65162" y2="5054"/>
                        <a14:foregroundMark x1="66606" y1="7581" x2="66606" y2="7581"/>
                        <a14:foregroundMark x1="94224" y1="42419" x2="94224" y2="42419"/>
                        <a14:foregroundMark x1="94224" y1="58123" x2="94224" y2="58123"/>
                        <a14:foregroundMark x1="94765" y1="69675" x2="94765" y2="69675"/>
                        <a14:foregroundMark x1="42058" y1="55235" x2="42058" y2="55235"/>
                        <a14:foregroundMark x1="44946" y1="38989" x2="44946" y2="38989"/>
                        <a14:foregroundMark x1="53971" y1="64440" x2="53971" y2="64440"/>
                      </a14:backgroundRemoval>
                    </a14:imgEffect>
                  </a14:imgLayer>
                </a14:imgProps>
              </a:ext>
            </a:extLst>
          </a:blip>
          <a:stretch>
            <a:fillRect/>
          </a:stretch>
        </p:blipFill>
        <p:spPr>
          <a:xfrm>
            <a:off x="1172737" y="4594302"/>
            <a:ext cx="1120698" cy="1120698"/>
          </a:xfrm>
          <a:prstGeom prst="rect">
            <a:avLst/>
          </a:prstGeom>
        </p:spPr>
      </p:pic>
    </p:spTree>
    <p:extLst>
      <p:ext uri="{BB962C8B-B14F-4D97-AF65-F5344CB8AC3E}">
        <p14:creationId xmlns:p14="http://schemas.microsoft.com/office/powerpoint/2010/main" val="828961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E653F-C8A9-21A5-E851-2A4F609E8448}"/>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D0A673CD-5E14-884E-5EB1-2A0EAD0D5F55}"/>
              </a:ext>
            </a:extLst>
          </p:cNvPr>
          <p:cNvPicPr>
            <a:picLocks noChangeAspect="1"/>
          </p:cNvPicPr>
          <p:nvPr/>
        </p:nvPicPr>
        <p:blipFill>
          <a:blip r:embed="rId3">
            <a:duotone>
              <a:prstClr val="black"/>
              <a:schemeClr val="accent6">
                <a:lumMod val="40000"/>
                <a:lumOff val="60000"/>
                <a:tint val="45000"/>
                <a:satMod val="400000"/>
              </a:schemeClr>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0" y="22301"/>
            <a:ext cx="12191999" cy="6858001"/>
          </a:xfrm>
          <a:prstGeom prst="rect">
            <a:avLst/>
          </a:prstGeom>
          <a:noFill/>
        </p:spPr>
      </p:pic>
      <p:sp>
        <p:nvSpPr>
          <p:cNvPr id="2" name="Circle: Hollow 1">
            <a:extLst>
              <a:ext uri="{FF2B5EF4-FFF2-40B4-BE49-F238E27FC236}">
                <a16:creationId xmlns:a16="http://schemas.microsoft.com/office/drawing/2014/main" id="{86B4AEB8-9986-FDCF-3A66-E26DB0054958}"/>
              </a:ext>
            </a:extLst>
          </p:cNvPr>
          <p:cNvSpPr/>
          <p:nvPr/>
        </p:nvSpPr>
        <p:spPr>
          <a:xfrm>
            <a:off x="-3335642" y="217713"/>
            <a:ext cx="6671284" cy="6422572"/>
          </a:xfrm>
          <a:prstGeom prst="donut">
            <a:avLst/>
          </a:prstGeom>
          <a:solidFill>
            <a:srgbClr val="76844D"/>
          </a:solidFill>
          <a:ln w="22225">
            <a:solidFill>
              <a:schemeClr val="tx1">
                <a:lumMod val="95000"/>
                <a:lumOff val="5000"/>
              </a:schemeClr>
            </a:solidFill>
            <a:extLst>
              <a:ext uri="{C807C97D-BFC1-408E-A445-0C87EB9F89A2}">
                <ask:lineSketchStyleProps xmlns:ask="http://schemas.microsoft.com/office/drawing/2018/sketchyshapes" sd="1219033472">
                  <a:custGeom>
                    <a:avLst/>
                    <a:gdLst>
                      <a:gd name="csX0" fmla="*/ 0 w 6671284"/>
                      <a:gd name="csY0" fmla="*/ 3211286 h 6422572"/>
                      <a:gd name="csX1" fmla="*/ 3335642 w 6671284"/>
                      <a:gd name="csY1" fmla="*/ 0 h 6422572"/>
                      <a:gd name="csX2" fmla="*/ 6671284 w 6671284"/>
                      <a:gd name="csY2" fmla="*/ 3211286 h 6422572"/>
                      <a:gd name="csX3" fmla="*/ 3335642 w 6671284"/>
                      <a:gd name="csY3" fmla="*/ 6422572 h 6422572"/>
                      <a:gd name="csX4" fmla="*/ 0 w 6671284"/>
                      <a:gd name="csY4" fmla="*/ 3211286 h 6422572"/>
                      <a:gd name="csX5" fmla="*/ 1605643 w 6671284"/>
                      <a:gd name="csY5" fmla="*/ 3211286 h 6422572"/>
                      <a:gd name="csX6" fmla="*/ 3335642 w 6671284"/>
                      <a:gd name="csY6" fmla="*/ 4816929 h 6422572"/>
                      <a:gd name="csX7" fmla="*/ 5065641 w 6671284"/>
                      <a:gd name="csY7" fmla="*/ 3211286 h 6422572"/>
                      <a:gd name="csX8" fmla="*/ 3335642 w 6671284"/>
                      <a:gd name="csY8" fmla="*/ 1605643 h 6422572"/>
                      <a:gd name="csX9" fmla="*/ 1605643 w 6671284"/>
                      <a:gd name="csY9" fmla="*/ 3211286 h 64225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671284" h="6422572" fill="none" extrusionOk="0">
                        <a:moveTo>
                          <a:pt x="0" y="3211286"/>
                        </a:moveTo>
                        <a:cubicBezTo>
                          <a:pt x="-259567" y="1395759"/>
                          <a:pt x="1518016" y="20116"/>
                          <a:pt x="3335642" y="0"/>
                        </a:cubicBezTo>
                        <a:cubicBezTo>
                          <a:pt x="5310808" y="197898"/>
                          <a:pt x="6677580" y="1502950"/>
                          <a:pt x="6671284" y="3211286"/>
                        </a:cubicBezTo>
                        <a:cubicBezTo>
                          <a:pt x="6688380" y="5011164"/>
                          <a:pt x="5379861" y="6670002"/>
                          <a:pt x="3335642" y="6422572"/>
                        </a:cubicBezTo>
                        <a:cubicBezTo>
                          <a:pt x="1588227" y="6339562"/>
                          <a:pt x="6279" y="4955294"/>
                          <a:pt x="0" y="3211286"/>
                        </a:cubicBezTo>
                        <a:close/>
                        <a:moveTo>
                          <a:pt x="1605643" y="3211286"/>
                        </a:moveTo>
                        <a:cubicBezTo>
                          <a:pt x="1476363" y="4119287"/>
                          <a:pt x="2242427" y="4721875"/>
                          <a:pt x="3335642" y="4816929"/>
                        </a:cubicBezTo>
                        <a:cubicBezTo>
                          <a:pt x="4167515" y="4808157"/>
                          <a:pt x="4997096" y="3958333"/>
                          <a:pt x="5065641" y="3211286"/>
                        </a:cubicBezTo>
                        <a:cubicBezTo>
                          <a:pt x="5078870" y="2145571"/>
                          <a:pt x="4142649" y="1692321"/>
                          <a:pt x="3335642" y="1605643"/>
                        </a:cubicBezTo>
                        <a:cubicBezTo>
                          <a:pt x="2320031" y="1713209"/>
                          <a:pt x="1721554" y="2410644"/>
                          <a:pt x="1605643" y="3211286"/>
                        </a:cubicBezTo>
                        <a:close/>
                      </a:path>
                      <a:path w="6671284" h="6422572" stroke="0" extrusionOk="0">
                        <a:moveTo>
                          <a:pt x="0" y="3211286"/>
                        </a:moveTo>
                        <a:cubicBezTo>
                          <a:pt x="-126382" y="1359787"/>
                          <a:pt x="1471378" y="8272"/>
                          <a:pt x="3335642" y="0"/>
                        </a:cubicBezTo>
                        <a:cubicBezTo>
                          <a:pt x="5318726" y="29654"/>
                          <a:pt x="6354427" y="1447817"/>
                          <a:pt x="6671284" y="3211286"/>
                        </a:cubicBezTo>
                        <a:cubicBezTo>
                          <a:pt x="6544716" y="5108431"/>
                          <a:pt x="5148110" y="6587042"/>
                          <a:pt x="3335642" y="6422572"/>
                        </a:cubicBezTo>
                        <a:cubicBezTo>
                          <a:pt x="1230115" y="6278513"/>
                          <a:pt x="168514" y="5065347"/>
                          <a:pt x="0" y="3211286"/>
                        </a:cubicBezTo>
                        <a:close/>
                        <a:moveTo>
                          <a:pt x="1605643" y="3211286"/>
                        </a:moveTo>
                        <a:cubicBezTo>
                          <a:pt x="1633144" y="4101320"/>
                          <a:pt x="2452869" y="4667356"/>
                          <a:pt x="3335642" y="4816929"/>
                        </a:cubicBezTo>
                        <a:cubicBezTo>
                          <a:pt x="4194894" y="4802197"/>
                          <a:pt x="5044864" y="4117619"/>
                          <a:pt x="5065641" y="3211286"/>
                        </a:cubicBezTo>
                        <a:cubicBezTo>
                          <a:pt x="5058371" y="2255188"/>
                          <a:pt x="4204036" y="1726630"/>
                          <a:pt x="3335642" y="1605643"/>
                        </a:cubicBezTo>
                        <a:cubicBezTo>
                          <a:pt x="2462863" y="1651927"/>
                          <a:pt x="1734772" y="2355561"/>
                          <a:pt x="1605643" y="321128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Rectangle: Rounded Corners 3">
            <a:extLst>
              <a:ext uri="{FF2B5EF4-FFF2-40B4-BE49-F238E27FC236}">
                <a16:creationId xmlns:a16="http://schemas.microsoft.com/office/drawing/2014/main" id="{7F05701B-BBD7-7576-2B73-B735E25576B3}"/>
              </a:ext>
            </a:extLst>
          </p:cNvPr>
          <p:cNvSpPr/>
          <p:nvPr/>
        </p:nvSpPr>
        <p:spPr>
          <a:xfrm>
            <a:off x="3828842" y="688934"/>
            <a:ext cx="7103327" cy="5196468"/>
          </a:xfrm>
          <a:prstGeom prst="roundRect">
            <a:avLst/>
          </a:prstGeom>
          <a:solidFill>
            <a:srgbClr val="76844D"/>
          </a:solidFill>
          <a:ln w="2222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500" b="1" dirty="0">
                <a:solidFill>
                  <a:schemeClr val="tx1"/>
                </a:solidFill>
              </a:rPr>
              <a:t>2. Backend Technologies — Python, Flask, Jinja2</a:t>
            </a:r>
          </a:p>
          <a:p>
            <a:endParaRPr lang="en-IN" sz="2100" b="1" dirty="0">
              <a:solidFill>
                <a:schemeClr val="tx1"/>
              </a:solidFill>
            </a:endParaRPr>
          </a:p>
          <a:p>
            <a:pPr marL="285750" lvl="0" indent="-285750">
              <a:buFont typeface="Arial" panose="020B0604020202020204" pitchFamily="34" charset="0"/>
              <a:buChar char="•"/>
            </a:pPr>
            <a:r>
              <a:rPr lang="en-IN" sz="2000" dirty="0">
                <a:solidFill>
                  <a:schemeClr val="tx1"/>
                </a:solidFill>
              </a:rPr>
              <a:t>Python handles the application's main logic and processing.</a:t>
            </a:r>
          </a:p>
          <a:p>
            <a:pPr marL="285750" lvl="0" indent="-285750">
              <a:buFont typeface="Arial" panose="020B0604020202020204" pitchFamily="34" charset="0"/>
              <a:buChar char="•"/>
            </a:pPr>
            <a:r>
              <a:rPr lang="en-IN" sz="2000" dirty="0">
                <a:solidFill>
                  <a:schemeClr val="tx1"/>
                </a:solidFill>
              </a:rPr>
              <a:t>Flask manages URL routes, requests, and responses.</a:t>
            </a:r>
          </a:p>
          <a:p>
            <a:pPr marL="285750" lvl="0" indent="-285750">
              <a:buFont typeface="Arial" panose="020B0604020202020204" pitchFamily="34" charset="0"/>
              <a:buChar char="•"/>
            </a:pPr>
            <a:r>
              <a:rPr lang="en-IN" sz="2000" dirty="0">
                <a:solidFill>
                  <a:schemeClr val="tx1"/>
                </a:solidFill>
              </a:rPr>
              <a:t>It handles login functionality and communication between the frontend and database.</a:t>
            </a:r>
          </a:p>
          <a:p>
            <a:pPr marL="285750" lvl="0" indent="-285750">
              <a:buFont typeface="Arial" panose="020B0604020202020204" pitchFamily="34" charset="0"/>
              <a:buChar char="•"/>
            </a:pPr>
            <a:r>
              <a:rPr lang="en-IN" sz="2000" dirty="0">
                <a:solidFill>
                  <a:schemeClr val="tx1"/>
                </a:solidFill>
              </a:rPr>
              <a:t>Jinja2 dynamically generates HTML pages using backend data.</a:t>
            </a:r>
          </a:p>
          <a:p>
            <a:pPr marL="285750" lvl="0" indent="-285750">
              <a:buFont typeface="Arial" panose="020B0604020202020204" pitchFamily="34" charset="0"/>
              <a:buChar char="•"/>
            </a:pPr>
            <a:r>
              <a:rPr lang="en-IN" sz="2000" dirty="0">
                <a:solidFill>
                  <a:schemeClr val="tx1"/>
                </a:solidFill>
              </a:rPr>
              <a:t>Together, these technologies connect the user interface with the application's core functionality.</a:t>
            </a:r>
          </a:p>
        </p:txBody>
      </p:sp>
      <p:cxnSp>
        <p:nvCxnSpPr>
          <p:cNvPr id="9" name="Straight Arrow Connector 8">
            <a:extLst>
              <a:ext uri="{FF2B5EF4-FFF2-40B4-BE49-F238E27FC236}">
                <a16:creationId xmlns:a16="http://schemas.microsoft.com/office/drawing/2014/main" id="{8A2B529F-D2A6-1C24-00D3-A786787A4D85}"/>
              </a:ext>
            </a:extLst>
          </p:cNvPr>
          <p:cNvCxnSpPr>
            <a:cxnSpLocks/>
          </p:cNvCxnSpPr>
          <p:nvPr/>
        </p:nvCxnSpPr>
        <p:spPr>
          <a:xfrm>
            <a:off x="3391397" y="2018371"/>
            <a:ext cx="437445" cy="0"/>
          </a:xfrm>
          <a:prstGeom prst="straightConnector1">
            <a:avLst/>
          </a:prstGeom>
          <a:ln w="444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090BDCCD-8FEA-369D-4191-5F0D61BF59BA}"/>
              </a:ext>
            </a:extLst>
          </p:cNvPr>
          <p:cNvSpPr/>
          <p:nvPr/>
        </p:nvSpPr>
        <p:spPr>
          <a:xfrm>
            <a:off x="1347568" y="1349298"/>
            <a:ext cx="1984917" cy="1828800"/>
          </a:xfrm>
          <a:prstGeom prst="ellipse">
            <a:avLst/>
          </a:prstGeom>
          <a:solidFill>
            <a:srgbClr val="A4B27B"/>
          </a:solidFill>
          <a:ln w="508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 name="Graphic 15" descr="Database with solid fill">
            <a:extLst>
              <a:ext uri="{FF2B5EF4-FFF2-40B4-BE49-F238E27FC236}">
                <a16:creationId xmlns:a16="http://schemas.microsoft.com/office/drawing/2014/main" id="{FECB6EF0-943B-D8C7-A575-8777ABAD53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65747" y="3453753"/>
            <a:ext cx="914400" cy="914400"/>
          </a:xfrm>
          <a:prstGeom prst="rect">
            <a:avLst/>
          </a:prstGeom>
        </p:spPr>
      </p:pic>
      <p:pic>
        <p:nvPicPr>
          <p:cNvPr id="20" name="Graphic 19" descr="Internet with solid fill">
            <a:extLst>
              <a:ext uri="{FF2B5EF4-FFF2-40B4-BE49-F238E27FC236}">
                <a16:creationId xmlns:a16="http://schemas.microsoft.com/office/drawing/2014/main" id="{510563CD-9358-183F-4115-A142808E5F9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776" y="5263028"/>
            <a:ext cx="914400" cy="914400"/>
          </a:xfrm>
          <a:prstGeom prst="rect">
            <a:avLst/>
          </a:prstGeom>
        </p:spPr>
      </p:pic>
      <p:pic>
        <p:nvPicPr>
          <p:cNvPr id="21" name="Picture 20" descr="Frontend Vector Art, Icons, and Graphics for Free Download">
            <a:extLst>
              <a:ext uri="{FF2B5EF4-FFF2-40B4-BE49-F238E27FC236}">
                <a16:creationId xmlns:a16="http://schemas.microsoft.com/office/drawing/2014/main" id="{1D78F337-91BC-63AF-E22E-7D452FEAFAA8}"/>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429" b="90571" l="5429" r="91429">
                        <a14:foregroundMark x1="5714" y1="28857" x2="5714" y2="28857"/>
                        <a14:foregroundMark x1="41143" y1="47143" x2="41143" y2="47143"/>
                        <a14:foregroundMark x1="21429" y1="9714" x2="21429" y2="9714"/>
                        <a14:foregroundMark x1="28286" y1="13143" x2="28286" y2="13143"/>
                        <a14:foregroundMark x1="37714" y1="13429" x2="37714" y2="13429"/>
                        <a14:foregroundMark x1="45429" y1="13429" x2="45429" y2="13429"/>
                        <a14:foregroundMark x1="54571" y1="14571" x2="54571" y2="14571"/>
                        <a14:foregroundMark x1="72286" y1="14571" x2="72286" y2="14571"/>
                        <a14:foregroundMark x1="91714" y1="24286" x2="91714" y2="24286"/>
                        <a14:foregroundMark x1="34000" y1="52571" x2="34000" y2="52571"/>
                        <a14:foregroundMark x1="33429" y1="58000" x2="33429" y2="58000"/>
                        <a14:foregroundMark x1="58571" y1="90571" x2="58571" y2="90571"/>
                        <a14:foregroundMark x1="68000" y1="59429" x2="68000" y2="59429"/>
                        <a14:foregroundMark x1="70286" y1="40571" x2="70286" y2="40571"/>
                      </a14:backgroundRemoval>
                    </a14:imgEffect>
                  </a14:imgLayer>
                </a14:imgProps>
              </a:ext>
            </a:extLst>
          </a:blip>
          <a:stretch>
            <a:fillRect/>
          </a:stretch>
        </p:blipFill>
        <p:spPr>
          <a:xfrm>
            <a:off x="419556" y="773796"/>
            <a:ext cx="924855" cy="924855"/>
          </a:xfrm>
          <a:prstGeom prst="rect">
            <a:avLst/>
          </a:prstGeom>
        </p:spPr>
      </p:pic>
      <p:pic>
        <p:nvPicPr>
          <p:cNvPr id="22" name="Picture 21" descr="Back End icon. Simple element from website development collection ...">
            <a:extLst>
              <a:ext uri="{FF2B5EF4-FFF2-40B4-BE49-F238E27FC236}">
                <a16:creationId xmlns:a16="http://schemas.microsoft.com/office/drawing/2014/main" id="{E6082116-0B13-4116-F25F-C539F217AB01}"/>
              </a:ext>
            </a:extLst>
          </p:cNvPr>
          <p:cNvPicPr>
            <a:picLocks noChangeAspect="1"/>
          </p:cNvPicPr>
          <p:nvPr/>
        </p:nvPicPr>
        <p:blipFill>
          <a:blip r:embed="rId9">
            <a:biLevel thresh="75000"/>
            <a:extLst>
              <a:ext uri="{BEBA8EAE-BF5A-486C-A8C5-ECC9F3942E4B}">
                <a14:imgProps xmlns:a14="http://schemas.microsoft.com/office/drawing/2010/main">
                  <a14:imgLayer r:embed="rId10">
                    <a14:imgEffect>
                      <a14:backgroundRemoval t="10000" b="90000" l="10000" r="90000">
                        <a14:foregroundMark x1="39366" y1="59162" x2="39366" y2="59162"/>
                        <a14:foregroundMark x1="23881" y1="37522" x2="23881" y2="37522"/>
                        <a14:foregroundMark x1="36007" y1="45375" x2="36007" y2="45375"/>
                        <a14:foregroundMark x1="27425" y1="44852" x2="27425" y2="44852"/>
                        <a14:foregroundMark x1="44403" y1="45201" x2="44403" y2="45201"/>
                      </a14:backgroundRemoval>
                    </a14:imgEffect>
                  </a14:imgLayer>
                </a14:imgProps>
              </a:ext>
            </a:extLst>
          </a:blip>
          <a:stretch>
            <a:fillRect/>
          </a:stretch>
        </p:blipFill>
        <p:spPr>
          <a:xfrm>
            <a:off x="1249874" y="1240593"/>
            <a:ext cx="2252826" cy="2408337"/>
          </a:xfrm>
          <a:prstGeom prst="rect">
            <a:avLst/>
          </a:prstGeom>
        </p:spPr>
      </p:pic>
      <p:pic>
        <p:nvPicPr>
          <p:cNvPr id="23" name="Picture 22" descr="AI microchip black silhouette simple microchip icon with brain or ...">
            <a:extLst>
              <a:ext uri="{FF2B5EF4-FFF2-40B4-BE49-F238E27FC236}">
                <a16:creationId xmlns:a16="http://schemas.microsoft.com/office/drawing/2014/main" id="{1AB57DDA-1DC4-8C98-D032-E97DDF36474B}"/>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4874" b="93502" l="5596" r="94765">
                        <a14:foregroundMark x1="34838" y1="6679" x2="34838" y2="6679"/>
                        <a14:foregroundMark x1="49458" y1="6859" x2="49458" y2="6859"/>
                        <a14:foregroundMark x1="65162" y1="8664" x2="65162" y2="8664"/>
                        <a14:foregroundMark x1="8845" y1="42599" x2="8845" y2="42599"/>
                        <a14:foregroundMark x1="7581" y1="31227" x2="7581" y2="31227"/>
                        <a14:foregroundMark x1="7942" y1="58123" x2="7942" y2="58123"/>
                        <a14:foregroundMark x1="6859" y1="69134" x2="6859" y2="69134"/>
                        <a14:foregroundMark x1="35199" y1="93502" x2="35199" y2="93502"/>
                        <a14:foregroundMark x1="52166" y1="92599" x2="52166" y2="92599"/>
                        <a14:foregroundMark x1="64260" y1="92599" x2="64260" y2="92599"/>
                        <a14:foregroundMark x1="94404" y1="69495" x2="94404" y2="69495"/>
                        <a14:foregroundMark x1="93682" y1="43141" x2="93682" y2="43141"/>
                        <a14:foregroundMark x1="6318" y1="42419" x2="6318" y2="42419"/>
                        <a14:foregroundMark x1="5596" y1="57220" x2="5596" y2="57220"/>
                        <a14:foregroundMark x1="5776" y1="30686" x2="5776" y2="30686"/>
                        <a14:foregroundMark x1="5776" y1="69134" x2="5776" y2="69134"/>
                        <a14:foregroundMark x1="5596" y1="43141" x2="5596" y2="43141"/>
                        <a14:foregroundMark x1="65162" y1="5054" x2="65162" y2="5054"/>
                        <a14:foregroundMark x1="66606" y1="7581" x2="66606" y2="7581"/>
                        <a14:foregroundMark x1="94224" y1="42419" x2="94224" y2="42419"/>
                        <a14:foregroundMark x1="94224" y1="58123" x2="94224" y2="58123"/>
                        <a14:foregroundMark x1="94765" y1="69675" x2="94765" y2="69675"/>
                        <a14:foregroundMark x1="42058" y1="55235" x2="42058" y2="55235"/>
                        <a14:foregroundMark x1="44946" y1="38989" x2="44946" y2="38989"/>
                        <a14:foregroundMark x1="53971" y1="64440" x2="53971" y2="64440"/>
                      </a14:backgroundRemoval>
                    </a14:imgEffect>
                  </a14:imgLayer>
                </a14:imgProps>
              </a:ext>
            </a:extLst>
          </a:blip>
          <a:stretch>
            <a:fillRect/>
          </a:stretch>
        </p:blipFill>
        <p:spPr>
          <a:xfrm>
            <a:off x="1172737" y="4594302"/>
            <a:ext cx="1120698" cy="1120698"/>
          </a:xfrm>
          <a:prstGeom prst="rect">
            <a:avLst/>
          </a:prstGeom>
        </p:spPr>
      </p:pic>
    </p:spTree>
    <p:extLst>
      <p:ext uri="{BB962C8B-B14F-4D97-AF65-F5344CB8AC3E}">
        <p14:creationId xmlns:p14="http://schemas.microsoft.com/office/powerpoint/2010/main" val="3063397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B5F36-2AEC-FB35-A465-CD78B70B4280}"/>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860853A6-C784-5483-8476-7D27CAA2FE20}"/>
              </a:ext>
            </a:extLst>
          </p:cNvPr>
          <p:cNvPicPr>
            <a:picLocks noChangeAspect="1"/>
          </p:cNvPicPr>
          <p:nvPr/>
        </p:nvPicPr>
        <p:blipFill>
          <a:blip r:embed="rId3">
            <a:duotone>
              <a:prstClr val="black"/>
              <a:schemeClr val="accent6">
                <a:lumMod val="40000"/>
                <a:lumOff val="60000"/>
                <a:tint val="45000"/>
                <a:satMod val="400000"/>
              </a:schemeClr>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0" y="-1"/>
            <a:ext cx="12191999" cy="6858001"/>
          </a:xfrm>
          <a:prstGeom prst="rect">
            <a:avLst/>
          </a:prstGeom>
          <a:noFill/>
        </p:spPr>
      </p:pic>
      <p:sp>
        <p:nvSpPr>
          <p:cNvPr id="2" name="Circle: Hollow 1">
            <a:extLst>
              <a:ext uri="{FF2B5EF4-FFF2-40B4-BE49-F238E27FC236}">
                <a16:creationId xmlns:a16="http://schemas.microsoft.com/office/drawing/2014/main" id="{C81EEEB2-8A0B-F348-127E-439E82CF1D5F}"/>
              </a:ext>
            </a:extLst>
          </p:cNvPr>
          <p:cNvSpPr/>
          <p:nvPr/>
        </p:nvSpPr>
        <p:spPr>
          <a:xfrm>
            <a:off x="-3335642" y="217713"/>
            <a:ext cx="6671284" cy="6422572"/>
          </a:xfrm>
          <a:prstGeom prst="donut">
            <a:avLst/>
          </a:prstGeom>
          <a:solidFill>
            <a:srgbClr val="76844D"/>
          </a:solidFill>
          <a:ln w="22225">
            <a:solidFill>
              <a:schemeClr val="tx1">
                <a:lumMod val="95000"/>
                <a:lumOff val="5000"/>
              </a:schemeClr>
            </a:solidFill>
            <a:extLst>
              <a:ext uri="{C807C97D-BFC1-408E-A445-0C87EB9F89A2}">
                <ask:lineSketchStyleProps xmlns:ask="http://schemas.microsoft.com/office/drawing/2018/sketchyshapes" sd="1219033472">
                  <a:custGeom>
                    <a:avLst/>
                    <a:gdLst>
                      <a:gd name="csX0" fmla="*/ 0 w 6671284"/>
                      <a:gd name="csY0" fmla="*/ 3211286 h 6422572"/>
                      <a:gd name="csX1" fmla="*/ 3335642 w 6671284"/>
                      <a:gd name="csY1" fmla="*/ 0 h 6422572"/>
                      <a:gd name="csX2" fmla="*/ 6671284 w 6671284"/>
                      <a:gd name="csY2" fmla="*/ 3211286 h 6422572"/>
                      <a:gd name="csX3" fmla="*/ 3335642 w 6671284"/>
                      <a:gd name="csY3" fmla="*/ 6422572 h 6422572"/>
                      <a:gd name="csX4" fmla="*/ 0 w 6671284"/>
                      <a:gd name="csY4" fmla="*/ 3211286 h 6422572"/>
                      <a:gd name="csX5" fmla="*/ 1605643 w 6671284"/>
                      <a:gd name="csY5" fmla="*/ 3211286 h 6422572"/>
                      <a:gd name="csX6" fmla="*/ 3335642 w 6671284"/>
                      <a:gd name="csY6" fmla="*/ 4816929 h 6422572"/>
                      <a:gd name="csX7" fmla="*/ 5065641 w 6671284"/>
                      <a:gd name="csY7" fmla="*/ 3211286 h 6422572"/>
                      <a:gd name="csX8" fmla="*/ 3335642 w 6671284"/>
                      <a:gd name="csY8" fmla="*/ 1605643 h 6422572"/>
                      <a:gd name="csX9" fmla="*/ 1605643 w 6671284"/>
                      <a:gd name="csY9" fmla="*/ 3211286 h 64225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671284" h="6422572" fill="none" extrusionOk="0">
                        <a:moveTo>
                          <a:pt x="0" y="3211286"/>
                        </a:moveTo>
                        <a:cubicBezTo>
                          <a:pt x="-259567" y="1395759"/>
                          <a:pt x="1518016" y="20116"/>
                          <a:pt x="3335642" y="0"/>
                        </a:cubicBezTo>
                        <a:cubicBezTo>
                          <a:pt x="5310808" y="197898"/>
                          <a:pt x="6677580" y="1502950"/>
                          <a:pt x="6671284" y="3211286"/>
                        </a:cubicBezTo>
                        <a:cubicBezTo>
                          <a:pt x="6688380" y="5011164"/>
                          <a:pt x="5379861" y="6670002"/>
                          <a:pt x="3335642" y="6422572"/>
                        </a:cubicBezTo>
                        <a:cubicBezTo>
                          <a:pt x="1588227" y="6339562"/>
                          <a:pt x="6279" y="4955294"/>
                          <a:pt x="0" y="3211286"/>
                        </a:cubicBezTo>
                        <a:close/>
                        <a:moveTo>
                          <a:pt x="1605643" y="3211286"/>
                        </a:moveTo>
                        <a:cubicBezTo>
                          <a:pt x="1476363" y="4119287"/>
                          <a:pt x="2242427" y="4721875"/>
                          <a:pt x="3335642" y="4816929"/>
                        </a:cubicBezTo>
                        <a:cubicBezTo>
                          <a:pt x="4167515" y="4808157"/>
                          <a:pt x="4997096" y="3958333"/>
                          <a:pt x="5065641" y="3211286"/>
                        </a:cubicBezTo>
                        <a:cubicBezTo>
                          <a:pt x="5078870" y="2145571"/>
                          <a:pt x="4142649" y="1692321"/>
                          <a:pt x="3335642" y="1605643"/>
                        </a:cubicBezTo>
                        <a:cubicBezTo>
                          <a:pt x="2320031" y="1713209"/>
                          <a:pt x="1721554" y="2410644"/>
                          <a:pt x="1605643" y="3211286"/>
                        </a:cubicBezTo>
                        <a:close/>
                      </a:path>
                      <a:path w="6671284" h="6422572" stroke="0" extrusionOk="0">
                        <a:moveTo>
                          <a:pt x="0" y="3211286"/>
                        </a:moveTo>
                        <a:cubicBezTo>
                          <a:pt x="-126382" y="1359787"/>
                          <a:pt x="1471378" y="8272"/>
                          <a:pt x="3335642" y="0"/>
                        </a:cubicBezTo>
                        <a:cubicBezTo>
                          <a:pt x="5318726" y="29654"/>
                          <a:pt x="6354427" y="1447817"/>
                          <a:pt x="6671284" y="3211286"/>
                        </a:cubicBezTo>
                        <a:cubicBezTo>
                          <a:pt x="6544716" y="5108431"/>
                          <a:pt x="5148110" y="6587042"/>
                          <a:pt x="3335642" y="6422572"/>
                        </a:cubicBezTo>
                        <a:cubicBezTo>
                          <a:pt x="1230115" y="6278513"/>
                          <a:pt x="168514" y="5065347"/>
                          <a:pt x="0" y="3211286"/>
                        </a:cubicBezTo>
                        <a:close/>
                        <a:moveTo>
                          <a:pt x="1605643" y="3211286"/>
                        </a:moveTo>
                        <a:cubicBezTo>
                          <a:pt x="1633144" y="4101320"/>
                          <a:pt x="2452869" y="4667356"/>
                          <a:pt x="3335642" y="4816929"/>
                        </a:cubicBezTo>
                        <a:cubicBezTo>
                          <a:pt x="4194894" y="4802197"/>
                          <a:pt x="5044864" y="4117619"/>
                          <a:pt x="5065641" y="3211286"/>
                        </a:cubicBezTo>
                        <a:cubicBezTo>
                          <a:pt x="5058371" y="2255188"/>
                          <a:pt x="4204036" y="1726630"/>
                          <a:pt x="3335642" y="1605643"/>
                        </a:cubicBezTo>
                        <a:cubicBezTo>
                          <a:pt x="2462863" y="1651927"/>
                          <a:pt x="1734772" y="2355561"/>
                          <a:pt x="1605643" y="321128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Rectangle: Rounded Corners 3">
            <a:extLst>
              <a:ext uri="{FF2B5EF4-FFF2-40B4-BE49-F238E27FC236}">
                <a16:creationId xmlns:a16="http://schemas.microsoft.com/office/drawing/2014/main" id="{F8789A1E-3835-09BC-64C4-E372314F360C}"/>
              </a:ext>
            </a:extLst>
          </p:cNvPr>
          <p:cNvSpPr/>
          <p:nvPr/>
        </p:nvSpPr>
        <p:spPr>
          <a:xfrm>
            <a:off x="3828842" y="688934"/>
            <a:ext cx="7103327" cy="5196468"/>
          </a:xfrm>
          <a:prstGeom prst="roundRect">
            <a:avLst/>
          </a:prstGeom>
          <a:solidFill>
            <a:srgbClr val="76844D"/>
          </a:solidFill>
          <a:ln w="2222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500" b="1" dirty="0">
                <a:solidFill>
                  <a:schemeClr val="tx1"/>
                </a:solidFill>
              </a:rPr>
              <a:t>3.  Database Technologies — SQL Database, SQLAlchemy</a:t>
            </a:r>
          </a:p>
          <a:p>
            <a:endParaRPr lang="en-IN" sz="2100" b="1" dirty="0">
              <a:solidFill>
                <a:schemeClr val="tx1"/>
              </a:solidFill>
            </a:endParaRPr>
          </a:p>
          <a:p>
            <a:pPr marL="342900" lvl="0" indent="-342900">
              <a:buFont typeface="Arial" panose="020B0604020202020204" pitchFamily="34" charset="0"/>
              <a:buChar char="•"/>
            </a:pPr>
            <a:r>
              <a:rPr lang="en-IN" sz="2000" dirty="0">
                <a:solidFill>
                  <a:schemeClr val="tx1"/>
                </a:solidFill>
              </a:rPr>
              <a:t>The SQL database stores structured application data.</a:t>
            </a:r>
          </a:p>
          <a:p>
            <a:pPr marL="342900" lvl="0" indent="-342900">
              <a:buFont typeface="Arial" panose="020B0604020202020204" pitchFamily="34" charset="0"/>
              <a:buChar char="•"/>
            </a:pPr>
            <a:r>
              <a:rPr lang="en-IN" sz="2000" dirty="0">
                <a:solidFill>
                  <a:schemeClr val="tx1"/>
                </a:solidFill>
              </a:rPr>
              <a:t>It can store user accounts, assessment results, and other application records.</a:t>
            </a:r>
          </a:p>
          <a:p>
            <a:pPr marL="342900" lvl="0" indent="-342900">
              <a:buFont typeface="Arial" panose="020B0604020202020204" pitchFamily="34" charset="0"/>
              <a:buChar char="•"/>
            </a:pPr>
            <a:r>
              <a:rPr lang="en-IN" sz="2000" dirty="0">
                <a:solidFill>
                  <a:schemeClr val="tx1"/>
                </a:solidFill>
              </a:rPr>
              <a:t>SQLAlchemy connects Python with the database using ORM operations.</a:t>
            </a:r>
          </a:p>
          <a:p>
            <a:pPr marL="342900" lvl="0" indent="-342900">
              <a:buFont typeface="Arial" panose="020B0604020202020204" pitchFamily="34" charset="0"/>
              <a:buChar char="•"/>
            </a:pPr>
            <a:r>
              <a:rPr lang="en-IN" sz="2000" dirty="0">
                <a:solidFill>
                  <a:schemeClr val="tx1"/>
                </a:solidFill>
              </a:rPr>
              <a:t>It supports retrieving, inserting, updating, and deleting records.</a:t>
            </a:r>
          </a:p>
          <a:p>
            <a:pPr marL="342900" lvl="0" indent="-342900">
              <a:buFont typeface="Arial" panose="020B0604020202020204" pitchFamily="34" charset="0"/>
              <a:buChar char="•"/>
            </a:pPr>
            <a:r>
              <a:rPr lang="en-IN" sz="2000" dirty="0">
                <a:solidFill>
                  <a:schemeClr val="tx1"/>
                </a:solidFill>
              </a:rPr>
              <a:t>This helps manage application data in an organized manner.</a:t>
            </a:r>
          </a:p>
        </p:txBody>
      </p:sp>
      <p:cxnSp>
        <p:nvCxnSpPr>
          <p:cNvPr id="9" name="Straight Arrow Connector 8">
            <a:extLst>
              <a:ext uri="{FF2B5EF4-FFF2-40B4-BE49-F238E27FC236}">
                <a16:creationId xmlns:a16="http://schemas.microsoft.com/office/drawing/2014/main" id="{422B61E0-081C-7E9F-D696-985C606D3AD4}"/>
              </a:ext>
            </a:extLst>
          </p:cNvPr>
          <p:cNvCxnSpPr>
            <a:cxnSpLocks/>
          </p:cNvCxnSpPr>
          <p:nvPr/>
        </p:nvCxnSpPr>
        <p:spPr>
          <a:xfrm flipV="1">
            <a:off x="3479706" y="3226151"/>
            <a:ext cx="282230" cy="61017"/>
          </a:xfrm>
          <a:prstGeom prst="straightConnector1">
            <a:avLst/>
          </a:prstGeom>
          <a:ln w="444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6613D17-6A00-51BC-EA44-929B4D09E8A2}"/>
              </a:ext>
            </a:extLst>
          </p:cNvPr>
          <p:cNvSpPr/>
          <p:nvPr/>
        </p:nvSpPr>
        <p:spPr>
          <a:xfrm>
            <a:off x="1576553" y="3010829"/>
            <a:ext cx="1984917" cy="1828800"/>
          </a:xfrm>
          <a:prstGeom prst="ellipse">
            <a:avLst/>
          </a:prstGeom>
          <a:solidFill>
            <a:srgbClr val="A4B27B"/>
          </a:solidFill>
          <a:ln w="508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 name="Graphic 15" descr="Database with solid fill">
            <a:extLst>
              <a:ext uri="{FF2B5EF4-FFF2-40B4-BE49-F238E27FC236}">
                <a16:creationId xmlns:a16="http://schemas.microsoft.com/office/drawing/2014/main" id="{0D3D733F-A5A6-B668-00D4-76BCCBE1440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69933" y="3226151"/>
            <a:ext cx="1398156" cy="1398156"/>
          </a:xfrm>
          <a:prstGeom prst="rect">
            <a:avLst/>
          </a:prstGeom>
        </p:spPr>
      </p:pic>
      <p:pic>
        <p:nvPicPr>
          <p:cNvPr id="20" name="Graphic 19" descr="Internet with solid fill">
            <a:extLst>
              <a:ext uri="{FF2B5EF4-FFF2-40B4-BE49-F238E27FC236}">
                <a16:creationId xmlns:a16="http://schemas.microsoft.com/office/drawing/2014/main" id="{42184C89-8346-F4B6-BEF6-FB3F72B06D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776" y="5263028"/>
            <a:ext cx="914400" cy="914400"/>
          </a:xfrm>
          <a:prstGeom prst="rect">
            <a:avLst/>
          </a:prstGeom>
        </p:spPr>
      </p:pic>
      <p:pic>
        <p:nvPicPr>
          <p:cNvPr id="21" name="Picture 20" descr="Frontend Vector Art, Icons, and Graphics for Free Download">
            <a:extLst>
              <a:ext uri="{FF2B5EF4-FFF2-40B4-BE49-F238E27FC236}">
                <a16:creationId xmlns:a16="http://schemas.microsoft.com/office/drawing/2014/main" id="{3D7642A1-496A-EB0E-2B23-E8B85090AE53}"/>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429" b="90571" l="5429" r="91429">
                        <a14:foregroundMark x1="5714" y1="28857" x2="5714" y2="28857"/>
                        <a14:foregroundMark x1="41143" y1="47143" x2="41143" y2="47143"/>
                        <a14:foregroundMark x1="21429" y1="9714" x2="21429" y2="9714"/>
                        <a14:foregroundMark x1="28286" y1="13143" x2="28286" y2="13143"/>
                        <a14:foregroundMark x1="37714" y1="13429" x2="37714" y2="13429"/>
                        <a14:foregroundMark x1="45429" y1="13429" x2="45429" y2="13429"/>
                        <a14:foregroundMark x1="54571" y1="14571" x2="54571" y2="14571"/>
                        <a14:foregroundMark x1="72286" y1="14571" x2="72286" y2="14571"/>
                        <a14:foregroundMark x1="91714" y1="24286" x2="91714" y2="24286"/>
                        <a14:foregroundMark x1="34000" y1="52571" x2="34000" y2="52571"/>
                        <a14:foregroundMark x1="33429" y1="58000" x2="33429" y2="58000"/>
                        <a14:foregroundMark x1="58571" y1="90571" x2="58571" y2="90571"/>
                        <a14:foregroundMark x1="68000" y1="59429" x2="68000" y2="59429"/>
                        <a14:foregroundMark x1="70286" y1="40571" x2="70286" y2="40571"/>
                      </a14:backgroundRemoval>
                    </a14:imgEffect>
                  </a14:imgLayer>
                </a14:imgProps>
              </a:ext>
            </a:extLst>
          </a:blip>
          <a:stretch>
            <a:fillRect/>
          </a:stretch>
        </p:blipFill>
        <p:spPr>
          <a:xfrm>
            <a:off x="427094" y="797659"/>
            <a:ext cx="924855" cy="924855"/>
          </a:xfrm>
          <a:prstGeom prst="rect">
            <a:avLst/>
          </a:prstGeom>
        </p:spPr>
      </p:pic>
      <p:pic>
        <p:nvPicPr>
          <p:cNvPr id="23" name="Picture 22" descr="AI microchip black silhouette simple microchip icon with brain or ...">
            <a:extLst>
              <a:ext uri="{FF2B5EF4-FFF2-40B4-BE49-F238E27FC236}">
                <a16:creationId xmlns:a16="http://schemas.microsoft.com/office/drawing/2014/main" id="{98C7B864-B727-9D17-D12A-1DC12B0618B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4874" b="93502" l="5596" r="94765">
                        <a14:foregroundMark x1="34838" y1="6679" x2="34838" y2="6679"/>
                        <a14:foregroundMark x1="49458" y1="6859" x2="49458" y2="6859"/>
                        <a14:foregroundMark x1="65162" y1="8664" x2="65162" y2="8664"/>
                        <a14:foregroundMark x1="8845" y1="42599" x2="8845" y2="42599"/>
                        <a14:foregroundMark x1="7581" y1="31227" x2="7581" y2="31227"/>
                        <a14:foregroundMark x1="7942" y1="58123" x2="7942" y2="58123"/>
                        <a14:foregroundMark x1="6859" y1="69134" x2="6859" y2="69134"/>
                        <a14:foregroundMark x1="35199" y1="93502" x2="35199" y2="93502"/>
                        <a14:foregroundMark x1="52166" y1="92599" x2="52166" y2="92599"/>
                        <a14:foregroundMark x1="64260" y1="92599" x2="64260" y2="92599"/>
                        <a14:foregroundMark x1="94404" y1="69495" x2="94404" y2="69495"/>
                        <a14:foregroundMark x1="93682" y1="43141" x2="93682" y2="43141"/>
                        <a14:foregroundMark x1="6318" y1="42419" x2="6318" y2="42419"/>
                        <a14:foregroundMark x1="5596" y1="57220" x2="5596" y2="57220"/>
                        <a14:foregroundMark x1="5776" y1="30686" x2="5776" y2="30686"/>
                        <a14:foregroundMark x1="5776" y1="69134" x2="5776" y2="69134"/>
                        <a14:foregroundMark x1="5596" y1="43141" x2="5596" y2="43141"/>
                        <a14:foregroundMark x1="65162" y1="5054" x2="65162" y2="5054"/>
                        <a14:foregroundMark x1="66606" y1="7581" x2="66606" y2="7581"/>
                        <a14:foregroundMark x1="94224" y1="42419" x2="94224" y2="42419"/>
                        <a14:foregroundMark x1="94224" y1="58123" x2="94224" y2="58123"/>
                        <a14:foregroundMark x1="94765" y1="69675" x2="94765" y2="69675"/>
                        <a14:foregroundMark x1="42058" y1="55235" x2="42058" y2="55235"/>
                        <a14:foregroundMark x1="44946" y1="38989" x2="44946" y2="38989"/>
                        <a14:foregroundMark x1="53971" y1="64440" x2="53971" y2="64440"/>
                      </a14:backgroundRemoval>
                    </a14:imgEffect>
                  </a14:imgLayer>
                </a14:imgProps>
              </a:ext>
            </a:extLst>
          </a:blip>
          <a:stretch>
            <a:fillRect/>
          </a:stretch>
        </p:blipFill>
        <p:spPr>
          <a:xfrm>
            <a:off x="1172737" y="4594302"/>
            <a:ext cx="1120698" cy="1120698"/>
          </a:xfrm>
          <a:prstGeom prst="rect">
            <a:avLst/>
          </a:prstGeom>
        </p:spPr>
      </p:pic>
      <p:pic>
        <p:nvPicPr>
          <p:cNvPr id="6" name="Picture 5" descr="Back End icon. Simple element from website development collection ...">
            <a:extLst>
              <a:ext uri="{FF2B5EF4-FFF2-40B4-BE49-F238E27FC236}">
                <a16:creationId xmlns:a16="http://schemas.microsoft.com/office/drawing/2014/main" id="{9F763E11-931E-2A4F-7347-FA2111A3F6FC}"/>
              </a:ext>
            </a:extLst>
          </p:cNvPr>
          <p:cNvPicPr>
            <a:picLocks noChangeAspect="1"/>
          </p:cNvPicPr>
          <p:nvPr/>
        </p:nvPicPr>
        <p:blipFill>
          <a:blip r:embed="rId11">
            <a:biLevel thresh="75000"/>
            <a:extLst>
              <a:ext uri="{BEBA8EAE-BF5A-486C-A8C5-ECC9F3942E4B}">
                <a14:imgProps xmlns:a14="http://schemas.microsoft.com/office/drawing/2010/main">
                  <a14:imgLayer r:embed="rId12">
                    <a14:imgEffect>
                      <a14:backgroundRemoval t="10000" b="90000" l="10000" r="90000">
                        <a14:foregroundMark x1="39366" y1="59162" x2="39366" y2="59162"/>
                        <a14:foregroundMark x1="23881" y1="37522" x2="23881" y2="37522"/>
                        <a14:foregroundMark x1="36007" y1="45375" x2="36007" y2="45375"/>
                        <a14:foregroundMark x1="27425" y1="44852" x2="27425" y2="44852"/>
                        <a14:foregroundMark x1="44403" y1="45201" x2="44403" y2="45201"/>
                      </a14:backgroundRemoval>
                    </a14:imgEffect>
                  </a14:imgLayer>
                </a14:imgProps>
              </a:ext>
            </a:extLst>
          </a:blip>
          <a:stretch>
            <a:fillRect/>
          </a:stretch>
        </p:blipFill>
        <p:spPr>
          <a:xfrm>
            <a:off x="1385402" y="1545538"/>
            <a:ext cx="1738688" cy="1858709"/>
          </a:xfrm>
          <a:prstGeom prst="rect">
            <a:avLst/>
          </a:prstGeom>
        </p:spPr>
      </p:pic>
    </p:spTree>
    <p:extLst>
      <p:ext uri="{BB962C8B-B14F-4D97-AF65-F5344CB8AC3E}">
        <p14:creationId xmlns:p14="http://schemas.microsoft.com/office/powerpoint/2010/main" val="2712384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3A261-63B7-41C2-0C40-A4ED345A4780}"/>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42F3CFE6-C5F1-629E-1256-83B3BA3D168D}"/>
              </a:ext>
            </a:extLst>
          </p:cNvPr>
          <p:cNvPicPr>
            <a:picLocks noChangeAspect="1"/>
          </p:cNvPicPr>
          <p:nvPr/>
        </p:nvPicPr>
        <p:blipFill>
          <a:blip r:embed="rId3">
            <a:duotone>
              <a:prstClr val="black"/>
              <a:schemeClr val="accent6">
                <a:lumMod val="40000"/>
                <a:lumOff val="60000"/>
                <a:tint val="45000"/>
                <a:satMod val="400000"/>
              </a:schemeClr>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0" y="-1"/>
            <a:ext cx="12191999" cy="6858001"/>
          </a:xfrm>
          <a:prstGeom prst="rect">
            <a:avLst/>
          </a:prstGeom>
          <a:noFill/>
        </p:spPr>
      </p:pic>
      <p:sp>
        <p:nvSpPr>
          <p:cNvPr id="2" name="Circle: Hollow 1">
            <a:extLst>
              <a:ext uri="{FF2B5EF4-FFF2-40B4-BE49-F238E27FC236}">
                <a16:creationId xmlns:a16="http://schemas.microsoft.com/office/drawing/2014/main" id="{2779EC43-CB70-6DCA-216E-C09D6DC1E0C5}"/>
              </a:ext>
            </a:extLst>
          </p:cNvPr>
          <p:cNvSpPr/>
          <p:nvPr/>
        </p:nvSpPr>
        <p:spPr>
          <a:xfrm>
            <a:off x="-3335642" y="217713"/>
            <a:ext cx="6671284" cy="6422572"/>
          </a:xfrm>
          <a:prstGeom prst="donut">
            <a:avLst/>
          </a:prstGeom>
          <a:solidFill>
            <a:srgbClr val="76844D"/>
          </a:solidFill>
          <a:ln w="22225">
            <a:solidFill>
              <a:schemeClr val="tx1">
                <a:lumMod val="95000"/>
                <a:lumOff val="5000"/>
              </a:schemeClr>
            </a:solidFill>
            <a:extLst>
              <a:ext uri="{C807C97D-BFC1-408E-A445-0C87EB9F89A2}">
                <ask:lineSketchStyleProps xmlns:ask="http://schemas.microsoft.com/office/drawing/2018/sketchyshapes" sd="1219033472">
                  <a:custGeom>
                    <a:avLst/>
                    <a:gdLst>
                      <a:gd name="csX0" fmla="*/ 0 w 6671284"/>
                      <a:gd name="csY0" fmla="*/ 3211286 h 6422572"/>
                      <a:gd name="csX1" fmla="*/ 3335642 w 6671284"/>
                      <a:gd name="csY1" fmla="*/ 0 h 6422572"/>
                      <a:gd name="csX2" fmla="*/ 6671284 w 6671284"/>
                      <a:gd name="csY2" fmla="*/ 3211286 h 6422572"/>
                      <a:gd name="csX3" fmla="*/ 3335642 w 6671284"/>
                      <a:gd name="csY3" fmla="*/ 6422572 h 6422572"/>
                      <a:gd name="csX4" fmla="*/ 0 w 6671284"/>
                      <a:gd name="csY4" fmla="*/ 3211286 h 6422572"/>
                      <a:gd name="csX5" fmla="*/ 1605643 w 6671284"/>
                      <a:gd name="csY5" fmla="*/ 3211286 h 6422572"/>
                      <a:gd name="csX6" fmla="*/ 3335642 w 6671284"/>
                      <a:gd name="csY6" fmla="*/ 4816929 h 6422572"/>
                      <a:gd name="csX7" fmla="*/ 5065641 w 6671284"/>
                      <a:gd name="csY7" fmla="*/ 3211286 h 6422572"/>
                      <a:gd name="csX8" fmla="*/ 3335642 w 6671284"/>
                      <a:gd name="csY8" fmla="*/ 1605643 h 6422572"/>
                      <a:gd name="csX9" fmla="*/ 1605643 w 6671284"/>
                      <a:gd name="csY9" fmla="*/ 3211286 h 64225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671284" h="6422572" fill="none" extrusionOk="0">
                        <a:moveTo>
                          <a:pt x="0" y="3211286"/>
                        </a:moveTo>
                        <a:cubicBezTo>
                          <a:pt x="-259567" y="1395759"/>
                          <a:pt x="1518016" y="20116"/>
                          <a:pt x="3335642" y="0"/>
                        </a:cubicBezTo>
                        <a:cubicBezTo>
                          <a:pt x="5310808" y="197898"/>
                          <a:pt x="6677580" y="1502950"/>
                          <a:pt x="6671284" y="3211286"/>
                        </a:cubicBezTo>
                        <a:cubicBezTo>
                          <a:pt x="6688380" y="5011164"/>
                          <a:pt x="5379861" y="6670002"/>
                          <a:pt x="3335642" y="6422572"/>
                        </a:cubicBezTo>
                        <a:cubicBezTo>
                          <a:pt x="1588227" y="6339562"/>
                          <a:pt x="6279" y="4955294"/>
                          <a:pt x="0" y="3211286"/>
                        </a:cubicBezTo>
                        <a:close/>
                        <a:moveTo>
                          <a:pt x="1605643" y="3211286"/>
                        </a:moveTo>
                        <a:cubicBezTo>
                          <a:pt x="1476363" y="4119287"/>
                          <a:pt x="2242427" y="4721875"/>
                          <a:pt x="3335642" y="4816929"/>
                        </a:cubicBezTo>
                        <a:cubicBezTo>
                          <a:pt x="4167515" y="4808157"/>
                          <a:pt x="4997096" y="3958333"/>
                          <a:pt x="5065641" y="3211286"/>
                        </a:cubicBezTo>
                        <a:cubicBezTo>
                          <a:pt x="5078870" y="2145571"/>
                          <a:pt x="4142649" y="1692321"/>
                          <a:pt x="3335642" y="1605643"/>
                        </a:cubicBezTo>
                        <a:cubicBezTo>
                          <a:pt x="2320031" y="1713209"/>
                          <a:pt x="1721554" y="2410644"/>
                          <a:pt x="1605643" y="3211286"/>
                        </a:cubicBezTo>
                        <a:close/>
                      </a:path>
                      <a:path w="6671284" h="6422572" stroke="0" extrusionOk="0">
                        <a:moveTo>
                          <a:pt x="0" y="3211286"/>
                        </a:moveTo>
                        <a:cubicBezTo>
                          <a:pt x="-126382" y="1359787"/>
                          <a:pt x="1471378" y="8272"/>
                          <a:pt x="3335642" y="0"/>
                        </a:cubicBezTo>
                        <a:cubicBezTo>
                          <a:pt x="5318726" y="29654"/>
                          <a:pt x="6354427" y="1447817"/>
                          <a:pt x="6671284" y="3211286"/>
                        </a:cubicBezTo>
                        <a:cubicBezTo>
                          <a:pt x="6544716" y="5108431"/>
                          <a:pt x="5148110" y="6587042"/>
                          <a:pt x="3335642" y="6422572"/>
                        </a:cubicBezTo>
                        <a:cubicBezTo>
                          <a:pt x="1230115" y="6278513"/>
                          <a:pt x="168514" y="5065347"/>
                          <a:pt x="0" y="3211286"/>
                        </a:cubicBezTo>
                        <a:close/>
                        <a:moveTo>
                          <a:pt x="1605643" y="3211286"/>
                        </a:moveTo>
                        <a:cubicBezTo>
                          <a:pt x="1633144" y="4101320"/>
                          <a:pt x="2452869" y="4667356"/>
                          <a:pt x="3335642" y="4816929"/>
                        </a:cubicBezTo>
                        <a:cubicBezTo>
                          <a:pt x="4194894" y="4802197"/>
                          <a:pt x="5044864" y="4117619"/>
                          <a:pt x="5065641" y="3211286"/>
                        </a:cubicBezTo>
                        <a:cubicBezTo>
                          <a:pt x="5058371" y="2255188"/>
                          <a:pt x="4204036" y="1726630"/>
                          <a:pt x="3335642" y="1605643"/>
                        </a:cubicBezTo>
                        <a:cubicBezTo>
                          <a:pt x="2462863" y="1651927"/>
                          <a:pt x="1734772" y="2355561"/>
                          <a:pt x="1605643" y="321128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Rectangle: Rounded Corners 3">
            <a:extLst>
              <a:ext uri="{FF2B5EF4-FFF2-40B4-BE49-F238E27FC236}">
                <a16:creationId xmlns:a16="http://schemas.microsoft.com/office/drawing/2014/main" id="{9B7E9AC9-1BC7-4401-559F-55B41708ABD1}"/>
              </a:ext>
            </a:extLst>
          </p:cNvPr>
          <p:cNvSpPr/>
          <p:nvPr/>
        </p:nvSpPr>
        <p:spPr>
          <a:xfrm>
            <a:off x="3828842" y="688934"/>
            <a:ext cx="7103327" cy="5196468"/>
          </a:xfrm>
          <a:prstGeom prst="roundRect">
            <a:avLst/>
          </a:prstGeom>
          <a:solidFill>
            <a:srgbClr val="76844D"/>
          </a:solidFill>
          <a:ln w="2222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500" b="1" dirty="0">
                <a:solidFill>
                  <a:schemeClr val="tx1"/>
                </a:solidFill>
              </a:rPr>
              <a:t>4. Machine Learning — Pandas, NumPy, Scikit-learn, Pickle</a:t>
            </a:r>
          </a:p>
          <a:p>
            <a:endParaRPr lang="en-IN" sz="2500" b="1" dirty="0">
              <a:solidFill>
                <a:schemeClr val="tx1"/>
              </a:solidFill>
            </a:endParaRPr>
          </a:p>
          <a:p>
            <a:pPr marL="342900" lvl="0" indent="-342900">
              <a:buFont typeface="Arial" panose="020B0604020202020204" pitchFamily="34" charset="0"/>
              <a:buChar char="•"/>
            </a:pPr>
            <a:r>
              <a:rPr lang="en-IN" sz="2000" dirty="0">
                <a:solidFill>
                  <a:schemeClr val="tx1"/>
                </a:solidFill>
              </a:rPr>
              <a:t>Pandas loads and processes survey datasets.</a:t>
            </a:r>
          </a:p>
          <a:p>
            <a:pPr marL="342900" lvl="0" indent="-342900">
              <a:buFont typeface="Arial" panose="020B0604020202020204" pitchFamily="34" charset="0"/>
              <a:buChar char="•"/>
            </a:pPr>
            <a:r>
              <a:rPr lang="en-IN" sz="2000" dirty="0">
                <a:solidFill>
                  <a:schemeClr val="tx1"/>
                </a:solidFill>
              </a:rPr>
              <a:t>NumPy supports numerical operations and data manipulation.</a:t>
            </a:r>
          </a:p>
          <a:p>
            <a:pPr marL="342900" lvl="0" indent="-342900">
              <a:buFont typeface="Arial" panose="020B0604020202020204" pitchFamily="34" charset="0"/>
              <a:buChar char="•"/>
            </a:pPr>
            <a:r>
              <a:rPr lang="en-IN" sz="2000" dirty="0">
                <a:solidFill>
                  <a:schemeClr val="tx1"/>
                </a:solidFill>
              </a:rPr>
              <a:t>Scikit-learn provides tools to implement the K-Nearest </a:t>
            </a:r>
            <a:r>
              <a:rPr lang="en-IN" sz="2000" dirty="0" err="1">
                <a:solidFill>
                  <a:schemeClr val="tx1"/>
                </a:solidFill>
              </a:rPr>
              <a:t>Neighbors</a:t>
            </a:r>
            <a:r>
              <a:rPr lang="en-IN" sz="2000" dirty="0">
                <a:solidFill>
                  <a:schemeClr val="tx1"/>
                </a:solidFill>
              </a:rPr>
              <a:t> (KNN) classification model.</a:t>
            </a:r>
          </a:p>
          <a:p>
            <a:pPr marL="342900" lvl="0" indent="-342900">
              <a:buFont typeface="Arial" panose="020B0604020202020204" pitchFamily="34" charset="0"/>
              <a:buChar char="•"/>
            </a:pPr>
            <a:r>
              <a:rPr lang="en-IN" sz="2000" dirty="0">
                <a:solidFill>
                  <a:schemeClr val="tx1"/>
                </a:solidFill>
              </a:rPr>
              <a:t>The model uses survey responses to predict a mental health condition category based on learned patterns.</a:t>
            </a:r>
          </a:p>
          <a:p>
            <a:pPr marL="342900" lvl="0" indent="-342900">
              <a:buFont typeface="Arial" panose="020B0604020202020204" pitchFamily="34" charset="0"/>
              <a:buChar char="•"/>
            </a:pPr>
            <a:r>
              <a:rPr lang="en-IN" sz="2000" dirty="0">
                <a:solidFill>
                  <a:schemeClr val="tx1"/>
                </a:solidFill>
              </a:rPr>
              <a:t>Pickle saves and loads the trained model for use in the application.</a:t>
            </a:r>
          </a:p>
        </p:txBody>
      </p:sp>
      <p:cxnSp>
        <p:nvCxnSpPr>
          <p:cNvPr id="9" name="Straight Arrow Connector 8">
            <a:extLst>
              <a:ext uri="{FF2B5EF4-FFF2-40B4-BE49-F238E27FC236}">
                <a16:creationId xmlns:a16="http://schemas.microsoft.com/office/drawing/2014/main" id="{EB7DA5F9-4DDE-125E-DA46-A1B46ADAF9CE}"/>
              </a:ext>
            </a:extLst>
          </p:cNvPr>
          <p:cNvCxnSpPr>
            <a:cxnSpLocks/>
          </p:cNvCxnSpPr>
          <p:nvPr/>
        </p:nvCxnSpPr>
        <p:spPr>
          <a:xfrm flipV="1">
            <a:off x="2788410" y="5084860"/>
            <a:ext cx="807998" cy="290028"/>
          </a:xfrm>
          <a:prstGeom prst="straightConnector1">
            <a:avLst/>
          </a:prstGeom>
          <a:ln w="444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CA56902D-A565-B2C7-48AF-A21EC0CAA8FD}"/>
              </a:ext>
            </a:extLst>
          </p:cNvPr>
          <p:cNvSpPr/>
          <p:nvPr/>
        </p:nvSpPr>
        <p:spPr>
          <a:xfrm>
            <a:off x="733410" y="4170460"/>
            <a:ext cx="1984917" cy="1828800"/>
          </a:xfrm>
          <a:prstGeom prst="ellipse">
            <a:avLst/>
          </a:prstGeom>
          <a:solidFill>
            <a:srgbClr val="A4B27B"/>
          </a:solidFill>
          <a:ln w="508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 name="Graphic 15" descr="Database with solid fill">
            <a:extLst>
              <a:ext uri="{FF2B5EF4-FFF2-40B4-BE49-F238E27FC236}">
                <a16:creationId xmlns:a16="http://schemas.microsoft.com/office/drawing/2014/main" id="{A5930ABC-0FA7-275C-464E-63991961234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69933" y="3226151"/>
            <a:ext cx="992458" cy="992458"/>
          </a:xfrm>
          <a:prstGeom prst="rect">
            <a:avLst/>
          </a:prstGeom>
        </p:spPr>
      </p:pic>
      <p:pic>
        <p:nvPicPr>
          <p:cNvPr id="20" name="Graphic 19" descr="Internet with solid fill">
            <a:extLst>
              <a:ext uri="{FF2B5EF4-FFF2-40B4-BE49-F238E27FC236}">
                <a16:creationId xmlns:a16="http://schemas.microsoft.com/office/drawing/2014/main" id="{0BE012DE-3EE9-4F1C-F047-2E0173EB819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776" y="5263028"/>
            <a:ext cx="914400" cy="914400"/>
          </a:xfrm>
          <a:prstGeom prst="rect">
            <a:avLst/>
          </a:prstGeom>
        </p:spPr>
      </p:pic>
      <p:pic>
        <p:nvPicPr>
          <p:cNvPr id="21" name="Picture 20" descr="Frontend Vector Art, Icons, and Graphics for Free Download">
            <a:extLst>
              <a:ext uri="{FF2B5EF4-FFF2-40B4-BE49-F238E27FC236}">
                <a16:creationId xmlns:a16="http://schemas.microsoft.com/office/drawing/2014/main" id="{72671D7F-4219-D5EE-B71E-193090C9B008}"/>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429" b="90571" l="5429" r="91429">
                        <a14:foregroundMark x1="5714" y1="28857" x2="5714" y2="28857"/>
                        <a14:foregroundMark x1="41143" y1="47143" x2="41143" y2="47143"/>
                        <a14:foregroundMark x1="21429" y1="9714" x2="21429" y2="9714"/>
                        <a14:foregroundMark x1="28286" y1="13143" x2="28286" y2="13143"/>
                        <a14:foregroundMark x1="37714" y1="13429" x2="37714" y2="13429"/>
                        <a14:foregroundMark x1="45429" y1="13429" x2="45429" y2="13429"/>
                        <a14:foregroundMark x1="54571" y1="14571" x2="54571" y2="14571"/>
                        <a14:foregroundMark x1="72286" y1="14571" x2="72286" y2="14571"/>
                        <a14:foregroundMark x1="91714" y1="24286" x2="91714" y2="24286"/>
                        <a14:foregroundMark x1="34000" y1="52571" x2="34000" y2="52571"/>
                        <a14:foregroundMark x1="33429" y1="58000" x2="33429" y2="58000"/>
                        <a14:foregroundMark x1="58571" y1="90571" x2="58571" y2="90571"/>
                        <a14:foregroundMark x1="68000" y1="59429" x2="68000" y2="59429"/>
                        <a14:foregroundMark x1="70286" y1="40571" x2="70286" y2="40571"/>
                      </a14:backgroundRemoval>
                    </a14:imgEffect>
                  </a14:imgLayer>
                </a14:imgProps>
              </a:ext>
            </a:extLst>
          </a:blip>
          <a:stretch>
            <a:fillRect/>
          </a:stretch>
        </p:blipFill>
        <p:spPr>
          <a:xfrm>
            <a:off x="427094" y="797659"/>
            <a:ext cx="924855" cy="924855"/>
          </a:xfrm>
          <a:prstGeom prst="rect">
            <a:avLst/>
          </a:prstGeom>
        </p:spPr>
      </p:pic>
      <p:pic>
        <p:nvPicPr>
          <p:cNvPr id="23" name="Picture 22" descr="AI microchip black silhouette simple microchip icon with brain or ...">
            <a:extLst>
              <a:ext uri="{FF2B5EF4-FFF2-40B4-BE49-F238E27FC236}">
                <a16:creationId xmlns:a16="http://schemas.microsoft.com/office/drawing/2014/main" id="{054F2017-0D7C-C781-B33F-FF3AA217BBEA}"/>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4874" b="93502" l="5596" r="94765">
                        <a14:foregroundMark x1="34838" y1="6679" x2="34838" y2="6679"/>
                        <a14:foregroundMark x1="49458" y1="6859" x2="49458" y2="6859"/>
                        <a14:foregroundMark x1="65162" y1="8664" x2="65162" y2="8664"/>
                        <a14:foregroundMark x1="8845" y1="42599" x2="8845" y2="42599"/>
                        <a14:foregroundMark x1="7581" y1="31227" x2="7581" y2="31227"/>
                        <a14:foregroundMark x1="7942" y1="58123" x2="7942" y2="58123"/>
                        <a14:foregroundMark x1="6859" y1="69134" x2="6859" y2="69134"/>
                        <a14:foregroundMark x1="35199" y1="93502" x2="35199" y2="93502"/>
                        <a14:foregroundMark x1="52166" y1="92599" x2="52166" y2="92599"/>
                        <a14:foregroundMark x1="64260" y1="92599" x2="64260" y2="92599"/>
                        <a14:foregroundMark x1="94404" y1="69495" x2="94404" y2="69495"/>
                        <a14:foregroundMark x1="93682" y1="43141" x2="93682" y2="43141"/>
                        <a14:foregroundMark x1="6318" y1="42419" x2="6318" y2="42419"/>
                        <a14:foregroundMark x1="5596" y1="57220" x2="5596" y2="57220"/>
                        <a14:foregroundMark x1="5776" y1="30686" x2="5776" y2="30686"/>
                        <a14:foregroundMark x1="5776" y1="69134" x2="5776" y2="69134"/>
                        <a14:foregroundMark x1="5596" y1="43141" x2="5596" y2="43141"/>
                        <a14:foregroundMark x1="65162" y1="5054" x2="65162" y2="5054"/>
                        <a14:foregroundMark x1="66606" y1="7581" x2="66606" y2="7581"/>
                        <a14:foregroundMark x1="94224" y1="42419" x2="94224" y2="42419"/>
                        <a14:foregroundMark x1="94224" y1="58123" x2="94224" y2="58123"/>
                        <a14:foregroundMark x1="94765" y1="69675" x2="94765" y2="69675"/>
                        <a14:foregroundMark x1="42058" y1="55235" x2="42058" y2="55235"/>
                        <a14:foregroundMark x1="44946" y1="38989" x2="44946" y2="38989"/>
                        <a14:foregroundMark x1="53971" y1="64440" x2="53971" y2="64440"/>
                      </a14:backgroundRemoval>
                    </a14:imgEffect>
                  </a14:imgLayer>
                </a14:imgProps>
              </a:ext>
            </a:extLst>
          </a:blip>
          <a:stretch>
            <a:fillRect/>
          </a:stretch>
        </p:blipFill>
        <p:spPr>
          <a:xfrm>
            <a:off x="994176" y="4318725"/>
            <a:ext cx="1533468" cy="1533468"/>
          </a:xfrm>
          <a:prstGeom prst="rect">
            <a:avLst/>
          </a:prstGeom>
        </p:spPr>
      </p:pic>
      <p:pic>
        <p:nvPicPr>
          <p:cNvPr id="6" name="Picture 5" descr="Back End icon. Simple element from website development collection ...">
            <a:extLst>
              <a:ext uri="{FF2B5EF4-FFF2-40B4-BE49-F238E27FC236}">
                <a16:creationId xmlns:a16="http://schemas.microsoft.com/office/drawing/2014/main" id="{0B601261-A751-E074-0053-96A3BC7C3FB5}"/>
              </a:ext>
            </a:extLst>
          </p:cNvPr>
          <p:cNvPicPr>
            <a:picLocks noChangeAspect="1"/>
          </p:cNvPicPr>
          <p:nvPr/>
        </p:nvPicPr>
        <p:blipFill>
          <a:blip r:embed="rId11">
            <a:biLevel thresh="75000"/>
            <a:extLst>
              <a:ext uri="{BEBA8EAE-BF5A-486C-A8C5-ECC9F3942E4B}">
                <a14:imgProps xmlns:a14="http://schemas.microsoft.com/office/drawing/2010/main">
                  <a14:imgLayer r:embed="rId12">
                    <a14:imgEffect>
                      <a14:backgroundRemoval t="10000" b="90000" l="10000" r="90000">
                        <a14:foregroundMark x1="39366" y1="59162" x2="39366" y2="59162"/>
                        <a14:foregroundMark x1="23881" y1="37522" x2="23881" y2="37522"/>
                        <a14:foregroundMark x1="36007" y1="45375" x2="36007" y2="45375"/>
                        <a14:foregroundMark x1="27425" y1="44852" x2="27425" y2="44852"/>
                        <a14:foregroundMark x1="44403" y1="45201" x2="44403" y2="45201"/>
                      </a14:backgroundRemoval>
                    </a14:imgEffect>
                  </a14:imgLayer>
                </a14:imgProps>
              </a:ext>
            </a:extLst>
          </a:blip>
          <a:stretch>
            <a:fillRect/>
          </a:stretch>
        </p:blipFill>
        <p:spPr>
          <a:xfrm>
            <a:off x="1385402" y="1545538"/>
            <a:ext cx="1738688" cy="1858709"/>
          </a:xfrm>
          <a:prstGeom prst="rect">
            <a:avLst/>
          </a:prstGeom>
        </p:spPr>
      </p:pic>
    </p:spTree>
    <p:extLst>
      <p:ext uri="{BB962C8B-B14F-4D97-AF65-F5344CB8AC3E}">
        <p14:creationId xmlns:p14="http://schemas.microsoft.com/office/powerpoint/2010/main" val="879905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61F32-A90E-FF10-50B8-8B49D6C8F689}"/>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A2D3EBFC-7CEB-1414-43CF-A1A4A89E43E7}"/>
              </a:ext>
            </a:extLst>
          </p:cNvPr>
          <p:cNvPicPr>
            <a:picLocks noChangeAspect="1"/>
          </p:cNvPicPr>
          <p:nvPr/>
        </p:nvPicPr>
        <p:blipFill>
          <a:blip r:embed="rId3">
            <a:duotone>
              <a:prstClr val="black"/>
              <a:schemeClr val="accent6">
                <a:lumMod val="40000"/>
                <a:lumOff val="60000"/>
                <a:tint val="45000"/>
                <a:satMod val="400000"/>
              </a:schemeClr>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0" y="-1"/>
            <a:ext cx="12191999" cy="6858001"/>
          </a:xfrm>
          <a:prstGeom prst="rect">
            <a:avLst/>
          </a:prstGeom>
          <a:noFill/>
        </p:spPr>
      </p:pic>
      <p:sp>
        <p:nvSpPr>
          <p:cNvPr id="2" name="Circle: Hollow 1">
            <a:extLst>
              <a:ext uri="{FF2B5EF4-FFF2-40B4-BE49-F238E27FC236}">
                <a16:creationId xmlns:a16="http://schemas.microsoft.com/office/drawing/2014/main" id="{E0C7EF98-A1B6-56CF-AA32-A8C7AF2D56BB}"/>
              </a:ext>
            </a:extLst>
          </p:cNvPr>
          <p:cNvSpPr/>
          <p:nvPr/>
        </p:nvSpPr>
        <p:spPr>
          <a:xfrm>
            <a:off x="-3335642" y="217713"/>
            <a:ext cx="6671284" cy="6422572"/>
          </a:xfrm>
          <a:prstGeom prst="donut">
            <a:avLst/>
          </a:prstGeom>
          <a:solidFill>
            <a:srgbClr val="76844D"/>
          </a:solidFill>
          <a:ln w="22225">
            <a:solidFill>
              <a:schemeClr val="tx1">
                <a:lumMod val="95000"/>
                <a:lumOff val="5000"/>
              </a:schemeClr>
            </a:solidFill>
            <a:extLst>
              <a:ext uri="{C807C97D-BFC1-408E-A445-0C87EB9F89A2}">
                <ask:lineSketchStyleProps xmlns:ask="http://schemas.microsoft.com/office/drawing/2018/sketchyshapes" sd="1219033472">
                  <a:custGeom>
                    <a:avLst/>
                    <a:gdLst>
                      <a:gd name="csX0" fmla="*/ 0 w 6671284"/>
                      <a:gd name="csY0" fmla="*/ 3211286 h 6422572"/>
                      <a:gd name="csX1" fmla="*/ 3335642 w 6671284"/>
                      <a:gd name="csY1" fmla="*/ 0 h 6422572"/>
                      <a:gd name="csX2" fmla="*/ 6671284 w 6671284"/>
                      <a:gd name="csY2" fmla="*/ 3211286 h 6422572"/>
                      <a:gd name="csX3" fmla="*/ 3335642 w 6671284"/>
                      <a:gd name="csY3" fmla="*/ 6422572 h 6422572"/>
                      <a:gd name="csX4" fmla="*/ 0 w 6671284"/>
                      <a:gd name="csY4" fmla="*/ 3211286 h 6422572"/>
                      <a:gd name="csX5" fmla="*/ 1605643 w 6671284"/>
                      <a:gd name="csY5" fmla="*/ 3211286 h 6422572"/>
                      <a:gd name="csX6" fmla="*/ 3335642 w 6671284"/>
                      <a:gd name="csY6" fmla="*/ 4816929 h 6422572"/>
                      <a:gd name="csX7" fmla="*/ 5065641 w 6671284"/>
                      <a:gd name="csY7" fmla="*/ 3211286 h 6422572"/>
                      <a:gd name="csX8" fmla="*/ 3335642 w 6671284"/>
                      <a:gd name="csY8" fmla="*/ 1605643 h 6422572"/>
                      <a:gd name="csX9" fmla="*/ 1605643 w 6671284"/>
                      <a:gd name="csY9" fmla="*/ 3211286 h 64225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671284" h="6422572" fill="none" extrusionOk="0">
                        <a:moveTo>
                          <a:pt x="0" y="3211286"/>
                        </a:moveTo>
                        <a:cubicBezTo>
                          <a:pt x="-259567" y="1395759"/>
                          <a:pt x="1518016" y="20116"/>
                          <a:pt x="3335642" y="0"/>
                        </a:cubicBezTo>
                        <a:cubicBezTo>
                          <a:pt x="5310808" y="197898"/>
                          <a:pt x="6677580" y="1502950"/>
                          <a:pt x="6671284" y="3211286"/>
                        </a:cubicBezTo>
                        <a:cubicBezTo>
                          <a:pt x="6688380" y="5011164"/>
                          <a:pt x="5379861" y="6670002"/>
                          <a:pt x="3335642" y="6422572"/>
                        </a:cubicBezTo>
                        <a:cubicBezTo>
                          <a:pt x="1588227" y="6339562"/>
                          <a:pt x="6279" y="4955294"/>
                          <a:pt x="0" y="3211286"/>
                        </a:cubicBezTo>
                        <a:close/>
                        <a:moveTo>
                          <a:pt x="1605643" y="3211286"/>
                        </a:moveTo>
                        <a:cubicBezTo>
                          <a:pt x="1476363" y="4119287"/>
                          <a:pt x="2242427" y="4721875"/>
                          <a:pt x="3335642" y="4816929"/>
                        </a:cubicBezTo>
                        <a:cubicBezTo>
                          <a:pt x="4167515" y="4808157"/>
                          <a:pt x="4997096" y="3958333"/>
                          <a:pt x="5065641" y="3211286"/>
                        </a:cubicBezTo>
                        <a:cubicBezTo>
                          <a:pt x="5078870" y="2145571"/>
                          <a:pt x="4142649" y="1692321"/>
                          <a:pt x="3335642" y="1605643"/>
                        </a:cubicBezTo>
                        <a:cubicBezTo>
                          <a:pt x="2320031" y="1713209"/>
                          <a:pt x="1721554" y="2410644"/>
                          <a:pt x="1605643" y="3211286"/>
                        </a:cubicBezTo>
                        <a:close/>
                      </a:path>
                      <a:path w="6671284" h="6422572" stroke="0" extrusionOk="0">
                        <a:moveTo>
                          <a:pt x="0" y="3211286"/>
                        </a:moveTo>
                        <a:cubicBezTo>
                          <a:pt x="-126382" y="1359787"/>
                          <a:pt x="1471378" y="8272"/>
                          <a:pt x="3335642" y="0"/>
                        </a:cubicBezTo>
                        <a:cubicBezTo>
                          <a:pt x="5318726" y="29654"/>
                          <a:pt x="6354427" y="1447817"/>
                          <a:pt x="6671284" y="3211286"/>
                        </a:cubicBezTo>
                        <a:cubicBezTo>
                          <a:pt x="6544716" y="5108431"/>
                          <a:pt x="5148110" y="6587042"/>
                          <a:pt x="3335642" y="6422572"/>
                        </a:cubicBezTo>
                        <a:cubicBezTo>
                          <a:pt x="1230115" y="6278513"/>
                          <a:pt x="168514" y="5065347"/>
                          <a:pt x="0" y="3211286"/>
                        </a:cubicBezTo>
                        <a:close/>
                        <a:moveTo>
                          <a:pt x="1605643" y="3211286"/>
                        </a:moveTo>
                        <a:cubicBezTo>
                          <a:pt x="1633144" y="4101320"/>
                          <a:pt x="2452869" y="4667356"/>
                          <a:pt x="3335642" y="4816929"/>
                        </a:cubicBezTo>
                        <a:cubicBezTo>
                          <a:pt x="4194894" y="4802197"/>
                          <a:pt x="5044864" y="4117619"/>
                          <a:pt x="5065641" y="3211286"/>
                        </a:cubicBezTo>
                        <a:cubicBezTo>
                          <a:pt x="5058371" y="2255188"/>
                          <a:pt x="4204036" y="1726630"/>
                          <a:pt x="3335642" y="1605643"/>
                        </a:cubicBezTo>
                        <a:cubicBezTo>
                          <a:pt x="2462863" y="1651927"/>
                          <a:pt x="1734772" y="2355561"/>
                          <a:pt x="1605643" y="321128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Rectangle: Rounded Corners 3">
            <a:extLst>
              <a:ext uri="{FF2B5EF4-FFF2-40B4-BE49-F238E27FC236}">
                <a16:creationId xmlns:a16="http://schemas.microsoft.com/office/drawing/2014/main" id="{0A841099-7104-605B-1E1E-DB4472C1F5B2}"/>
              </a:ext>
            </a:extLst>
          </p:cNvPr>
          <p:cNvSpPr/>
          <p:nvPr/>
        </p:nvSpPr>
        <p:spPr>
          <a:xfrm>
            <a:off x="3828842" y="688934"/>
            <a:ext cx="7103327" cy="5196468"/>
          </a:xfrm>
          <a:prstGeom prst="roundRect">
            <a:avLst/>
          </a:prstGeom>
          <a:solidFill>
            <a:srgbClr val="76844D"/>
          </a:solidFill>
          <a:ln w="22225">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500" b="1" dirty="0">
                <a:solidFill>
                  <a:schemeClr val="tx1"/>
                </a:solidFill>
              </a:rPr>
              <a:t>5. Deployment &amp; Development Tools — GitHub, Render, Android Studio, Kotlin</a:t>
            </a:r>
          </a:p>
          <a:p>
            <a:endParaRPr lang="en-IN" sz="2500" b="1" dirty="0">
              <a:solidFill>
                <a:schemeClr val="tx1"/>
              </a:solidFill>
            </a:endParaRPr>
          </a:p>
          <a:p>
            <a:pPr marL="342900" lvl="0" indent="-342900">
              <a:buFont typeface="Arial" panose="020B0604020202020204" pitchFamily="34" charset="0"/>
              <a:buChar char="•"/>
            </a:pPr>
            <a:r>
              <a:rPr lang="en-IN" sz="2000" dirty="0">
                <a:solidFill>
                  <a:schemeClr val="tx1"/>
                </a:solidFill>
              </a:rPr>
              <a:t>GitHub stores the project's source code and tracks changes.</a:t>
            </a:r>
          </a:p>
          <a:p>
            <a:pPr marL="342900" lvl="0" indent="-342900">
              <a:buFont typeface="Arial" panose="020B0604020202020204" pitchFamily="34" charset="0"/>
              <a:buChar char="•"/>
            </a:pPr>
            <a:r>
              <a:rPr lang="en-IN" sz="2000" dirty="0">
                <a:solidFill>
                  <a:schemeClr val="tx1"/>
                </a:solidFill>
              </a:rPr>
              <a:t>Render hosts the Flask web application online.</a:t>
            </a:r>
          </a:p>
          <a:p>
            <a:pPr marL="342900" lvl="0" indent="-342900">
              <a:buFont typeface="Arial" panose="020B0604020202020204" pitchFamily="34" charset="0"/>
              <a:buChar char="•"/>
            </a:pPr>
            <a:r>
              <a:rPr lang="en-IN" sz="2000" dirty="0">
                <a:solidFill>
                  <a:schemeClr val="tx1"/>
                </a:solidFill>
              </a:rPr>
              <a:t>Android Studio provides the environment for Android app development.</a:t>
            </a:r>
          </a:p>
          <a:p>
            <a:pPr marL="342900" lvl="0" indent="-342900">
              <a:buFont typeface="Arial" panose="020B0604020202020204" pitchFamily="34" charset="0"/>
              <a:buChar char="•"/>
            </a:pPr>
            <a:r>
              <a:rPr lang="en-IN" sz="2000" dirty="0">
                <a:solidFill>
                  <a:schemeClr val="tx1"/>
                </a:solidFill>
              </a:rPr>
              <a:t>Kotlin is used to write the Android application's code.</a:t>
            </a:r>
          </a:p>
          <a:p>
            <a:pPr marL="342900" lvl="0" indent="-342900">
              <a:buFont typeface="Arial" panose="020B0604020202020204" pitchFamily="34" charset="0"/>
              <a:buChar char="•"/>
            </a:pPr>
            <a:r>
              <a:rPr lang="en-IN" sz="2000" dirty="0">
                <a:solidFill>
                  <a:schemeClr val="tx1"/>
                </a:solidFill>
              </a:rPr>
              <a:t>These tools support source-code management, web deployment, and access to the project through an Android application.</a:t>
            </a:r>
          </a:p>
        </p:txBody>
      </p:sp>
      <p:cxnSp>
        <p:nvCxnSpPr>
          <p:cNvPr id="9" name="Straight Arrow Connector 8">
            <a:extLst>
              <a:ext uri="{FF2B5EF4-FFF2-40B4-BE49-F238E27FC236}">
                <a16:creationId xmlns:a16="http://schemas.microsoft.com/office/drawing/2014/main" id="{8D8A0174-49F7-A916-4036-1E5A526865DC}"/>
              </a:ext>
            </a:extLst>
          </p:cNvPr>
          <p:cNvCxnSpPr>
            <a:cxnSpLocks/>
          </p:cNvCxnSpPr>
          <p:nvPr/>
        </p:nvCxnSpPr>
        <p:spPr>
          <a:xfrm flipV="1">
            <a:off x="2767871" y="5595374"/>
            <a:ext cx="807998" cy="290028"/>
          </a:xfrm>
          <a:prstGeom prst="straightConnector1">
            <a:avLst/>
          </a:prstGeom>
          <a:ln w="444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CEE0C253-F336-04C1-7361-45C790B62948}"/>
              </a:ext>
            </a:extLst>
          </p:cNvPr>
          <p:cNvSpPr/>
          <p:nvPr/>
        </p:nvSpPr>
        <p:spPr>
          <a:xfrm>
            <a:off x="-210081" y="4831346"/>
            <a:ext cx="1984917" cy="1828800"/>
          </a:xfrm>
          <a:prstGeom prst="ellipse">
            <a:avLst/>
          </a:prstGeom>
          <a:solidFill>
            <a:srgbClr val="A4B27B"/>
          </a:solidFill>
          <a:ln w="508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 name="Graphic 15" descr="Database with solid fill">
            <a:extLst>
              <a:ext uri="{FF2B5EF4-FFF2-40B4-BE49-F238E27FC236}">
                <a16:creationId xmlns:a16="http://schemas.microsoft.com/office/drawing/2014/main" id="{88CAE868-5245-EC5C-715F-8AC3D45C768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31527" y="3033206"/>
            <a:ext cx="992458" cy="992458"/>
          </a:xfrm>
          <a:prstGeom prst="rect">
            <a:avLst/>
          </a:prstGeom>
        </p:spPr>
      </p:pic>
      <p:pic>
        <p:nvPicPr>
          <p:cNvPr id="20" name="Graphic 19" descr="Internet with solid fill">
            <a:extLst>
              <a:ext uri="{FF2B5EF4-FFF2-40B4-BE49-F238E27FC236}">
                <a16:creationId xmlns:a16="http://schemas.microsoft.com/office/drawing/2014/main" id="{972FA500-C335-4070-2E8F-CF1E8A0B37A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077" y="4943934"/>
            <a:ext cx="1592907" cy="1592907"/>
          </a:xfrm>
          <a:prstGeom prst="rect">
            <a:avLst/>
          </a:prstGeom>
        </p:spPr>
      </p:pic>
      <p:pic>
        <p:nvPicPr>
          <p:cNvPr id="21" name="Picture 20" descr="Frontend Vector Art, Icons, and Graphics for Free Download">
            <a:extLst>
              <a:ext uri="{FF2B5EF4-FFF2-40B4-BE49-F238E27FC236}">
                <a16:creationId xmlns:a16="http://schemas.microsoft.com/office/drawing/2014/main" id="{36722DD3-F4C1-B55C-5FF4-DE6E8133985A}"/>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429" b="90571" l="5429" r="91429">
                        <a14:foregroundMark x1="5714" y1="28857" x2="5714" y2="28857"/>
                        <a14:foregroundMark x1="41143" y1="47143" x2="41143" y2="47143"/>
                        <a14:foregroundMark x1="21429" y1="9714" x2="21429" y2="9714"/>
                        <a14:foregroundMark x1="28286" y1="13143" x2="28286" y2="13143"/>
                        <a14:foregroundMark x1="37714" y1="13429" x2="37714" y2="13429"/>
                        <a14:foregroundMark x1="45429" y1="13429" x2="45429" y2="13429"/>
                        <a14:foregroundMark x1="54571" y1="14571" x2="54571" y2="14571"/>
                        <a14:foregroundMark x1="72286" y1="14571" x2="72286" y2="14571"/>
                        <a14:foregroundMark x1="91714" y1="24286" x2="91714" y2="24286"/>
                        <a14:foregroundMark x1="34000" y1="52571" x2="34000" y2="52571"/>
                        <a14:foregroundMark x1="33429" y1="58000" x2="33429" y2="58000"/>
                        <a14:foregroundMark x1="58571" y1="90571" x2="58571" y2="90571"/>
                        <a14:foregroundMark x1="68000" y1="59429" x2="68000" y2="59429"/>
                        <a14:foregroundMark x1="70286" y1="40571" x2="70286" y2="40571"/>
                      </a14:backgroundRemoval>
                    </a14:imgEffect>
                  </a14:imgLayer>
                </a14:imgProps>
              </a:ext>
            </a:extLst>
          </a:blip>
          <a:stretch>
            <a:fillRect/>
          </a:stretch>
        </p:blipFill>
        <p:spPr>
          <a:xfrm>
            <a:off x="427094" y="797659"/>
            <a:ext cx="924855" cy="924855"/>
          </a:xfrm>
          <a:prstGeom prst="rect">
            <a:avLst/>
          </a:prstGeom>
        </p:spPr>
      </p:pic>
      <p:pic>
        <p:nvPicPr>
          <p:cNvPr id="23" name="Picture 22" descr="AI microchip black silhouette simple microchip icon with brain or ...">
            <a:extLst>
              <a:ext uri="{FF2B5EF4-FFF2-40B4-BE49-F238E27FC236}">
                <a16:creationId xmlns:a16="http://schemas.microsoft.com/office/drawing/2014/main" id="{817F0625-237C-878C-88FA-387F39854B97}"/>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4874" b="93502" l="5596" r="94765">
                        <a14:foregroundMark x1="34838" y1="6679" x2="34838" y2="6679"/>
                        <a14:foregroundMark x1="49458" y1="6859" x2="49458" y2="6859"/>
                        <a14:foregroundMark x1="65162" y1="8664" x2="65162" y2="8664"/>
                        <a14:foregroundMark x1="8845" y1="42599" x2="8845" y2="42599"/>
                        <a14:foregroundMark x1="7581" y1="31227" x2="7581" y2="31227"/>
                        <a14:foregroundMark x1="7942" y1="58123" x2="7942" y2="58123"/>
                        <a14:foregroundMark x1="6859" y1="69134" x2="6859" y2="69134"/>
                        <a14:foregroundMark x1="35199" y1="93502" x2="35199" y2="93502"/>
                        <a14:foregroundMark x1="52166" y1="92599" x2="52166" y2="92599"/>
                        <a14:foregroundMark x1="64260" y1="92599" x2="64260" y2="92599"/>
                        <a14:foregroundMark x1="94404" y1="69495" x2="94404" y2="69495"/>
                        <a14:foregroundMark x1="93682" y1="43141" x2="93682" y2="43141"/>
                        <a14:foregroundMark x1="6318" y1="42419" x2="6318" y2="42419"/>
                        <a14:foregroundMark x1="5596" y1="57220" x2="5596" y2="57220"/>
                        <a14:foregroundMark x1="5776" y1="30686" x2="5776" y2="30686"/>
                        <a14:foregroundMark x1="5776" y1="69134" x2="5776" y2="69134"/>
                        <a14:foregroundMark x1="5596" y1="43141" x2="5596" y2="43141"/>
                        <a14:foregroundMark x1="65162" y1="5054" x2="65162" y2="5054"/>
                        <a14:foregroundMark x1="66606" y1="7581" x2="66606" y2="7581"/>
                        <a14:foregroundMark x1="94224" y1="42419" x2="94224" y2="42419"/>
                        <a14:foregroundMark x1="94224" y1="58123" x2="94224" y2="58123"/>
                        <a14:foregroundMark x1="94765" y1="69675" x2="94765" y2="69675"/>
                        <a14:foregroundMark x1="42058" y1="55235" x2="42058" y2="55235"/>
                        <a14:foregroundMark x1="44946" y1="38989" x2="44946" y2="38989"/>
                        <a14:foregroundMark x1="53971" y1="64440" x2="53971" y2="64440"/>
                      </a14:backgroundRemoval>
                    </a14:imgEffect>
                  </a14:imgLayer>
                </a14:imgProps>
              </a:ext>
            </a:extLst>
          </a:blip>
          <a:stretch>
            <a:fillRect/>
          </a:stretch>
        </p:blipFill>
        <p:spPr>
          <a:xfrm>
            <a:off x="1476229" y="4285795"/>
            <a:ext cx="1091102" cy="1091102"/>
          </a:xfrm>
          <a:prstGeom prst="rect">
            <a:avLst/>
          </a:prstGeom>
        </p:spPr>
      </p:pic>
      <p:pic>
        <p:nvPicPr>
          <p:cNvPr id="6" name="Picture 5" descr="Back End icon. Simple element from website development collection ...">
            <a:extLst>
              <a:ext uri="{FF2B5EF4-FFF2-40B4-BE49-F238E27FC236}">
                <a16:creationId xmlns:a16="http://schemas.microsoft.com/office/drawing/2014/main" id="{9B11FDBE-E49E-56B4-8993-45929A65DBDD}"/>
              </a:ext>
            </a:extLst>
          </p:cNvPr>
          <p:cNvPicPr>
            <a:picLocks noChangeAspect="1"/>
          </p:cNvPicPr>
          <p:nvPr/>
        </p:nvPicPr>
        <p:blipFill>
          <a:blip r:embed="rId11">
            <a:biLevel thresh="75000"/>
            <a:extLst>
              <a:ext uri="{BEBA8EAE-BF5A-486C-A8C5-ECC9F3942E4B}">
                <a14:imgProps xmlns:a14="http://schemas.microsoft.com/office/drawing/2010/main">
                  <a14:imgLayer r:embed="rId12">
                    <a14:imgEffect>
                      <a14:backgroundRemoval t="10000" b="90000" l="10000" r="90000">
                        <a14:foregroundMark x1="39366" y1="59162" x2="39366" y2="59162"/>
                        <a14:foregroundMark x1="23881" y1="37522" x2="23881" y2="37522"/>
                        <a14:foregroundMark x1="36007" y1="45375" x2="36007" y2="45375"/>
                        <a14:foregroundMark x1="27425" y1="44852" x2="27425" y2="44852"/>
                        <a14:foregroundMark x1="44403" y1="45201" x2="44403" y2="45201"/>
                      </a14:backgroundRemoval>
                    </a14:imgEffect>
                  </a14:imgLayer>
                </a14:imgProps>
              </a:ext>
            </a:extLst>
          </a:blip>
          <a:stretch>
            <a:fillRect/>
          </a:stretch>
        </p:blipFill>
        <p:spPr>
          <a:xfrm>
            <a:off x="1259831" y="1347581"/>
            <a:ext cx="1738688" cy="1858709"/>
          </a:xfrm>
          <a:prstGeom prst="rect">
            <a:avLst/>
          </a:prstGeom>
        </p:spPr>
      </p:pic>
    </p:spTree>
    <p:extLst>
      <p:ext uri="{BB962C8B-B14F-4D97-AF65-F5344CB8AC3E}">
        <p14:creationId xmlns:p14="http://schemas.microsoft.com/office/powerpoint/2010/main" val="3427818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38DE8-3360-2576-CCC0-94288770F2FB}"/>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680DCFD8-F30E-BC2F-612C-CAF35685EEC0}"/>
              </a:ext>
            </a:extLst>
          </p:cNvPr>
          <p:cNvPicPr>
            <a:picLocks noChangeAspect="1"/>
          </p:cNvPicPr>
          <p:nvPr/>
        </p:nvPicPr>
        <p:blipFill>
          <a:blip r:embed="rId3">
            <a:duotone>
              <a:prstClr val="black"/>
              <a:schemeClr val="accent6">
                <a:lumMod val="40000"/>
                <a:lumOff val="60000"/>
                <a:tint val="45000"/>
                <a:satMod val="400000"/>
              </a:schemeClr>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0" y="-1"/>
            <a:ext cx="12191999" cy="6858001"/>
          </a:xfrm>
          <a:prstGeom prst="rect">
            <a:avLst/>
          </a:prstGeom>
          <a:noFill/>
        </p:spPr>
      </p:pic>
      <p:sp>
        <p:nvSpPr>
          <p:cNvPr id="8" name="Oval 7">
            <a:extLst>
              <a:ext uri="{FF2B5EF4-FFF2-40B4-BE49-F238E27FC236}">
                <a16:creationId xmlns:a16="http://schemas.microsoft.com/office/drawing/2014/main" id="{6909F889-498B-8F8F-C048-0A2C29CE64FE}"/>
              </a:ext>
            </a:extLst>
          </p:cNvPr>
          <p:cNvSpPr/>
          <p:nvPr/>
        </p:nvSpPr>
        <p:spPr>
          <a:xfrm>
            <a:off x="4686299" y="2061483"/>
            <a:ext cx="2917372" cy="2786742"/>
          </a:xfrm>
          <a:prstGeom prst="ellipse">
            <a:avLst/>
          </a:prstGeom>
          <a:solidFill>
            <a:srgbClr val="3A6957"/>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 Dataset Collection</a:t>
            </a:r>
          </a:p>
        </p:txBody>
      </p:sp>
      <p:sp>
        <p:nvSpPr>
          <p:cNvPr id="11" name="Oval 10">
            <a:extLst>
              <a:ext uri="{FF2B5EF4-FFF2-40B4-BE49-F238E27FC236}">
                <a16:creationId xmlns:a16="http://schemas.microsoft.com/office/drawing/2014/main" id="{18CBEED7-A2BD-9514-61A0-88B10E54A358}"/>
              </a:ext>
            </a:extLst>
          </p:cNvPr>
          <p:cNvSpPr/>
          <p:nvPr/>
        </p:nvSpPr>
        <p:spPr>
          <a:xfrm>
            <a:off x="4724400" y="2121355"/>
            <a:ext cx="2841171" cy="2666999"/>
          </a:xfrm>
          <a:prstGeom prst="ellipse">
            <a:avLst/>
          </a:prstGeom>
          <a:solidFill>
            <a:srgbClr val="E0E5D2"/>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 </a:t>
            </a:r>
            <a:r>
              <a:rPr lang="en-IN" dirty="0">
                <a:solidFill>
                  <a:schemeClr val="tx1"/>
                </a:solidFill>
              </a:rPr>
              <a:t>Data Preprocessing</a:t>
            </a:r>
          </a:p>
        </p:txBody>
      </p:sp>
      <p:sp>
        <p:nvSpPr>
          <p:cNvPr id="14" name="Oval 13">
            <a:extLst>
              <a:ext uri="{FF2B5EF4-FFF2-40B4-BE49-F238E27FC236}">
                <a16:creationId xmlns:a16="http://schemas.microsoft.com/office/drawing/2014/main" id="{941FF27D-AD6C-0310-A661-E42C9DABB48A}"/>
              </a:ext>
            </a:extLst>
          </p:cNvPr>
          <p:cNvSpPr/>
          <p:nvPr/>
        </p:nvSpPr>
        <p:spPr>
          <a:xfrm>
            <a:off x="4724400" y="2045155"/>
            <a:ext cx="2841171" cy="2819399"/>
          </a:xfrm>
          <a:prstGeom prst="ellipse">
            <a:avLst/>
          </a:prstGeom>
          <a:solidFill>
            <a:srgbClr val="E0E5D2"/>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 </a:t>
            </a:r>
            <a:r>
              <a:rPr lang="en-IN" dirty="0">
                <a:solidFill>
                  <a:schemeClr val="tx1"/>
                </a:solidFill>
              </a:rPr>
              <a:t>Algorithm Selection:</a:t>
            </a:r>
          </a:p>
        </p:txBody>
      </p:sp>
      <p:sp>
        <p:nvSpPr>
          <p:cNvPr id="17" name="Oval 16">
            <a:extLst>
              <a:ext uri="{FF2B5EF4-FFF2-40B4-BE49-F238E27FC236}">
                <a16:creationId xmlns:a16="http://schemas.microsoft.com/office/drawing/2014/main" id="{A5A7F864-F5F3-B1FC-587D-D82C08197110}"/>
              </a:ext>
            </a:extLst>
          </p:cNvPr>
          <p:cNvSpPr/>
          <p:nvPr/>
        </p:nvSpPr>
        <p:spPr>
          <a:xfrm>
            <a:off x="4849585" y="2235654"/>
            <a:ext cx="2590800" cy="2438400"/>
          </a:xfrm>
          <a:prstGeom prst="ellipse">
            <a:avLst/>
          </a:prstGeom>
          <a:solidFill>
            <a:srgbClr val="3A6957"/>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 </a:t>
            </a:r>
            <a:r>
              <a:rPr lang="en-IN" dirty="0">
                <a:solidFill>
                  <a:schemeClr val="bg1"/>
                </a:solidFill>
              </a:rPr>
              <a:t>Nearest </a:t>
            </a:r>
            <a:r>
              <a:rPr lang="en-IN">
                <a:solidFill>
                  <a:schemeClr val="bg1"/>
                </a:solidFill>
              </a:rPr>
              <a:t>NeighboursŚŚŚŚ</a:t>
            </a:r>
            <a:endParaRPr lang="en-IN" dirty="0">
              <a:solidFill>
                <a:schemeClr val="bg1"/>
              </a:solidFill>
            </a:endParaRPr>
          </a:p>
        </p:txBody>
      </p:sp>
      <p:sp>
        <p:nvSpPr>
          <p:cNvPr id="19" name="Oval 18">
            <a:extLst>
              <a:ext uri="{FF2B5EF4-FFF2-40B4-BE49-F238E27FC236}">
                <a16:creationId xmlns:a16="http://schemas.microsoft.com/office/drawing/2014/main" id="{E79CEEAA-1A9B-FAB3-2BA5-85D6E3AA5DED}"/>
              </a:ext>
            </a:extLst>
          </p:cNvPr>
          <p:cNvSpPr/>
          <p:nvPr/>
        </p:nvSpPr>
        <p:spPr>
          <a:xfrm>
            <a:off x="5001985" y="2377169"/>
            <a:ext cx="2286000" cy="2155371"/>
          </a:xfrm>
          <a:prstGeom prst="ellipse">
            <a:avLst/>
          </a:prstGeom>
          <a:solidFill>
            <a:srgbClr val="A4B27B"/>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 </a:t>
            </a:r>
            <a:r>
              <a:rPr lang="en-IN" dirty="0">
                <a:solidFill>
                  <a:schemeClr val="tx1"/>
                </a:solidFill>
              </a:rPr>
              <a:t>Distance Calculation</a:t>
            </a:r>
          </a:p>
        </p:txBody>
      </p:sp>
      <p:sp>
        <p:nvSpPr>
          <p:cNvPr id="24" name="Oval 23">
            <a:extLst>
              <a:ext uri="{FF2B5EF4-FFF2-40B4-BE49-F238E27FC236}">
                <a16:creationId xmlns:a16="http://schemas.microsoft.com/office/drawing/2014/main" id="{4A6D0CFF-A897-D726-1AE0-35F94BB66BE5}"/>
              </a:ext>
            </a:extLst>
          </p:cNvPr>
          <p:cNvSpPr/>
          <p:nvPr/>
        </p:nvSpPr>
        <p:spPr>
          <a:xfrm>
            <a:off x="5192485" y="2540454"/>
            <a:ext cx="1905000" cy="1828800"/>
          </a:xfrm>
          <a:prstGeom prst="ellipse">
            <a:avLst/>
          </a:prstGeom>
          <a:solidFill>
            <a:srgbClr val="CCD4B5"/>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 </a:t>
            </a:r>
            <a:r>
              <a:rPr lang="en-IN" dirty="0">
                <a:solidFill>
                  <a:schemeClr val="tx1"/>
                </a:solidFill>
              </a:rPr>
              <a:t>Dataset Splitting</a:t>
            </a:r>
          </a:p>
        </p:txBody>
      </p:sp>
      <p:sp>
        <p:nvSpPr>
          <p:cNvPr id="26" name="Oval 25">
            <a:extLst>
              <a:ext uri="{FF2B5EF4-FFF2-40B4-BE49-F238E27FC236}">
                <a16:creationId xmlns:a16="http://schemas.microsoft.com/office/drawing/2014/main" id="{2A007E1D-5037-D9DB-F953-549447851B42}"/>
              </a:ext>
            </a:extLst>
          </p:cNvPr>
          <p:cNvSpPr/>
          <p:nvPr/>
        </p:nvSpPr>
        <p:spPr>
          <a:xfrm>
            <a:off x="5050971" y="2371726"/>
            <a:ext cx="2188029" cy="2166257"/>
          </a:xfrm>
          <a:prstGeom prst="ellipse">
            <a:avLst/>
          </a:prstGeom>
          <a:solidFill>
            <a:srgbClr val="76844D"/>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 </a:t>
            </a:r>
            <a:r>
              <a:rPr lang="en-IN" dirty="0">
                <a:solidFill>
                  <a:schemeClr val="tx1"/>
                </a:solidFill>
              </a:rPr>
              <a:t>Data Loading</a:t>
            </a:r>
          </a:p>
        </p:txBody>
      </p:sp>
      <p:sp>
        <p:nvSpPr>
          <p:cNvPr id="28" name="Oval 27">
            <a:extLst>
              <a:ext uri="{FF2B5EF4-FFF2-40B4-BE49-F238E27FC236}">
                <a16:creationId xmlns:a16="http://schemas.microsoft.com/office/drawing/2014/main" id="{1D9169C0-6599-CB75-B8A0-232F8718DAEF}"/>
              </a:ext>
            </a:extLst>
          </p:cNvPr>
          <p:cNvSpPr/>
          <p:nvPr/>
        </p:nvSpPr>
        <p:spPr>
          <a:xfrm>
            <a:off x="4958442" y="2339069"/>
            <a:ext cx="2373087" cy="2231571"/>
          </a:xfrm>
          <a:prstGeom prst="ellipse">
            <a:avLst/>
          </a:prstGeom>
          <a:solidFill>
            <a:srgbClr val="A4B27B"/>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 </a:t>
            </a:r>
            <a:r>
              <a:rPr lang="en-IN" dirty="0">
                <a:solidFill>
                  <a:schemeClr val="tx1"/>
                </a:solidFill>
              </a:rPr>
              <a:t>Model Integration</a:t>
            </a:r>
          </a:p>
        </p:txBody>
      </p:sp>
      <p:sp>
        <p:nvSpPr>
          <p:cNvPr id="30" name="Oval 29">
            <a:extLst>
              <a:ext uri="{FF2B5EF4-FFF2-40B4-BE49-F238E27FC236}">
                <a16:creationId xmlns:a16="http://schemas.microsoft.com/office/drawing/2014/main" id="{4BDB4DD4-56DD-86BB-6C37-BF3FD0CE9AD7}"/>
              </a:ext>
            </a:extLst>
          </p:cNvPr>
          <p:cNvSpPr/>
          <p:nvPr/>
        </p:nvSpPr>
        <p:spPr>
          <a:xfrm>
            <a:off x="4849585" y="2216604"/>
            <a:ext cx="2590800" cy="2476500"/>
          </a:xfrm>
          <a:prstGeom prst="ellipse">
            <a:avLst/>
          </a:prstGeom>
          <a:solidFill>
            <a:srgbClr val="568059"/>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 </a:t>
            </a:r>
            <a:r>
              <a:rPr lang="en-IN" dirty="0">
                <a:solidFill>
                  <a:schemeClr val="bg1"/>
                </a:solidFill>
              </a:rPr>
              <a:t>Feature Selection:</a:t>
            </a:r>
          </a:p>
        </p:txBody>
      </p:sp>
      <p:sp>
        <p:nvSpPr>
          <p:cNvPr id="32" name="Oval 31">
            <a:extLst>
              <a:ext uri="{FF2B5EF4-FFF2-40B4-BE49-F238E27FC236}">
                <a16:creationId xmlns:a16="http://schemas.microsoft.com/office/drawing/2014/main" id="{2CF2C05F-E0BD-B8C1-DAAD-ADB23185E321}"/>
              </a:ext>
            </a:extLst>
          </p:cNvPr>
          <p:cNvSpPr/>
          <p:nvPr/>
        </p:nvSpPr>
        <p:spPr>
          <a:xfrm>
            <a:off x="5211535" y="2529569"/>
            <a:ext cx="1866900" cy="1850571"/>
          </a:xfrm>
          <a:prstGeom prst="ellipse">
            <a:avLst/>
          </a:prstGeom>
          <a:solidFill>
            <a:srgbClr val="E0E5D2"/>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r>
              <a:rPr lang="en-IN" dirty="0">
                <a:solidFill>
                  <a:schemeClr val="tx1"/>
                </a:solidFill>
              </a:rPr>
              <a:t> Result Display</a:t>
            </a:r>
          </a:p>
        </p:txBody>
      </p:sp>
      <p:sp>
        <p:nvSpPr>
          <p:cNvPr id="34" name="Oval 33">
            <a:extLst>
              <a:ext uri="{FF2B5EF4-FFF2-40B4-BE49-F238E27FC236}">
                <a16:creationId xmlns:a16="http://schemas.microsoft.com/office/drawing/2014/main" id="{22B0D5F2-60DC-4FEE-FA53-3F414646F3D6}"/>
              </a:ext>
            </a:extLst>
          </p:cNvPr>
          <p:cNvSpPr/>
          <p:nvPr/>
        </p:nvSpPr>
        <p:spPr>
          <a:xfrm>
            <a:off x="5124449" y="2491468"/>
            <a:ext cx="2041072" cy="1926772"/>
          </a:xfrm>
          <a:prstGeom prst="ellipse">
            <a:avLst/>
          </a:prstGeom>
          <a:solidFill>
            <a:srgbClr val="76844D"/>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r>
              <a:rPr lang="en-IN" dirty="0">
                <a:solidFill>
                  <a:schemeClr val="tx1"/>
                </a:solidFill>
              </a:rPr>
              <a:t> Classification</a:t>
            </a:r>
          </a:p>
        </p:txBody>
      </p:sp>
      <p:sp>
        <p:nvSpPr>
          <p:cNvPr id="5" name="Oval 4">
            <a:extLst>
              <a:ext uri="{FF2B5EF4-FFF2-40B4-BE49-F238E27FC236}">
                <a16:creationId xmlns:a16="http://schemas.microsoft.com/office/drawing/2014/main" id="{804E1B6A-E0DD-5929-63DE-DEE45A1DA9BF}"/>
              </a:ext>
            </a:extLst>
          </p:cNvPr>
          <p:cNvSpPr/>
          <p:nvPr/>
        </p:nvSpPr>
        <p:spPr>
          <a:xfrm>
            <a:off x="4111553" y="1502230"/>
            <a:ext cx="3984171" cy="3853542"/>
          </a:xfrm>
          <a:prstGeom prst="ellipse">
            <a:avLst/>
          </a:prstGeom>
          <a:solidFill>
            <a:srgbClr val="568059"/>
          </a:solidFill>
          <a:ln>
            <a:noFill/>
          </a:ln>
          <a:effectLst>
            <a:outerShdw blurRad="50800" dist="1905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64E73483-BD49-0819-30FE-059F6A9176BC}"/>
              </a:ext>
            </a:extLst>
          </p:cNvPr>
          <p:cNvSpPr/>
          <p:nvPr/>
        </p:nvSpPr>
        <p:spPr>
          <a:xfrm>
            <a:off x="4329265" y="2016614"/>
            <a:ext cx="3533468" cy="2585323"/>
          </a:xfrm>
          <a:prstGeom prst="rect">
            <a:avLst/>
          </a:prstGeom>
          <a:noFill/>
          <a:effectLst>
            <a:outerShdw blurRad="50800" dist="38100" dir="5400000" algn="ctr" rotWithShape="0">
              <a:srgbClr val="000000">
                <a:alpha val="43137"/>
              </a:srgbClr>
            </a:outerShdw>
          </a:effectLst>
        </p:spPr>
        <p:txBody>
          <a:bodyPr wrap="square" lIns="91440" tIns="45720" rIns="91440" bIns="45720">
            <a:spAutoFit/>
          </a:bodyPr>
          <a:lstStyle/>
          <a:p>
            <a:pPr algn="ctr"/>
            <a:r>
              <a:rPr lang="en-US" sz="5400" dirty="0">
                <a:ln w="0"/>
                <a:effectLst>
                  <a:outerShdw blurRad="38100" dist="19050" dir="2700000" algn="tl" rotWithShape="0">
                    <a:schemeClr val="dk1">
                      <a:alpha val="40000"/>
                    </a:schemeClr>
                  </a:outerShdw>
                </a:effectLst>
                <a:latin typeface="Agency FB" panose="020B0503020202020204" pitchFamily="34" charset="0"/>
              </a:rPr>
              <a:t>BEHIND</a:t>
            </a:r>
          </a:p>
          <a:p>
            <a:pPr algn="ctr"/>
            <a:r>
              <a:rPr lang="en-US" sz="5400" dirty="0">
                <a:ln w="0"/>
                <a:effectLst>
                  <a:outerShdw blurRad="38100" dist="19050" dir="2700000" algn="tl" rotWithShape="0">
                    <a:schemeClr val="dk1">
                      <a:alpha val="40000"/>
                    </a:schemeClr>
                  </a:outerShdw>
                </a:effectLst>
                <a:latin typeface="Agency FB" panose="020B0503020202020204" pitchFamily="34" charset="0"/>
              </a:rPr>
              <a:t>THE PREDICTIONS</a:t>
            </a:r>
            <a:endParaRPr lang="en-US" sz="5400" b="0" cap="none" spc="0" dirty="0">
              <a:ln w="0"/>
              <a:solidFill>
                <a:schemeClr val="tx1"/>
              </a:solidFill>
              <a:effectLst>
                <a:outerShdw blurRad="38100" dist="19050" dir="2700000" algn="tl" rotWithShape="0">
                  <a:schemeClr val="dk1">
                    <a:alpha val="40000"/>
                  </a:schemeClr>
                </a:outerShdw>
              </a:effectLst>
              <a:latin typeface="Agency FB" panose="020B0503020202020204" pitchFamily="34" charset="0"/>
            </a:endParaRPr>
          </a:p>
        </p:txBody>
      </p:sp>
      <p:pic>
        <p:nvPicPr>
          <p:cNvPr id="6" name="Picture 5" descr="This may contain: an abstract green and white background with wavy lines">
            <a:extLst>
              <a:ext uri="{FF2B5EF4-FFF2-40B4-BE49-F238E27FC236}">
                <a16:creationId xmlns:a16="http://schemas.microsoft.com/office/drawing/2014/main" id="{BF20F0D9-9C0D-FC35-5A8E-13C2059EEFD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2709" b="96182" l="3520" r="99840">
                        <a14:foregroundMark x1="12640" y1="11823" x2="50880" y2="37562"/>
                        <a14:foregroundMark x1="3520" y1="3448" x2="12800" y2="83621"/>
                        <a14:foregroundMark x1="12800" y1="83621" x2="12800" y2="83621"/>
                        <a14:foregroundMark x1="12800" y1="83621" x2="12800" y2="83621"/>
                        <a14:foregroundMark x1="7200" y1="6773" x2="94080" y2="9236"/>
                        <a14:foregroundMark x1="94080" y1="9236" x2="93280" y2="2833"/>
                        <a14:foregroundMark x1="6560" y1="96305" x2="17920" y2="71059"/>
                        <a14:foregroundMark x1="17920" y1="71059" x2="17920" y2="70567"/>
                        <a14:foregroundMark x1="34400" y1="57143" x2="34400" y2="57143"/>
                        <a14:foregroundMark x1="99840" y1="2709" x2="99840" y2="2709"/>
                        <a14:foregroundMark x1="9600" y1="93103" x2="36160" y2="17857"/>
                        <a14:foregroundMark x1="36160" y1="17857" x2="36160" y2="17857"/>
                        <a14:foregroundMark x1="83360" y1="9852" x2="40160" y2="21305"/>
                        <a14:foregroundMark x1="40160" y1="21305" x2="15680" y2="48030"/>
                        <a14:foregroundMark x1="15680" y1="48030" x2="18720" y2="62562"/>
                      </a14:backgroundRemoval>
                    </a14:imgEffect>
                  </a14:imgLayer>
                </a14:imgProps>
              </a:ext>
            </a:extLst>
          </a:blip>
          <a:stretch>
            <a:fillRect/>
          </a:stretch>
        </p:blipFill>
        <p:spPr>
          <a:xfrm>
            <a:off x="0" y="0"/>
            <a:ext cx="4292033" cy="6858000"/>
          </a:xfrm>
          <a:prstGeom prst="rect">
            <a:avLst/>
          </a:prstGeom>
        </p:spPr>
      </p:pic>
      <p:pic>
        <p:nvPicPr>
          <p:cNvPr id="9" name="Picture 8" descr="This may contain: watercolor painting of green leaves on a white background by corbi87">
            <a:extLst>
              <a:ext uri="{FF2B5EF4-FFF2-40B4-BE49-F238E27FC236}">
                <a16:creationId xmlns:a16="http://schemas.microsoft.com/office/drawing/2014/main" id="{B36A893A-7958-807F-160D-9CCA21FF1BA3}"/>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790" b="96210" l="3397" r="93342">
                        <a14:foregroundMark x1="84918" y1="7213" x2="84918" y2="7213"/>
                        <a14:foregroundMark x1="93614" y1="3790" x2="93614" y2="3790"/>
                        <a14:foregroundMark x1="10190" y1="94499" x2="10190" y2="94499"/>
                        <a14:foregroundMark x1="3397" y1="96210" x2="3397" y2="96210"/>
                      </a14:backgroundRemoval>
                    </a14:imgEffect>
                  </a14:imgLayer>
                </a14:imgProps>
              </a:ext>
            </a:extLst>
          </a:blip>
          <a:stretch>
            <a:fillRect/>
          </a:stretch>
        </p:blipFill>
        <p:spPr>
          <a:xfrm rot="10800000">
            <a:off x="10809513" y="-126568"/>
            <a:ext cx="1623455" cy="1804329"/>
          </a:xfrm>
          <a:prstGeom prst="rect">
            <a:avLst/>
          </a:prstGeom>
        </p:spPr>
      </p:pic>
      <p:pic>
        <p:nvPicPr>
          <p:cNvPr id="12" name="Picture 11" descr="This may contain: watercolor painting of green leaves on a white background by corbi87">
            <a:extLst>
              <a:ext uri="{FF2B5EF4-FFF2-40B4-BE49-F238E27FC236}">
                <a16:creationId xmlns:a16="http://schemas.microsoft.com/office/drawing/2014/main" id="{F428971E-EF54-027C-DDD3-840138B2DD2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790" b="96210" l="3397" r="93342">
                        <a14:foregroundMark x1="84918" y1="7213" x2="84918" y2="7213"/>
                        <a14:foregroundMark x1="93614" y1="3790" x2="93614" y2="3790"/>
                        <a14:foregroundMark x1="10190" y1="94499" x2="10190" y2="94499"/>
                        <a14:foregroundMark x1="3397" y1="96210" x2="3397" y2="96210"/>
                      </a14:backgroundRemoval>
                    </a14:imgEffect>
                  </a14:imgLayer>
                </a14:imgProps>
              </a:ext>
            </a:extLst>
          </a:blip>
          <a:stretch>
            <a:fillRect/>
          </a:stretch>
        </p:blipFill>
        <p:spPr>
          <a:xfrm rot="535001">
            <a:off x="2116" y="5326723"/>
            <a:ext cx="1540065" cy="1711648"/>
          </a:xfrm>
          <a:prstGeom prst="rect">
            <a:avLst/>
          </a:prstGeom>
        </p:spPr>
      </p:pic>
      <p:pic>
        <p:nvPicPr>
          <p:cNvPr id="15" name="Picture 14" descr="This may contain: a green area with some lines going through it">
            <a:extLst>
              <a:ext uri="{FF2B5EF4-FFF2-40B4-BE49-F238E27FC236}">
                <a16:creationId xmlns:a16="http://schemas.microsoft.com/office/drawing/2014/main" id="{AC7CFE63-EEA2-0B63-271B-067D6A0B1D03}"/>
              </a:ext>
            </a:extLst>
          </p:cNvPr>
          <p:cNvPicPr>
            <a:picLocks noChangeAspect="1"/>
          </p:cNvPicPr>
          <p:nvPr/>
        </p:nvPicPr>
        <p:blipFill>
          <a:blip r:embed="rId9">
            <a:alphaModFix amt="85000"/>
            <a:extLst>
              <a:ext uri="{BEBA8EAE-BF5A-486C-A8C5-ECC9F3942E4B}">
                <a14:imgProps xmlns:a14="http://schemas.microsoft.com/office/drawing/2010/main">
                  <a14:imgLayer r:embed="rId10">
                    <a14:imgEffect>
                      <a14:backgroundRemoval t="2287" b="98753" l="2230" r="99314">
                        <a14:foregroundMark x1="6861" y1="70270" x2="16981" y2="15593"/>
                        <a14:foregroundMark x1="16981" y1="15593" x2="16467" y2="14553"/>
                        <a14:foregroundMark x1="11664" y1="14553" x2="43225" y2="10187"/>
                        <a14:foregroundMark x1="43225" y1="10187" x2="66038" y2="11642"/>
                        <a14:foregroundMark x1="77187" y1="3950" x2="3259" y2="3950"/>
                        <a14:foregroundMark x1="3259" y1="3950" x2="2401" y2="5821"/>
                        <a14:foregroundMark x1="9949" y1="91268" x2="29331" y2="54678"/>
                        <a14:foregroundMark x1="8405" y1="95218" x2="35849" y2="41164"/>
                        <a14:foregroundMark x1="6003" y1="99168" x2="5660" y2="79418"/>
                        <a14:foregroundMark x1="30360" y1="61538" x2="76501" y2="43659"/>
                        <a14:foregroundMark x1="76501" y1="43659" x2="84906" y2="30353"/>
                        <a14:foregroundMark x1="84906" y1="30353" x2="92624" y2="7069"/>
                        <a14:foregroundMark x1="46998" y1="41372" x2="92624" y2="9563"/>
                        <a14:foregroundMark x1="98456" y1="2703" x2="95712" y2="12266"/>
                        <a14:foregroundMark x1="95712" y1="12266" x2="93310" y2="16216"/>
                        <a14:foregroundMark x1="39280" y1="43035" x2="38422" y2="49480"/>
                        <a14:foregroundMark x1="37907" y1="47193" x2="34648" y2="46570"/>
                        <a14:foregroundMark x1="20926" y1="50104" x2="30189" y2="56757"/>
                        <a14:foregroundMark x1="99314" y1="2287" x2="99314" y2="2287"/>
                      </a14:backgroundRemoval>
                    </a14:imgEffect>
                    <a14:imgEffect>
                      <a14:saturation sat="66000"/>
                    </a14:imgEffect>
                  </a14:imgLayer>
                </a14:imgProps>
              </a:ext>
            </a:extLst>
          </a:blip>
          <a:srcRect l="-3475" t="2699"/>
          <a:stretch>
            <a:fillRect/>
          </a:stretch>
        </p:blipFill>
        <p:spPr>
          <a:xfrm rot="16200000" flipV="1">
            <a:off x="8136180" y="2928746"/>
            <a:ext cx="3768980" cy="4342659"/>
          </a:xfrm>
          <a:prstGeom prst="rect">
            <a:avLst/>
          </a:prstGeom>
        </p:spPr>
      </p:pic>
    </p:spTree>
    <p:extLst>
      <p:ext uri="{BB962C8B-B14F-4D97-AF65-F5344CB8AC3E}">
        <p14:creationId xmlns:p14="http://schemas.microsoft.com/office/powerpoint/2010/main" val="44279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392EB-0B37-C25B-801F-B7794E0AE9A6}"/>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6B275A46-8AA7-2EAC-39D9-5BB7E063C10E}"/>
              </a:ext>
            </a:extLst>
          </p:cNvPr>
          <p:cNvPicPr>
            <a:picLocks noChangeAspect="1"/>
          </p:cNvPicPr>
          <p:nvPr/>
        </p:nvPicPr>
        <p:blipFill>
          <a:blip r:embed="rId3">
            <a:duotone>
              <a:prstClr val="black"/>
              <a:schemeClr val="accent6">
                <a:lumMod val="40000"/>
                <a:lumOff val="60000"/>
                <a:tint val="45000"/>
                <a:satMod val="400000"/>
              </a:schemeClr>
            </a:duotone>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0" y="-1"/>
            <a:ext cx="12191999" cy="6858001"/>
          </a:xfrm>
          <a:prstGeom prst="rect">
            <a:avLst/>
          </a:prstGeom>
          <a:noFill/>
        </p:spPr>
      </p:pic>
      <p:sp>
        <p:nvSpPr>
          <p:cNvPr id="8" name="Oval 7">
            <a:extLst>
              <a:ext uri="{FF2B5EF4-FFF2-40B4-BE49-F238E27FC236}">
                <a16:creationId xmlns:a16="http://schemas.microsoft.com/office/drawing/2014/main" id="{B0D46F3B-EA37-8E37-3270-AD8266C2B5ED}"/>
              </a:ext>
            </a:extLst>
          </p:cNvPr>
          <p:cNvSpPr/>
          <p:nvPr/>
        </p:nvSpPr>
        <p:spPr>
          <a:xfrm>
            <a:off x="1556657" y="283029"/>
            <a:ext cx="2917372" cy="2786742"/>
          </a:xfrm>
          <a:prstGeom prst="ellipse">
            <a:avLst/>
          </a:prstGeom>
          <a:solidFill>
            <a:srgbClr val="3A6957"/>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 Dataset Collection</a:t>
            </a:r>
          </a:p>
        </p:txBody>
      </p:sp>
      <p:sp>
        <p:nvSpPr>
          <p:cNvPr id="11" name="Oval 10">
            <a:extLst>
              <a:ext uri="{FF2B5EF4-FFF2-40B4-BE49-F238E27FC236}">
                <a16:creationId xmlns:a16="http://schemas.microsoft.com/office/drawing/2014/main" id="{0EE6206C-2F75-683D-68C1-3E553F73098C}"/>
              </a:ext>
            </a:extLst>
          </p:cNvPr>
          <p:cNvSpPr/>
          <p:nvPr/>
        </p:nvSpPr>
        <p:spPr>
          <a:xfrm>
            <a:off x="1730829" y="2917372"/>
            <a:ext cx="2841171" cy="2666999"/>
          </a:xfrm>
          <a:prstGeom prst="ellipse">
            <a:avLst/>
          </a:prstGeom>
          <a:solidFill>
            <a:srgbClr val="E0E5D2"/>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 </a:t>
            </a:r>
            <a:r>
              <a:rPr lang="en-IN" dirty="0">
                <a:solidFill>
                  <a:schemeClr val="tx1"/>
                </a:solidFill>
              </a:rPr>
              <a:t>Data Preprocessing</a:t>
            </a:r>
          </a:p>
        </p:txBody>
      </p:sp>
      <p:sp>
        <p:nvSpPr>
          <p:cNvPr id="14" name="Oval 13">
            <a:extLst>
              <a:ext uri="{FF2B5EF4-FFF2-40B4-BE49-F238E27FC236}">
                <a16:creationId xmlns:a16="http://schemas.microsoft.com/office/drawing/2014/main" id="{A8053BA6-FA45-BF83-CAEC-0AEAFD44E562}"/>
              </a:ext>
            </a:extLst>
          </p:cNvPr>
          <p:cNvSpPr/>
          <p:nvPr/>
        </p:nvSpPr>
        <p:spPr>
          <a:xfrm>
            <a:off x="6977743" y="97973"/>
            <a:ext cx="2841171" cy="2819399"/>
          </a:xfrm>
          <a:prstGeom prst="ellipse">
            <a:avLst/>
          </a:prstGeom>
          <a:solidFill>
            <a:srgbClr val="E0E5D2"/>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 </a:t>
            </a:r>
            <a:r>
              <a:rPr lang="en-IN" dirty="0">
                <a:solidFill>
                  <a:schemeClr val="tx1"/>
                </a:solidFill>
              </a:rPr>
              <a:t>Algorithm Selection:</a:t>
            </a:r>
          </a:p>
        </p:txBody>
      </p:sp>
      <p:sp>
        <p:nvSpPr>
          <p:cNvPr id="17" name="Oval 16">
            <a:extLst>
              <a:ext uri="{FF2B5EF4-FFF2-40B4-BE49-F238E27FC236}">
                <a16:creationId xmlns:a16="http://schemas.microsoft.com/office/drawing/2014/main" id="{8F202FD4-6504-DD18-FA09-195A9475012D}"/>
              </a:ext>
            </a:extLst>
          </p:cNvPr>
          <p:cNvSpPr/>
          <p:nvPr/>
        </p:nvSpPr>
        <p:spPr>
          <a:xfrm>
            <a:off x="8044543" y="2917372"/>
            <a:ext cx="2590800" cy="2438400"/>
          </a:xfrm>
          <a:prstGeom prst="ellipse">
            <a:avLst/>
          </a:prstGeom>
          <a:solidFill>
            <a:srgbClr val="3A6957"/>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8. </a:t>
            </a:r>
            <a:r>
              <a:rPr lang="en-IN" dirty="0">
                <a:solidFill>
                  <a:schemeClr val="bg1"/>
                </a:solidFill>
              </a:rPr>
              <a:t>Nearest </a:t>
            </a:r>
            <a:r>
              <a:rPr lang="en-IN">
                <a:solidFill>
                  <a:schemeClr val="bg1"/>
                </a:solidFill>
              </a:rPr>
              <a:t>NeighboursŚŚŚŚ</a:t>
            </a:r>
            <a:endParaRPr lang="en-IN" dirty="0">
              <a:solidFill>
                <a:schemeClr val="bg1"/>
              </a:solidFill>
            </a:endParaRPr>
          </a:p>
        </p:txBody>
      </p:sp>
      <p:sp>
        <p:nvSpPr>
          <p:cNvPr id="19" name="Oval 18">
            <a:extLst>
              <a:ext uri="{FF2B5EF4-FFF2-40B4-BE49-F238E27FC236}">
                <a16:creationId xmlns:a16="http://schemas.microsoft.com/office/drawing/2014/main" id="{8666232F-D816-9393-0714-AF7A437472B8}"/>
              </a:ext>
            </a:extLst>
          </p:cNvPr>
          <p:cNvSpPr/>
          <p:nvPr/>
        </p:nvSpPr>
        <p:spPr>
          <a:xfrm>
            <a:off x="9492343" y="1273629"/>
            <a:ext cx="2286000" cy="2155371"/>
          </a:xfrm>
          <a:prstGeom prst="ellipse">
            <a:avLst/>
          </a:prstGeom>
          <a:solidFill>
            <a:srgbClr val="A4B27B"/>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 </a:t>
            </a:r>
            <a:r>
              <a:rPr lang="en-IN" dirty="0">
                <a:solidFill>
                  <a:schemeClr val="tx1"/>
                </a:solidFill>
              </a:rPr>
              <a:t>Distance Calculation</a:t>
            </a:r>
          </a:p>
        </p:txBody>
      </p:sp>
      <p:sp>
        <p:nvSpPr>
          <p:cNvPr id="24" name="Oval 23">
            <a:extLst>
              <a:ext uri="{FF2B5EF4-FFF2-40B4-BE49-F238E27FC236}">
                <a16:creationId xmlns:a16="http://schemas.microsoft.com/office/drawing/2014/main" id="{A09D703D-BD0D-35A9-1D3C-C56FA5171ADA}"/>
              </a:ext>
            </a:extLst>
          </p:cNvPr>
          <p:cNvSpPr/>
          <p:nvPr/>
        </p:nvSpPr>
        <p:spPr>
          <a:xfrm>
            <a:off x="3864428" y="4572001"/>
            <a:ext cx="1905000" cy="1828800"/>
          </a:xfrm>
          <a:prstGeom prst="ellipse">
            <a:avLst/>
          </a:prstGeom>
          <a:solidFill>
            <a:srgbClr val="CCD4B5"/>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 </a:t>
            </a:r>
            <a:r>
              <a:rPr lang="en-IN" dirty="0">
                <a:solidFill>
                  <a:schemeClr val="tx1"/>
                </a:solidFill>
              </a:rPr>
              <a:t>Dataset Splitting</a:t>
            </a:r>
          </a:p>
        </p:txBody>
      </p:sp>
      <p:sp>
        <p:nvSpPr>
          <p:cNvPr id="26" name="Oval 25">
            <a:extLst>
              <a:ext uri="{FF2B5EF4-FFF2-40B4-BE49-F238E27FC236}">
                <a16:creationId xmlns:a16="http://schemas.microsoft.com/office/drawing/2014/main" id="{944988D8-E0BA-DC75-3DA8-1BF321B73D2B}"/>
              </a:ext>
            </a:extLst>
          </p:cNvPr>
          <p:cNvSpPr/>
          <p:nvPr/>
        </p:nvSpPr>
        <p:spPr>
          <a:xfrm>
            <a:off x="48986" y="2084614"/>
            <a:ext cx="2188029" cy="2166257"/>
          </a:xfrm>
          <a:prstGeom prst="ellipse">
            <a:avLst/>
          </a:prstGeom>
          <a:solidFill>
            <a:srgbClr val="76844D"/>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 </a:t>
            </a:r>
            <a:r>
              <a:rPr lang="en-IN" dirty="0">
                <a:solidFill>
                  <a:schemeClr val="tx1"/>
                </a:solidFill>
              </a:rPr>
              <a:t>Data Loading</a:t>
            </a:r>
          </a:p>
        </p:txBody>
      </p:sp>
      <p:sp>
        <p:nvSpPr>
          <p:cNvPr id="28" name="Oval 27">
            <a:extLst>
              <a:ext uri="{FF2B5EF4-FFF2-40B4-BE49-F238E27FC236}">
                <a16:creationId xmlns:a16="http://schemas.microsoft.com/office/drawing/2014/main" id="{8D22FB97-788D-29EE-94D3-0AAD4F638998}"/>
              </a:ext>
            </a:extLst>
          </p:cNvPr>
          <p:cNvSpPr/>
          <p:nvPr/>
        </p:nvSpPr>
        <p:spPr>
          <a:xfrm>
            <a:off x="6253843" y="4376058"/>
            <a:ext cx="2373087" cy="2231571"/>
          </a:xfrm>
          <a:prstGeom prst="ellipse">
            <a:avLst/>
          </a:prstGeom>
          <a:solidFill>
            <a:srgbClr val="A4B27B"/>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 </a:t>
            </a:r>
            <a:r>
              <a:rPr lang="en-IN" dirty="0">
                <a:solidFill>
                  <a:schemeClr val="tx1"/>
                </a:solidFill>
              </a:rPr>
              <a:t>Model Integration</a:t>
            </a:r>
          </a:p>
        </p:txBody>
      </p:sp>
      <p:sp>
        <p:nvSpPr>
          <p:cNvPr id="30" name="Oval 29">
            <a:extLst>
              <a:ext uri="{FF2B5EF4-FFF2-40B4-BE49-F238E27FC236}">
                <a16:creationId xmlns:a16="http://schemas.microsoft.com/office/drawing/2014/main" id="{2D7D2686-ACD5-BFAE-CDF6-96449766D6A6}"/>
              </a:ext>
            </a:extLst>
          </p:cNvPr>
          <p:cNvSpPr/>
          <p:nvPr/>
        </p:nvSpPr>
        <p:spPr>
          <a:xfrm>
            <a:off x="174172" y="4335236"/>
            <a:ext cx="2590800" cy="2476500"/>
          </a:xfrm>
          <a:prstGeom prst="ellipse">
            <a:avLst/>
          </a:prstGeom>
          <a:solidFill>
            <a:srgbClr val="568059"/>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 </a:t>
            </a:r>
            <a:r>
              <a:rPr lang="en-IN" dirty="0">
                <a:solidFill>
                  <a:schemeClr val="bg1"/>
                </a:solidFill>
              </a:rPr>
              <a:t>Feature Selection:</a:t>
            </a:r>
          </a:p>
        </p:txBody>
      </p:sp>
      <p:sp>
        <p:nvSpPr>
          <p:cNvPr id="32" name="Oval 31">
            <a:extLst>
              <a:ext uri="{FF2B5EF4-FFF2-40B4-BE49-F238E27FC236}">
                <a16:creationId xmlns:a16="http://schemas.microsoft.com/office/drawing/2014/main" id="{833C71AF-837F-808F-A69D-1EB6D71830FF}"/>
              </a:ext>
            </a:extLst>
          </p:cNvPr>
          <p:cNvSpPr/>
          <p:nvPr/>
        </p:nvSpPr>
        <p:spPr>
          <a:xfrm>
            <a:off x="8694964" y="4659085"/>
            <a:ext cx="1866900" cy="1850571"/>
          </a:xfrm>
          <a:prstGeom prst="ellipse">
            <a:avLst/>
          </a:prstGeom>
          <a:solidFill>
            <a:srgbClr val="E0E5D2"/>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r>
              <a:rPr lang="en-IN" dirty="0">
                <a:solidFill>
                  <a:schemeClr val="tx1"/>
                </a:solidFill>
              </a:rPr>
              <a:t> Result Display</a:t>
            </a:r>
          </a:p>
        </p:txBody>
      </p:sp>
      <p:sp>
        <p:nvSpPr>
          <p:cNvPr id="34" name="Oval 33">
            <a:extLst>
              <a:ext uri="{FF2B5EF4-FFF2-40B4-BE49-F238E27FC236}">
                <a16:creationId xmlns:a16="http://schemas.microsoft.com/office/drawing/2014/main" id="{F5B2FC1B-B5CD-43F2-4BF4-84DA263BB282}"/>
              </a:ext>
            </a:extLst>
          </p:cNvPr>
          <p:cNvSpPr/>
          <p:nvPr/>
        </p:nvSpPr>
        <p:spPr>
          <a:xfrm>
            <a:off x="10199913" y="3429000"/>
            <a:ext cx="2041072" cy="1926772"/>
          </a:xfrm>
          <a:prstGeom prst="ellipse">
            <a:avLst/>
          </a:prstGeom>
          <a:solidFill>
            <a:srgbClr val="76844D"/>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r>
              <a:rPr lang="en-IN" dirty="0">
                <a:solidFill>
                  <a:schemeClr val="tx1"/>
                </a:solidFill>
              </a:rPr>
              <a:t> Classification</a:t>
            </a:r>
          </a:p>
        </p:txBody>
      </p:sp>
      <p:sp>
        <p:nvSpPr>
          <p:cNvPr id="5" name="Oval 4">
            <a:extLst>
              <a:ext uri="{FF2B5EF4-FFF2-40B4-BE49-F238E27FC236}">
                <a16:creationId xmlns:a16="http://schemas.microsoft.com/office/drawing/2014/main" id="{4AC13392-5D00-90DC-D071-B6DE2E730003}"/>
              </a:ext>
            </a:extLst>
          </p:cNvPr>
          <p:cNvSpPr/>
          <p:nvPr/>
        </p:nvSpPr>
        <p:spPr>
          <a:xfrm>
            <a:off x="4111553" y="1502230"/>
            <a:ext cx="3984171" cy="3853542"/>
          </a:xfrm>
          <a:prstGeom prst="ellipse">
            <a:avLst/>
          </a:prstGeom>
          <a:solidFill>
            <a:srgbClr val="568059"/>
          </a:solidFill>
          <a:ln>
            <a:noFill/>
          </a:ln>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3ACC61C0-3F4C-E00F-920A-6E6ACD1028BC}"/>
              </a:ext>
            </a:extLst>
          </p:cNvPr>
          <p:cNvSpPr/>
          <p:nvPr/>
        </p:nvSpPr>
        <p:spPr>
          <a:xfrm>
            <a:off x="4329265" y="2016614"/>
            <a:ext cx="3533468" cy="2585323"/>
          </a:xfrm>
          <a:prstGeom prst="rect">
            <a:avLst/>
          </a:prstGeom>
          <a:noFill/>
          <a:effectLst>
            <a:outerShdw blurRad="50800" dist="50800" dir="5400000" algn="ctr" rotWithShape="0">
              <a:srgbClr val="000000">
                <a:alpha val="43137"/>
              </a:srgbClr>
            </a:outerShdw>
          </a:effectLst>
        </p:spPr>
        <p:txBody>
          <a:bodyPr wrap="square" lIns="91440" tIns="45720" rIns="91440" bIns="45720">
            <a:spAutoFit/>
          </a:bodyPr>
          <a:lstStyle/>
          <a:p>
            <a:pPr algn="ctr"/>
            <a:r>
              <a:rPr lang="en-US" sz="5400" dirty="0">
                <a:ln w="0"/>
                <a:effectLst>
                  <a:outerShdw blurRad="38100" dist="19050" dir="2700000" algn="tl" rotWithShape="0">
                    <a:schemeClr val="dk1">
                      <a:alpha val="40000"/>
                    </a:schemeClr>
                  </a:outerShdw>
                </a:effectLst>
                <a:latin typeface="Agency FB" panose="020B0503020202020204" pitchFamily="34" charset="0"/>
              </a:rPr>
              <a:t>BEHIND</a:t>
            </a:r>
          </a:p>
          <a:p>
            <a:pPr algn="ctr"/>
            <a:r>
              <a:rPr lang="en-US" sz="5400" dirty="0">
                <a:ln w="0"/>
                <a:effectLst>
                  <a:outerShdw blurRad="38100" dist="19050" dir="2700000" algn="tl" rotWithShape="0">
                    <a:schemeClr val="dk1">
                      <a:alpha val="40000"/>
                    </a:schemeClr>
                  </a:outerShdw>
                </a:effectLst>
                <a:latin typeface="Agency FB" panose="020B0503020202020204" pitchFamily="34" charset="0"/>
              </a:rPr>
              <a:t>THE PREDICTIONS</a:t>
            </a:r>
            <a:endParaRPr lang="en-US" sz="5400" b="0" cap="none" spc="0" dirty="0">
              <a:ln w="0"/>
              <a:solidFill>
                <a:schemeClr val="tx1"/>
              </a:solidFill>
              <a:effectLst>
                <a:outerShdw blurRad="38100" dist="19050" dir="2700000" algn="tl" rotWithShape="0">
                  <a:schemeClr val="dk1">
                    <a:alpha val="40000"/>
                  </a:schemeClr>
                </a:outerShdw>
              </a:effectLst>
              <a:latin typeface="Agency FB" panose="020B0503020202020204" pitchFamily="34" charset="0"/>
            </a:endParaRPr>
          </a:p>
        </p:txBody>
      </p:sp>
    </p:spTree>
    <p:extLst>
      <p:ext uri="{BB962C8B-B14F-4D97-AF65-F5344CB8AC3E}">
        <p14:creationId xmlns:p14="http://schemas.microsoft.com/office/powerpoint/2010/main" val="3351753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1D95F744-8844-F2CA-8361-9DBC3B7A4E4E}"/>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0" y="-1"/>
            <a:ext cx="12191999" cy="6858001"/>
          </a:xfrm>
          <a:prstGeom prst="rect">
            <a:avLst/>
          </a:prstGeom>
          <a:noFill/>
        </p:spPr>
      </p:pic>
      <p:sp>
        <p:nvSpPr>
          <p:cNvPr id="11" name="Freeform: Shape 10">
            <a:extLst>
              <a:ext uri="{FF2B5EF4-FFF2-40B4-BE49-F238E27FC236}">
                <a16:creationId xmlns:a16="http://schemas.microsoft.com/office/drawing/2014/main" id="{8ADFBC1C-FC1D-9FAC-3578-24DD0A6DD88B}"/>
              </a:ext>
            </a:extLst>
          </p:cNvPr>
          <p:cNvSpPr/>
          <p:nvPr/>
        </p:nvSpPr>
        <p:spPr>
          <a:xfrm>
            <a:off x="0" y="0"/>
            <a:ext cx="5056939" cy="6858000"/>
          </a:xfrm>
          <a:custGeom>
            <a:avLst/>
            <a:gdLst>
              <a:gd name="csX0" fmla="*/ 0 w 5056939"/>
              <a:gd name="csY0" fmla="*/ 0 h 6858000"/>
              <a:gd name="csX1" fmla="*/ 2538324 w 5056939"/>
              <a:gd name="csY1" fmla="*/ 0 h 6858000"/>
              <a:gd name="csX2" fmla="*/ 2763186 w 5056939"/>
              <a:gd name="csY2" fmla="*/ 190670 h 6858000"/>
              <a:gd name="csX3" fmla="*/ 3287486 w 5056939"/>
              <a:gd name="csY3" fmla="*/ 968829 h 6858000"/>
              <a:gd name="csX4" fmla="*/ 3243943 w 5056939"/>
              <a:gd name="csY4" fmla="*/ 2688771 h 6858000"/>
              <a:gd name="csX5" fmla="*/ 4713514 w 5056939"/>
              <a:gd name="csY5" fmla="*/ 3037114 h 6858000"/>
              <a:gd name="csX6" fmla="*/ 4376057 w 5056939"/>
              <a:gd name="csY6" fmla="*/ 4931229 h 6858000"/>
              <a:gd name="csX7" fmla="*/ 5050971 w 5056939"/>
              <a:gd name="csY7" fmla="*/ 5856514 h 6858000"/>
              <a:gd name="csX8" fmla="*/ 4724400 w 5056939"/>
              <a:gd name="csY8" fmla="*/ 6858000 h 6858000"/>
              <a:gd name="csX9" fmla="*/ 0 w 5056939"/>
              <a:gd name="csY9" fmla="*/ 6858000 h 6858000"/>
              <a:gd name="csX10" fmla="*/ 0 w 5056939"/>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056939" h="6858000">
                <a:moveTo>
                  <a:pt x="0" y="0"/>
                </a:moveTo>
                <a:lnTo>
                  <a:pt x="2538324" y="0"/>
                </a:lnTo>
                <a:lnTo>
                  <a:pt x="2763186" y="190670"/>
                </a:lnTo>
                <a:cubicBezTo>
                  <a:pt x="2994592" y="398009"/>
                  <a:pt x="3197679" y="631372"/>
                  <a:pt x="3287486" y="968829"/>
                </a:cubicBezTo>
                <a:cubicBezTo>
                  <a:pt x="3407229" y="1418772"/>
                  <a:pt x="3006272" y="2344057"/>
                  <a:pt x="3243943" y="2688771"/>
                </a:cubicBezTo>
                <a:cubicBezTo>
                  <a:pt x="3481614" y="3033485"/>
                  <a:pt x="4524828" y="2663371"/>
                  <a:pt x="4713514" y="3037114"/>
                </a:cubicBezTo>
                <a:cubicBezTo>
                  <a:pt x="4902200" y="3410857"/>
                  <a:pt x="4319814" y="4461329"/>
                  <a:pt x="4376057" y="4931229"/>
                </a:cubicBezTo>
                <a:cubicBezTo>
                  <a:pt x="4432300" y="5401129"/>
                  <a:pt x="4992914" y="5535386"/>
                  <a:pt x="5050971" y="5856514"/>
                </a:cubicBezTo>
                <a:cubicBezTo>
                  <a:pt x="5109028" y="6177643"/>
                  <a:pt x="4724400" y="6858000"/>
                  <a:pt x="4724400" y="6858000"/>
                </a:cubicBezTo>
                <a:lnTo>
                  <a:pt x="0" y="6858000"/>
                </a:lnTo>
                <a:lnTo>
                  <a:pt x="0" y="0"/>
                </a:lnTo>
                <a:close/>
              </a:path>
            </a:pathLst>
          </a:custGeom>
          <a:solidFill>
            <a:srgbClr val="568059"/>
          </a:solidFill>
          <a:effectLst>
            <a:outerShdw blurRad="50800" dist="190500" dir="5400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Freeform: Shape 8">
            <a:extLst>
              <a:ext uri="{FF2B5EF4-FFF2-40B4-BE49-F238E27FC236}">
                <a16:creationId xmlns:a16="http://schemas.microsoft.com/office/drawing/2014/main" id="{AD2B9768-B3B2-CD79-25E5-F66D78811E4D}"/>
              </a:ext>
            </a:extLst>
          </p:cNvPr>
          <p:cNvSpPr/>
          <p:nvPr/>
        </p:nvSpPr>
        <p:spPr>
          <a:xfrm>
            <a:off x="2748901" y="-2"/>
            <a:ext cx="9653675" cy="6858000"/>
          </a:xfrm>
          <a:custGeom>
            <a:avLst/>
            <a:gdLst>
              <a:gd name="csX0" fmla="*/ 0 w 9653675"/>
              <a:gd name="csY0" fmla="*/ 0 h 6858000"/>
              <a:gd name="csX1" fmla="*/ 9653675 w 9653675"/>
              <a:gd name="csY1" fmla="*/ 0 h 6858000"/>
              <a:gd name="csX2" fmla="*/ 9653675 w 9653675"/>
              <a:gd name="csY2" fmla="*/ 6858000 h 6858000"/>
              <a:gd name="csX3" fmla="*/ 2186076 w 9653675"/>
              <a:gd name="csY3" fmla="*/ 6858000 h 6858000"/>
              <a:gd name="csX4" fmla="*/ 2512647 w 9653675"/>
              <a:gd name="csY4" fmla="*/ 5856514 h 6858000"/>
              <a:gd name="csX5" fmla="*/ 1837733 w 9653675"/>
              <a:gd name="csY5" fmla="*/ 4931229 h 6858000"/>
              <a:gd name="csX6" fmla="*/ 2175190 w 9653675"/>
              <a:gd name="csY6" fmla="*/ 3037114 h 6858000"/>
              <a:gd name="csX7" fmla="*/ 705619 w 9653675"/>
              <a:gd name="csY7" fmla="*/ 2688771 h 6858000"/>
              <a:gd name="csX8" fmla="*/ 749162 w 9653675"/>
              <a:gd name="csY8" fmla="*/ 968829 h 6858000"/>
              <a:gd name="csX9" fmla="*/ 224862 w 9653675"/>
              <a:gd name="csY9" fmla="*/ 190670 h 6858000"/>
              <a:gd name="csX10" fmla="*/ 0 w 9653675"/>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653675" h="6858000">
                <a:moveTo>
                  <a:pt x="0" y="0"/>
                </a:moveTo>
                <a:lnTo>
                  <a:pt x="9653675" y="0"/>
                </a:lnTo>
                <a:lnTo>
                  <a:pt x="9653675" y="6858000"/>
                </a:lnTo>
                <a:lnTo>
                  <a:pt x="2186076" y="6858000"/>
                </a:lnTo>
                <a:cubicBezTo>
                  <a:pt x="2186076" y="6858000"/>
                  <a:pt x="2570704" y="6177643"/>
                  <a:pt x="2512647" y="5856514"/>
                </a:cubicBezTo>
                <a:cubicBezTo>
                  <a:pt x="2454590" y="5535386"/>
                  <a:pt x="1893976" y="5401129"/>
                  <a:pt x="1837733" y="4931229"/>
                </a:cubicBezTo>
                <a:cubicBezTo>
                  <a:pt x="1781490" y="4461329"/>
                  <a:pt x="2363876" y="3410857"/>
                  <a:pt x="2175190" y="3037114"/>
                </a:cubicBezTo>
                <a:cubicBezTo>
                  <a:pt x="1986504" y="2663371"/>
                  <a:pt x="943290" y="3033485"/>
                  <a:pt x="705619" y="2688771"/>
                </a:cubicBezTo>
                <a:cubicBezTo>
                  <a:pt x="467948" y="2344057"/>
                  <a:pt x="868905" y="1418772"/>
                  <a:pt x="749162" y="968829"/>
                </a:cubicBezTo>
                <a:cubicBezTo>
                  <a:pt x="659355" y="631372"/>
                  <a:pt x="456268" y="398009"/>
                  <a:pt x="224862" y="190670"/>
                </a:cubicBezTo>
                <a:lnTo>
                  <a:pt x="0" y="0"/>
                </a:lnTo>
                <a:close/>
              </a:path>
            </a:pathLst>
          </a:custGeom>
          <a:solidFill>
            <a:srgbClr val="568059"/>
          </a:solidFill>
          <a:effectLst>
            <a:outerShdw blurRad="50800" dist="190500" dir="5400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 name="Freeform: Shape 12">
            <a:extLst>
              <a:ext uri="{FF2B5EF4-FFF2-40B4-BE49-F238E27FC236}">
                <a16:creationId xmlns:a16="http://schemas.microsoft.com/office/drawing/2014/main" id="{8618C5A9-EC89-0637-A001-265C3BE67466}"/>
              </a:ext>
            </a:extLst>
          </p:cNvPr>
          <p:cNvSpPr/>
          <p:nvPr/>
        </p:nvSpPr>
        <p:spPr>
          <a:xfrm>
            <a:off x="-440676" y="0"/>
            <a:ext cx="5056939" cy="6858000"/>
          </a:xfrm>
          <a:custGeom>
            <a:avLst/>
            <a:gdLst>
              <a:gd name="csX0" fmla="*/ 0 w 5056939"/>
              <a:gd name="csY0" fmla="*/ 0 h 6858000"/>
              <a:gd name="csX1" fmla="*/ 2538324 w 5056939"/>
              <a:gd name="csY1" fmla="*/ 0 h 6858000"/>
              <a:gd name="csX2" fmla="*/ 2763186 w 5056939"/>
              <a:gd name="csY2" fmla="*/ 190670 h 6858000"/>
              <a:gd name="csX3" fmla="*/ 3287486 w 5056939"/>
              <a:gd name="csY3" fmla="*/ 968829 h 6858000"/>
              <a:gd name="csX4" fmla="*/ 3243943 w 5056939"/>
              <a:gd name="csY4" fmla="*/ 2688771 h 6858000"/>
              <a:gd name="csX5" fmla="*/ 4713514 w 5056939"/>
              <a:gd name="csY5" fmla="*/ 3037114 h 6858000"/>
              <a:gd name="csX6" fmla="*/ 4376057 w 5056939"/>
              <a:gd name="csY6" fmla="*/ 4931229 h 6858000"/>
              <a:gd name="csX7" fmla="*/ 5050971 w 5056939"/>
              <a:gd name="csY7" fmla="*/ 5856514 h 6858000"/>
              <a:gd name="csX8" fmla="*/ 4724400 w 5056939"/>
              <a:gd name="csY8" fmla="*/ 6858000 h 6858000"/>
              <a:gd name="csX9" fmla="*/ 0 w 5056939"/>
              <a:gd name="csY9" fmla="*/ 6858000 h 6858000"/>
              <a:gd name="csX10" fmla="*/ 0 w 5056939"/>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056939" h="6858000">
                <a:moveTo>
                  <a:pt x="0" y="0"/>
                </a:moveTo>
                <a:lnTo>
                  <a:pt x="2538324" y="0"/>
                </a:lnTo>
                <a:lnTo>
                  <a:pt x="2763186" y="190670"/>
                </a:lnTo>
                <a:cubicBezTo>
                  <a:pt x="2994592" y="398009"/>
                  <a:pt x="3197679" y="631372"/>
                  <a:pt x="3287486" y="968829"/>
                </a:cubicBezTo>
                <a:cubicBezTo>
                  <a:pt x="3407229" y="1418772"/>
                  <a:pt x="3006272" y="2344057"/>
                  <a:pt x="3243943" y="2688771"/>
                </a:cubicBezTo>
                <a:cubicBezTo>
                  <a:pt x="3481614" y="3033485"/>
                  <a:pt x="4524828" y="2663371"/>
                  <a:pt x="4713514" y="3037114"/>
                </a:cubicBezTo>
                <a:cubicBezTo>
                  <a:pt x="4902200" y="3410857"/>
                  <a:pt x="4319814" y="4461329"/>
                  <a:pt x="4376057" y="4931229"/>
                </a:cubicBezTo>
                <a:cubicBezTo>
                  <a:pt x="4432300" y="5401129"/>
                  <a:pt x="4992914" y="5535386"/>
                  <a:pt x="5050971" y="5856514"/>
                </a:cubicBezTo>
                <a:cubicBezTo>
                  <a:pt x="5109028" y="6177643"/>
                  <a:pt x="4724400" y="6858000"/>
                  <a:pt x="4724400" y="6858000"/>
                </a:cubicBezTo>
                <a:lnTo>
                  <a:pt x="0" y="6858000"/>
                </a:lnTo>
                <a:lnTo>
                  <a:pt x="0" y="0"/>
                </a:lnTo>
                <a:close/>
              </a:path>
            </a:pathLst>
          </a:custGeom>
          <a:solidFill>
            <a:srgbClr val="568059"/>
          </a:solidFill>
          <a:effectLst>
            <a:outerShdw blurRad="50800" dist="190500" dir="5400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5" name="Freeform: Shape 14">
            <a:extLst>
              <a:ext uri="{FF2B5EF4-FFF2-40B4-BE49-F238E27FC236}">
                <a16:creationId xmlns:a16="http://schemas.microsoft.com/office/drawing/2014/main" id="{B98F8E92-DEBE-E182-353E-0EB913907BA7}"/>
              </a:ext>
            </a:extLst>
          </p:cNvPr>
          <p:cNvSpPr/>
          <p:nvPr/>
        </p:nvSpPr>
        <p:spPr>
          <a:xfrm>
            <a:off x="3252645" y="-4"/>
            <a:ext cx="9653675" cy="6858000"/>
          </a:xfrm>
          <a:custGeom>
            <a:avLst/>
            <a:gdLst>
              <a:gd name="csX0" fmla="*/ 0 w 9653675"/>
              <a:gd name="csY0" fmla="*/ 0 h 6858000"/>
              <a:gd name="csX1" fmla="*/ 9653675 w 9653675"/>
              <a:gd name="csY1" fmla="*/ 0 h 6858000"/>
              <a:gd name="csX2" fmla="*/ 9653675 w 9653675"/>
              <a:gd name="csY2" fmla="*/ 6858000 h 6858000"/>
              <a:gd name="csX3" fmla="*/ 2186076 w 9653675"/>
              <a:gd name="csY3" fmla="*/ 6858000 h 6858000"/>
              <a:gd name="csX4" fmla="*/ 2512647 w 9653675"/>
              <a:gd name="csY4" fmla="*/ 5856514 h 6858000"/>
              <a:gd name="csX5" fmla="*/ 1837733 w 9653675"/>
              <a:gd name="csY5" fmla="*/ 4931229 h 6858000"/>
              <a:gd name="csX6" fmla="*/ 2175190 w 9653675"/>
              <a:gd name="csY6" fmla="*/ 3037114 h 6858000"/>
              <a:gd name="csX7" fmla="*/ 705619 w 9653675"/>
              <a:gd name="csY7" fmla="*/ 2688771 h 6858000"/>
              <a:gd name="csX8" fmla="*/ 749162 w 9653675"/>
              <a:gd name="csY8" fmla="*/ 968829 h 6858000"/>
              <a:gd name="csX9" fmla="*/ 224862 w 9653675"/>
              <a:gd name="csY9" fmla="*/ 190670 h 6858000"/>
              <a:gd name="csX10" fmla="*/ 0 w 9653675"/>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653675" h="6858000">
                <a:moveTo>
                  <a:pt x="0" y="0"/>
                </a:moveTo>
                <a:lnTo>
                  <a:pt x="9653675" y="0"/>
                </a:lnTo>
                <a:lnTo>
                  <a:pt x="9653675" y="6858000"/>
                </a:lnTo>
                <a:lnTo>
                  <a:pt x="2186076" y="6858000"/>
                </a:lnTo>
                <a:cubicBezTo>
                  <a:pt x="2186076" y="6858000"/>
                  <a:pt x="2570704" y="6177643"/>
                  <a:pt x="2512647" y="5856514"/>
                </a:cubicBezTo>
                <a:cubicBezTo>
                  <a:pt x="2454590" y="5535386"/>
                  <a:pt x="1893976" y="5401129"/>
                  <a:pt x="1837733" y="4931229"/>
                </a:cubicBezTo>
                <a:cubicBezTo>
                  <a:pt x="1781490" y="4461329"/>
                  <a:pt x="2363876" y="3410857"/>
                  <a:pt x="2175190" y="3037114"/>
                </a:cubicBezTo>
                <a:cubicBezTo>
                  <a:pt x="1986504" y="2663371"/>
                  <a:pt x="943290" y="3033485"/>
                  <a:pt x="705619" y="2688771"/>
                </a:cubicBezTo>
                <a:cubicBezTo>
                  <a:pt x="467948" y="2344057"/>
                  <a:pt x="868905" y="1418772"/>
                  <a:pt x="749162" y="968829"/>
                </a:cubicBezTo>
                <a:cubicBezTo>
                  <a:pt x="659355" y="631372"/>
                  <a:pt x="456268" y="398009"/>
                  <a:pt x="224862" y="190670"/>
                </a:cubicBezTo>
                <a:lnTo>
                  <a:pt x="0" y="0"/>
                </a:lnTo>
                <a:close/>
              </a:path>
            </a:pathLst>
          </a:custGeom>
          <a:solidFill>
            <a:srgbClr val="568059"/>
          </a:solidFill>
          <a:effectLst>
            <a:outerShdw blurRad="50800" dist="190500" dir="5400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12016961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8B4FC-6332-5CB0-EC24-D1A0056202FC}"/>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2DABB3A7-E870-E22B-0231-9EA873E0101F}"/>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0" y="-1"/>
            <a:ext cx="12191999" cy="6858001"/>
          </a:xfrm>
          <a:prstGeom prst="rect">
            <a:avLst/>
          </a:prstGeom>
          <a:noFill/>
        </p:spPr>
      </p:pic>
      <p:sp>
        <p:nvSpPr>
          <p:cNvPr id="11" name="Freeform: Shape 10">
            <a:extLst>
              <a:ext uri="{FF2B5EF4-FFF2-40B4-BE49-F238E27FC236}">
                <a16:creationId xmlns:a16="http://schemas.microsoft.com/office/drawing/2014/main" id="{EBB9A6C6-7A35-5F90-042B-E5A988C83FEF}"/>
              </a:ext>
            </a:extLst>
          </p:cNvPr>
          <p:cNvSpPr/>
          <p:nvPr/>
        </p:nvSpPr>
        <p:spPr>
          <a:xfrm>
            <a:off x="-183105" y="-6"/>
            <a:ext cx="5056939" cy="8207834"/>
          </a:xfrm>
          <a:custGeom>
            <a:avLst/>
            <a:gdLst>
              <a:gd name="csX0" fmla="*/ 0 w 5056939"/>
              <a:gd name="csY0" fmla="*/ 0 h 6858000"/>
              <a:gd name="csX1" fmla="*/ 2538324 w 5056939"/>
              <a:gd name="csY1" fmla="*/ 0 h 6858000"/>
              <a:gd name="csX2" fmla="*/ 2763186 w 5056939"/>
              <a:gd name="csY2" fmla="*/ 190670 h 6858000"/>
              <a:gd name="csX3" fmla="*/ 3287486 w 5056939"/>
              <a:gd name="csY3" fmla="*/ 968829 h 6858000"/>
              <a:gd name="csX4" fmla="*/ 3243943 w 5056939"/>
              <a:gd name="csY4" fmla="*/ 2688771 h 6858000"/>
              <a:gd name="csX5" fmla="*/ 4713514 w 5056939"/>
              <a:gd name="csY5" fmla="*/ 3037114 h 6858000"/>
              <a:gd name="csX6" fmla="*/ 4376057 w 5056939"/>
              <a:gd name="csY6" fmla="*/ 4931229 h 6858000"/>
              <a:gd name="csX7" fmla="*/ 5050971 w 5056939"/>
              <a:gd name="csY7" fmla="*/ 5856514 h 6858000"/>
              <a:gd name="csX8" fmla="*/ 4724400 w 5056939"/>
              <a:gd name="csY8" fmla="*/ 6858000 h 6858000"/>
              <a:gd name="csX9" fmla="*/ 0 w 5056939"/>
              <a:gd name="csY9" fmla="*/ 6858000 h 6858000"/>
              <a:gd name="csX10" fmla="*/ 0 w 5056939"/>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056939" h="6858000">
                <a:moveTo>
                  <a:pt x="0" y="0"/>
                </a:moveTo>
                <a:lnTo>
                  <a:pt x="2538324" y="0"/>
                </a:lnTo>
                <a:lnTo>
                  <a:pt x="2763186" y="190670"/>
                </a:lnTo>
                <a:cubicBezTo>
                  <a:pt x="2994592" y="398009"/>
                  <a:pt x="3197679" y="631372"/>
                  <a:pt x="3287486" y="968829"/>
                </a:cubicBezTo>
                <a:cubicBezTo>
                  <a:pt x="3407229" y="1418772"/>
                  <a:pt x="3006272" y="2344057"/>
                  <a:pt x="3243943" y="2688771"/>
                </a:cubicBezTo>
                <a:cubicBezTo>
                  <a:pt x="3481614" y="3033485"/>
                  <a:pt x="4524828" y="2663371"/>
                  <a:pt x="4713514" y="3037114"/>
                </a:cubicBezTo>
                <a:cubicBezTo>
                  <a:pt x="4902200" y="3410857"/>
                  <a:pt x="4319814" y="4461329"/>
                  <a:pt x="4376057" y="4931229"/>
                </a:cubicBezTo>
                <a:cubicBezTo>
                  <a:pt x="4432300" y="5401129"/>
                  <a:pt x="4992914" y="5535386"/>
                  <a:pt x="5050971" y="5856514"/>
                </a:cubicBezTo>
                <a:cubicBezTo>
                  <a:pt x="5109028" y="6177643"/>
                  <a:pt x="4724400" y="6858000"/>
                  <a:pt x="4724400" y="6858000"/>
                </a:cubicBezTo>
                <a:lnTo>
                  <a:pt x="0" y="6858000"/>
                </a:lnTo>
                <a:lnTo>
                  <a:pt x="0" y="0"/>
                </a:lnTo>
                <a:close/>
              </a:path>
            </a:pathLst>
          </a:custGeom>
          <a:solidFill>
            <a:srgbClr val="568059"/>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Freeform: Shape 8">
            <a:extLst>
              <a:ext uri="{FF2B5EF4-FFF2-40B4-BE49-F238E27FC236}">
                <a16:creationId xmlns:a16="http://schemas.microsoft.com/office/drawing/2014/main" id="{9219729C-4E1D-9FF0-6529-2AC12F9FAD99}"/>
              </a:ext>
            </a:extLst>
          </p:cNvPr>
          <p:cNvSpPr/>
          <p:nvPr/>
        </p:nvSpPr>
        <p:spPr>
          <a:xfrm>
            <a:off x="7365162" y="-771499"/>
            <a:ext cx="9653675" cy="8011888"/>
          </a:xfrm>
          <a:custGeom>
            <a:avLst/>
            <a:gdLst>
              <a:gd name="csX0" fmla="*/ 0 w 9653675"/>
              <a:gd name="csY0" fmla="*/ 0 h 6858000"/>
              <a:gd name="csX1" fmla="*/ 9653675 w 9653675"/>
              <a:gd name="csY1" fmla="*/ 0 h 6858000"/>
              <a:gd name="csX2" fmla="*/ 9653675 w 9653675"/>
              <a:gd name="csY2" fmla="*/ 6858000 h 6858000"/>
              <a:gd name="csX3" fmla="*/ 2186076 w 9653675"/>
              <a:gd name="csY3" fmla="*/ 6858000 h 6858000"/>
              <a:gd name="csX4" fmla="*/ 2512647 w 9653675"/>
              <a:gd name="csY4" fmla="*/ 5856514 h 6858000"/>
              <a:gd name="csX5" fmla="*/ 1837733 w 9653675"/>
              <a:gd name="csY5" fmla="*/ 4931229 h 6858000"/>
              <a:gd name="csX6" fmla="*/ 2175190 w 9653675"/>
              <a:gd name="csY6" fmla="*/ 3037114 h 6858000"/>
              <a:gd name="csX7" fmla="*/ 705619 w 9653675"/>
              <a:gd name="csY7" fmla="*/ 2688771 h 6858000"/>
              <a:gd name="csX8" fmla="*/ 749162 w 9653675"/>
              <a:gd name="csY8" fmla="*/ 968829 h 6858000"/>
              <a:gd name="csX9" fmla="*/ 224862 w 9653675"/>
              <a:gd name="csY9" fmla="*/ 190670 h 6858000"/>
              <a:gd name="csX10" fmla="*/ 0 w 9653675"/>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653675" h="6858000">
                <a:moveTo>
                  <a:pt x="0" y="0"/>
                </a:moveTo>
                <a:lnTo>
                  <a:pt x="9653675" y="0"/>
                </a:lnTo>
                <a:lnTo>
                  <a:pt x="9653675" y="6858000"/>
                </a:lnTo>
                <a:lnTo>
                  <a:pt x="2186076" y="6858000"/>
                </a:lnTo>
                <a:cubicBezTo>
                  <a:pt x="2186076" y="6858000"/>
                  <a:pt x="2570704" y="6177643"/>
                  <a:pt x="2512647" y="5856514"/>
                </a:cubicBezTo>
                <a:cubicBezTo>
                  <a:pt x="2454590" y="5535386"/>
                  <a:pt x="1893976" y="5401129"/>
                  <a:pt x="1837733" y="4931229"/>
                </a:cubicBezTo>
                <a:cubicBezTo>
                  <a:pt x="1781490" y="4461329"/>
                  <a:pt x="2363876" y="3410857"/>
                  <a:pt x="2175190" y="3037114"/>
                </a:cubicBezTo>
                <a:cubicBezTo>
                  <a:pt x="1986504" y="2663371"/>
                  <a:pt x="943290" y="3033485"/>
                  <a:pt x="705619" y="2688771"/>
                </a:cubicBezTo>
                <a:cubicBezTo>
                  <a:pt x="467948" y="2344057"/>
                  <a:pt x="868905" y="1418772"/>
                  <a:pt x="749162" y="968829"/>
                </a:cubicBezTo>
                <a:cubicBezTo>
                  <a:pt x="659355" y="631372"/>
                  <a:pt x="456268" y="398009"/>
                  <a:pt x="224862" y="190670"/>
                </a:cubicBezTo>
                <a:lnTo>
                  <a:pt x="0" y="0"/>
                </a:lnTo>
                <a:close/>
              </a:path>
            </a:pathLst>
          </a:custGeom>
          <a:solidFill>
            <a:srgbClr val="568059"/>
          </a:solidFill>
          <a:effectLst>
            <a:outerShdw blurRad="50800" dist="190500" dir="5400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 name="Freeform: Shape 12">
            <a:extLst>
              <a:ext uri="{FF2B5EF4-FFF2-40B4-BE49-F238E27FC236}">
                <a16:creationId xmlns:a16="http://schemas.microsoft.com/office/drawing/2014/main" id="{A3A4F4A2-5836-3956-21AB-6DC7679751D3}"/>
              </a:ext>
            </a:extLst>
          </p:cNvPr>
          <p:cNvSpPr/>
          <p:nvPr/>
        </p:nvSpPr>
        <p:spPr>
          <a:xfrm>
            <a:off x="-902147" y="-97971"/>
            <a:ext cx="5056939" cy="10036629"/>
          </a:xfrm>
          <a:custGeom>
            <a:avLst/>
            <a:gdLst>
              <a:gd name="csX0" fmla="*/ 0 w 5056939"/>
              <a:gd name="csY0" fmla="*/ 0 h 6858000"/>
              <a:gd name="csX1" fmla="*/ 2538324 w 5056939"/>
              <a:gd name="csY1" fmla="*/ 0 h 6858000"/>
              <a:gd name="csX2" fmla="*/ 2763186 w 5056939"/>
              <a:gd name="csY2" fmla="*/ 190670 h 6858000"/>
              <a:gd name="csX3" fmla="*/ 3287486 w 5056939"/>
              <a:gd name="csY3" fmla="*/ 968829 h 6858000"/>
              <a:gd name="csX4" fmla="*/ 3243943 w 5056939"/>
              <a:gd name="csY4" fmla="*/ 2688771 h 6858000"/>
              <a:gd name="csX5" fmla="*/ 4713514 w 5056939"/>
              <a:gd name="csY5" fmla="*/ 3037114 h 6858000"/>
              <a:gd name="csX6" fmla="*/ 4376057 w 5056939"/>
              <a:gd name="csY6" fmla="*/ 4931229 h 6858000"/>
              <a:gd name="csX7" fmla="*/ 5050971 w 5056939"/>
              <a:gd name="csY7" fmla="*/ 5856514 h 6858000"/>
              <a:gd name="csX8" fmla="*/ 4724400 w 5056939"/>
              <a:gd name="csY8" fmla="*/ 6858000 h 6858000"/>
              <a:gd name="csX9" fmla="*/ 0 w 5056939"/>
              <a:gd name="csY9" fmla="*/ 6858000 h 6858000"/>
              <a:gd name="csX10" fmla="*/ 0 w 5056939"/>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056939" h="6858000">
                <a:moveTo>
                  <a:pt x="0" y="0"/>
                </a:moveTo>
                <a:lnTo>
                  <a:pt x="2538324" y="0"/>
                </a:lnTo>
                <a:lnTo>
                  <a:pt x="2763186" y="190670"/>
                </a:lnTo>
                <a:cubicBezTo>
                  <a:pt x="2994592" y="398009"/>
                  <a:pt x="3197679" y="631372"/>
                  <a:pt x="3287486" y="968829"/>
                </a:cubicBezTo>
                <a:cubicBezTo>
                  <a:pt x="3407229" y="1418772"/>
                  <a:pt x="3006272" y="2344057"/>
                  <a:pt x="3243943" y="2688771"/>
                </a:cubicBezTo>
                <a:cubicBezTo>
                  <a:pt x="3481614" y="3033485"/>
                  <a:pt x="4524828" y="2663371"/>
                  <a:pt x="4713514" y="3037114"/>
                </a:cubicBezTo>
                <a:cubicBezTo>
                  <a:pt x="4902200" y="3410857"/>
                  <a:pt x="4319814" y="4461329"/>
                  <a:pt x="4376057" y="4931229"/>
                </a:cubicBezTo>
                <a:cubicBezTo>
                  <a:pt x="4432300" y="5401129"/>
                  <a:pt x="4992914" y="5535386"/>
                  <a:pt x="5050971" y="5856514"/>
                </a:cubicBezTo>
                <a:cubicBezTo>
                  <a:pt x="5109028" y="6177643"/>
                  <a:pt x="4724400" y="6858000"/>
                  <a:pt x="4724400" y="6858000"/>
                </a:cubicBezTo>
                <a:lnTo>
                  <a:pt x="0" y="6858000"/>
                </a:lnTo>
                <a:lnTo>
                  <a:pt x="0" y="0"/>
                </a:lnTo>
                <a:close/>
              </a:path>
            </a:pathLst>
          </a:custGeom>
          <a:solidFill>
            <a:srgbClr val="568059"/>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5" name="Freeform: Shape 14">
            <a:extLst>
              <a:ext uri="{FF2B5EF4-FFF2-40B4-BE49-F238E27FC236}">
                <a16:creationId xmlns:a16="http://schemas.microsoft.com/office/drawing/2014/main" id="{E44B59BE-3CFF-001D-AB8E-E18EA79255BE}"/>
              </a:ext>
            </a:extLst>
          </p:cNvPr>
          <p:cNvSpPr/>
          <p:nvPr/>
        </p:nvSpPr>
        <p:spPr>
          <a:xfrm>
            <a:off x="8372073" y="-1466332"/>
            <a:ext cx="9653675" cy="8479975"/>
          </a:xfrm>
          <a:custGeom>
            <a:avLst/>
            <a:gdLst>
              <a:gd name="csX0" fmla="*/ 0 w 9653675"/>
              <a:gd name="csY0" fmla="*/ 0 h 6858000"/>
              <a:gd name="csX1" fmla="*/ 9653675 w 9653675"/>
              <a:gd name="csY1" fmla="*/ 0 h 6858000"/>
              <a:gd name="csX2" fmla="*/ 9653675 w 9653675"/>
              <a:gd name="csY2" fmla="*/ 6858000 h 6858000"/>
              <a:gd name="csX3" fmla="*/ 2186076 w 9653675"/>
              <a:gd name="csY3" fmla="*/ 6858000 h 6858000"/>
              <a:gd name="csX4" fmla="*/ 2512647 w 9653675"/>
              <a:gd name="csY4" fmla="*/ 5856514 h 6858000"/>
              <a:gd name="csX5" fmla="*/ 1837733 w 9653675"/>
              <a:gd name="csY5" fmla="*/ 4931229 h 6858000"/>
              <a:gd name="csX6" fmla="*/ 2175190 w 9653675"/>
              <a:gd name="csY6" fmla="*/ 3037114 h 6858000"/>
              <a:gd name="csX7" fmla="*/ 705619 w 9653675"/>
              <a:gd name="csY7" fmla="*/ 2688771 h 6858000"/>
              <a:gd name="csX8" fmla="*/ 749162 w 9653675"/>
              <a:gd name="csY8" fmla="*/ 968829 h 6858000"/>
              <a:gd name="csX9" fmla="*/ 224862 w 9653675"/>
              <a:gd name="csY9" fmla="*/ 190670 h 6858000"/>
              <a:gd name="csX10" fmla="*/ 0 w 9653675"/>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653675" h="6858000">
                <a:moveTo>
                  <a:pt x="0" y="0"/>
                </a:moveTo>
                <a:lnTo>
                  <a:pt x="9653675" y="0"/>
                </a:lnTo>
                <a:lnTo>
                  <a:pt x="9653675" y="6858000"/>
                </a:lnTo>
                <a:lnTo>
                  <a:pt x="2186076" y="6858000"/>
                </a:lnTo>
                <a:cubicBezTo>
                  <a:pt x="2186076" y="6858000"/>
                  <a:pt x="2570704" y="6177643"/>
                  <a:pt x="2512647" y="5856514"/>
                </a:cubicBezTo>
                <a:cubicBezTo>
                  <a:pt x="2454590" y="5535386"/>
                  <a:pt x="1893976" y="5401129"/>
                  <a:pt x="1837733" y="4931229"/>
                </a:cubicBezTo>
                <a:cubicBezTo>
                  <a:pt x="1781490" y="4461329"/>
                  <a:pt x="2363876" y="3410857"/>
                  <a:pt x="2175190" y="3037114"/>
                </a:cubicBezTo>
                <a:cubicBezTo>
                  <a:pt x="1986504" y="2663371"/>
                  <a:pt x="943290" y="3033485"/>
                  <a:pt x="705619" y="2688771"/>
                </a:cubicBezTo>
                <a:cubicBezTo>
                  <a:pt x="467948" y="2344057"/>
                  <a:pt x="868905" y="1418772"/>
                  <a:pt x="749162" y="968829"/>
                </a:cubicBezTo>
                <a:cubicBezTo>
                  <a:pt x="659355" y="631372"/>
                  <a:pt x="456268" y="398009"/>
                  <a:pt x="224862" y="190670"/>
                </a:cubicBezTo>
                <a:lnTo>
                  <a:pt x="0" y="0"/>
                </a:lnTo>
                <a:close/>
              </a:path>
            </a:pathLst>
          </a:custGeom>
          <a:solidFill>
            <a:srgbClr val="568059"/>
          </a:solidFill>
          <a:effectLst>
            <a:outerShdw blurRad="50800" dist="190500" dir="5400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 name="Rectangle 1">
            <a:extLst>
              <a:ext uri="{FF2B5EF4-FFF2-40B4-BE49-F238E27FC236}">
                <a16:creationId xmlns:a16="http://schemas.microsoft.com/office/drawing/2014/main" id="{3A8F615B-1A13-C87F-E22C-C015D80363F2}"/>
              </a:ext>
            </a:extLst>
          </p:cNvPr>
          <p:cNvSpPr/>
          <p:nvPr/>
        </p:nvSpPr>
        <p:spPr>
          <a:xfrm>
            <a:off x="4873834" y="2975025"/>
            <a:ext cx="3643947" cy="1323439"/>
          </a:xfrm>
          <a:prstGeom prst="rect">
            <a:avLst/>
          </a:prstGeom>
          <a:noFill/>
        </p:spPr>
        <p:txBody>
          <a:bodyPr wrap="none" lIns="91440" tIns="45720" rIns="91440" bIns="45720">
            <a:spAutoFit/>
          </a:bodyPr>
          <a:lstStyle/>
          <a:p>
            <a:pPr algn="ctr"/>
            <a:r>
              <a:rPr lang="en-US" sz="8000" b="0" cap="none" spc="0" dirty="0">
                <a:ln w="0">
                  <a:solidFill>
                    <a:schemeClr val="tx1"/>
                  </a:solidFill>
                </a:ln>
                <a:effectLst>
                  <a:outerShdw blurRad="50800" dist="38100" dir="5400000" algn="t" rotWithShape="0">
                    <a:prstClr val="black">
                      <a:alpha val="40000"/>
                    </a:prstClr>
                  </a:outerShdw>
                </a:effectLst>
                <a:latin typeface="Agency FB" panose="020B0503020202020204" pitchFamily="34" charset="0"/>
              </a:rPr>
              <a:t>DATABASE </a:t>
            </a:r>
          </a:p>
        </p:txBody>
      </p:sp>
    </p:spTree>
    <p:extLst>
      <p:ext uri="{BB962C8B-B14F-4D97-AF65-F5344CB8AC3E}">
        <p14:creationId xmlns:p14="http://schemas.microsoft.com/office/powerpoint/2010/main" val="34080676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CCA47-EE26-F3E6-7A93-40E62D2BC1E3}"/>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CB55D9AA-F4F5-F214-FB29-6E0CA4D91246}"/>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0" y="-1"/>
            <a:ext cx="12191999" cy="6858001"/>
          </a:xfrm>
          <a:prstGeom prst="rect">
            <a:avLst/>
          </a:prstGeom>
          <a:noFill/>
        </p:spPr>
      </p:pic>
      <p:sp>
        <p:nvSpPr>
          <p:cNvPr id="11" name="Freeform: Shape 10">
            <a:extLst>
              <a:ext uri="{FF2B5EF4-FFF2-40B4-BE49-F238E27FC236}">
                <a16:creationId xmlns:a16="http://schemas.microsoft.com/office/drawing/2014/main" id="{8F984263-3D84-A027-972C-70E0D28405F4}"/>
              </a:ext>
            </a:extLst>
          </p:cNvPr>
          <p:cNvSpPr/>
          <p:nvPr/>
        </p:nvSpPr>
        <p:spPr>
          <a:xfrm>
            <a:off x="-2458418" y="-1"/>
            <a:ext cx="5056939" cy="8207834"/>
          </a:xfrm>
          <a:custGeom>
            <a:avLst/>
            <a:gdLst>
              <a:gd name="csX0" fmla="*/ 0 w 5056939"/>
              <a:gd name="csY0" fmla="*/ 0 h 6858000"/>
              <a:gd name="csX1" fmla="*/ 2538324 w 5056939"/>
              <a:gd name="csY1" fmla="*/ 0 h 6858000"/>
              <a:gd name="csX2" fmla="*/ 2763186 w 5056939"/>
              <a:gd name="csY2" fmla="*/ 190670 h 6858000"/>
              <a:gd name="csX3" fmla="*/ 3287486 w 5056939"/>
              <a:gd name="csY3" fmla="*/ 968829 h 6858000"/>
              <a:gd name="csX4" fmla="*/ 3243943 w 5056939"/>
              <a:gd name="csY4" fmla="*/ 2688771 h 6858000"/>
              <a:gd name="csX5" fmla="*/ 4713514 w 5056939"/>
              <a:gd name="csY5" fmla="*/ 3037114 h 6858000"/>
              <a:gd name="csX6" fmla="*/ 4376057 w 5056939"/>
              <a:gd name="csY6" fmla="*/ 4931229 h 6858000"/>
              <a:gd name="csX7" fmla="*/ 5050971 w 5056939"/>
              <a:gd name="csY7" fmla="*/ 5856514 h 6858000"/>
              <a:gd name="csX8" fmla="*/ 4724400 w 5056939"/>
              <a:gd name="csY8" fmla="*/ 6858000 h 6858000"/>
              <a:gd name="csX9" fmla="*/ 0 w 5056939"/>
              <a:gd name="csY9" fmla="*/ 6858000 h 6858000"/>
              <a:gd name="csX10" fmla="*/ 0 w 5056939"/>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056939" h="6858000">
                <a:moveTo>
                  <a:pt x="0" y="0"/>
                </a:moveTo>
                <a:lnTo>
                  <a:pt x="2538324" y="0"/>
                </a:lnTo>
                <a:lnTo>
                  <a:pt x="2763186" y="190670"/>
                </a:lnTo>
                <a:cubicBezTo>
                  <a:pt x="2994592" y="398009"/>
                  <a:pt x="3197679" y="631372"/>
                  <a:pt x="3287486" y="968829"/>
                </a:cubicBezTo>
                <a:cubicBezTo>
                  <a:pt x="3407229" y="1418772"/>
                  <a:pt x="3006272" y="2344057"/>
                  <a:pt x="3243943" y="2688771"/>
                </a:cubicBezTo>
                <a:cubicBezTo>
                  <a:pt x="3481614" y="3033485"/>
                  <a:pt x="4524828" y="2663371"/>
                  <a:pt x="4713514" y="3037114"/>
                </a:cubicBezTo>
                <a:cubicBezTo>
                  <a:pt x="4902200" y="3410857"/>
                  <a:pt x="4319814" y="4461329"/>
                  <a:pt x="4376057" y="4931229"/>
                </a:cubicBezTo>
                <a:cubicBezTo>
                  <a:pt x="4432300" y="5401129"/>
                  <a:pt x="4992914" y="5535386"/>
                  <a:pt x="5050971" y="5856514"/>
                </a:cubicBezTo>
                <a:cubicBezTo>
                  <a:pt x="5109028" y="6177643"/>
                  <a:pt x="4724400" y="6858000"/>
                  <a:pt x="4724400" y="6858000"/>
                </a:cubicBezTo>
                <a:lnTo>
                  <a:pt x="0" y="6858000"/>
                </a:lnTo>
                <a:lnTo>
                  <a:pt x="0" y="0"/>
                </a:lnTo>
                <a:close/>
              </a:path>
            </a:pathLst>
          </a:custGeom>
          <a:solidFill>
            <a:srgbClr val="568059"/>
          </a:solidFill>
          <a:effectLst>
            <a:outerShdw blurRad="508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Freeform: Shape 8">
            <a:extLst>
              <a:ext uri="{FF2B5EF4-FFF2-40B4-BE49-F238E27FC236}">
                <a16:creationId xmlns:a16="http://schemas.microsoft.com/office/drawing/2014/main" id="{684C47D4-18AD-1A6E-F881-B182ECFAD85E}"/>
              </a:ext>
            </a:extLst>
          </p:cNvPr>
          <p:cNvSpPr/>
          <p:nvPr/>
        </p:nvSpPr>
        <p:spPr>
          <a:xfrm>
            <a:off x="9593479" y="-576945"/>
            <a:ext cx="9653675" cy="8011888"/>
          </a:xfrm>
          <a:custGeom>
            <a:avLst/>
            <a:gdLst>
              <a:gd name="csX0" fmla="*/ 0 w 9653675"/>
              <a:gd name="csY0" fmla="*/ 0 h 6858000"/>
              <a:gd name="csX1" fmla="*/ 9653675 w 9653675"/>
              <a:gd name="csY1" fmla="*/ 0 h 6858000"/>
              <a:gd name="csX2" fmla="*/ 9653675 w 9653675"/>
              <a:gd name="csY2" fmla="*/ 6858000 h 6858000"/>
              <a:gd name="csX3" fmla="*/ 2186076 w 9653675"/>
              <a:gd name="csY3" fmla="*/ 6858000 h 6858000"/>
              <a:gd name="csX4" fmla="*/ 2512647 w 9653675"/>
              <a:gd name="csY4" fmla="*/ 5856514 h 6858000"/>
              <a:gd name="csX5" fmla="*/ 1837733 w 9653675"/>
              <a:gd name="csY5" fmla="*/ 4931229 h 6858000"/>
              <a:gd name="csX6" fmla="*/ 2175190 w 9653675"/>
              <a:gd name="csY6" fmla="*/ 3037114 h 6858000"/>
              <a:gd name="csX7" fmla="*/ 705619 w 9653675"/>
              <a:gd name="csY7" fmla="*/ 2688771 h 6858000"/>
              <a:gd name="csX8" fmla="*/ 749162 w 9653675"/>
              <a:gd name="csY8" fmla="*/ 968829 h 6858000"/>
              <a:gd name="csX9" fmla="*/ 224862 w 9653675"/>
              <a:gd name="csY9" fmla="*/ 190670 h 6858000"/>
              <a:gd name="csX10" fmla="*/ 0 w 9653675"/>
              <a:gd name="csY10"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653675" h="6858000">
                <a:moveTo>
                  <a:pt x="0" y="0"/>
                </a:moveTo>
                <a:lnTo>
                  <a:pt x="9653675" y="0"/>
                </a:lnTo>
                <a:lnTo>
                  <a:pt x="9653675" y="6858000"/>
                </a:lnTo>
                <a:lnTo>
                  <a:pt x="2186076" y="6858000"/>
                </a:lnTo>
                <a:cubicBezTo>
                  <a:pt x="2186076" y="6858000"/>
                  <a:pt x="2570704" y="6177643"/>
                  <a:pt x="2512647" y="5856514"/>
                </a:cubicBezTo>
                <a:cubicBezTo>
                  <a:pt x="2454590" y="5535386"/>
                  <a:pt x="1893976" y="5401129"/>
                  <a:pt x="1837733" y="4931229"/>
                </a:cubicBezTo>
                <a:cubicBezTo>
                  <a:pt x="1781490" y="4461329"/>
                  <a:pt x="2363876" y="3410857"/>
                  <a:pt x="2175190" y="3037114"/>
                </a:cubicBezTo>
                <a:cubicBezTo>
                  <a:pt x="1986504" y="2663371"/>
                  <a:pt x="943290" y="3033485"/>
                  <a:pt x="705619" y="2688771"/>
                </a:cubicBezTo>
                <a:cubicBezTo>
                  <a:pt x="467948" y="2344057"/>
                  <a:pt x="868905" y="1418772"/>
                  <a:pt x="749162" y="968829"/>
                </a:cubicBezTo>
                <a:cubicBezTo>
                  <a:pt x="659355" y="631372"/>
                  <a:pt x="456268" y="398009"/>
                  <a:pt x="224862" y="190670"/>
                </a:cubicBezTo>
                <a:lnTo>
                  <a:pt x="0" y="0"/>
                </a:lnTo>
                <a:close/>
              </a:path>
            </a:pathLst>
          </a:custGeom>
          <a:solidFill>
            <a:srgbClr val="568059"/>
          </a:solidFill>
          <a:effectLst>
            <a:outerShdw blurRad="50800" dist="1905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 name="Rectangle 1">
            <a:extLst>
              <a:ext uri="{FF2B5EF4-FFF2-40B4-BE49-F238E27FC236}">
                <a16:creationId xmlns:a16="http://schemas.microsoft.com/office/drawing/2014/main" id="{C7E9BE81-F900-74FB-7647-C94FFD915A35}"/>
              </a:ext>
            </a:extLst>
          </p:cNvPr>
          <p:cNvSpPr/>
          <p:nvPr/>
        </p:nvSpPr>
        <p:spPr>
          <a:xfrm>
            <a:off x="5142868" y="-101429"/>
            <a:ext cx="2829621" cy="1323439"/>
          </a:xfrm>
          <a:prstGeom prst="rect">
            <a:avLst/>
          </a:prstGeom>
          <a:noFill/>
        </p:spPr>
        <p:txBody>
          <a:bodyPr wrap="none" lIns="91440" tIns="45720" rIns="91440" bIns="45720">
            <a:spAutoFit/>
          </a:bodyPr>
          <a:lstStyle/>
          <a:p>
            <a:pPr algn="ctr"/>
            <a:r>
              <a:rPr lang="en-US" sz="6000" b="0" cap="none" spc="0" dirty="0">
                <a:ln w="0">
                  <a:solidFill>
                    <a:schemeClr val="tx1"/>
                  </a:solidFill>
                </a:ln>
                <a:effectLst>
                  <a:outerShdw blurRad="50800" dist="38100" dir="5400000" algn="t" rotWithShape="0">
                    <a:prstClr val="black">
                      <a:alpha val="40000"/>
                    </a:prstClr>
                  </a:outerShdw>
                </a:effectLst>
                <a:latin typeface="Agency FB" panose="020B0503020202020204" pitchFamily="34" charset="0"/>
              </a:rPr>
              <a:t>DATABASE</a:t>
            </a:r>
            <a:r>
              <a:rPr lang="en-US" sz="8000" b="0" cap="none" spc="0" dirty="0">
                <a:ln w="0">
                  <a:solidFill>
                    <a:schemeClr val="tx1"/>
                  </a:solidFill>
                </a:ln>
                <a:effectLst>
                  <a:outerShdw blurRad="50800" dist="38100" dir="5400000" algn="t" rotWithShape="0">
                    <a:prstClr val="black">
                      <a:alpha val="40000"/>
                    </a:prstClr>
                  </a:outerShdw>
                </a:effectLst>
                <a:latin typeface="Agency FB" panose="020B0503020202020204" pitchFamily="34" charset="0"/>
              </a:rPr>
              <a:t> </a:t>
            </a:r>
          </a:p>
        </p:txBody>
      </p:sp>
      <p:sp>
        <p:nvSpPr>
          <p:cNvPr id="5" name="TextBox 4">
            <a:extLst>
              <a:ext uri="{FF2B5EF4-FFF2-40B4-BE49-F238E27FC236}">
                <a16:creationId xmlns:a16="http://schemas.microsoft.com/office/drawing/2014/main" id="{E3876286-A913-8FF8-CC64-754E83F8A26D}"/>
              </a:ext>
            </a:extLst>
          </p:cNvPr>
          <p:cNvSpPr txBox="1"/>
          <p:nvPr/>
        </p:nvSpPr>
        <p:spPr>
          <a:xfrm>
            <a:off x="2598521" y="1222010"/>
            <a:ext cx="7918314" cy="5632311"/>
          </a:xfrm>
          <a:prstGeom prst="rect">
            <a:avLst/>
          </a:prstGeom>
          <a:noFill/>
        </p:spPr>
        <p:txBody>
          <a:bodyPr wrap="square">
            <a:spAutoFit/>
          </a:bodyPr>
          <a:lstStyle/>
          <a:p>
            <a:pPr marL="342900" lvl="0" indent="-342900">
              <a:buFont typeface="Arial" panose="020B0604020202020204" pitchFamily="34" charset="0"/>
              <a:buChar char="•"/>
            </a:pPr>
            <a:r>
              <a:rPr lang="en-IN" sz="2000" dirty="0"/>
              <a:t>User Data Storage: Manages user account information for registration and login.</a:t>
            </a:r>
          </a:p>
          <a:p>
            <a:pPr marL="342900" lvl="0" indent="-342900">
              <a:buFont typeface="Arial" panose="020B0604020202020204" pitchFamily="34" charset="0"/>
              <a:buChar char="•"/>
            </a:pPr>
            <a:r>
              <a:rPr lang="en-IN" sz="2000" dirty="0"/>
              <a:t>Authentication Support: Helps Flask verify user credentials during login.</a:t>
            </a:r>
          </a:p>
          <a:p>
            <a:pPr marL="342900" lvl="0" indent="-342900">
              <a:buFont typeface="Arial" panose="020B0604020202020204" pitchFamily="34" charset="0"/>
              <a:buChar char="•"/>
            </a:pPr>
            <a:r>
              <a:rPr lang="en-IN" sz="2000" dirty="0"/>
              <a:t>Assessment Data: Supports storing and retrieving mental wellness assessment information.</a:t>
            </a:r>
          </a:p>
          <a:p>
            <a:pPr marL="342900" lvl="0" indent="-342900">
              <a:buFont typeface="Arial" panose="020B0604020202020204" pitchFamily="34" charset="0"/>
              <a:buChar char="•"/>
            </a:pPr>
            <a:r>
              <a:rPr lang="en-IN" sz="2000" dirty="0"/>
              <a:t>Journal Management: Supports journal data management if journal entries are stored in the database.</a:t>
            </a:r>
          </a:p>
          <a:p>
            <a:pPr marL="342900" lvl="0" indent="-342900">
              <a:buFont typeface="Arial" panose="020B0604020202020204" pitchFamily="34" charset="0"/>
              <a:buChar char="•"/>
            </a:pPr>
            <a:r>
              <a:rPr lang="en-IN" sz="2000" dirty="0"/>
              <a:t>Flask Integration: Connects the database with Flask routes in </a:t>
            </a:r>
            <a:r>
              <a:rPr lang="en-IN" sz="2000" dirty="0">
                <a:latin typeface="+mn-lt"/>
              </a:rPr>
              <a:t>app.py</a:t>
            </a:r>
            <a:r>
              <a:rPr lang="en-IN" sz="2000" dirty="0"/>
              <a:t>.</a:t>
            </a:r>
          </a:p>
          <a:p>
            <a:pPr marL="342900" lvl="0" indent="-342900">
              <a:buFont typeface="Arial" panose="020B0604020202020204" pitchFamily="34" charset="0"/>
              <a:buChar char="•"/>
            </a:pPr>
            <a:r>
              <a:rPr lang="en-IN" sz="2000" dirty="0"/>
              <a:t>SQLAlchemy ORM: Enables database operations through Python objects instead of writing every query manually.</a:t>
            </a:r>
          </a:p>
          <a:p>
            <a:pPr marL="342900" lvl="0" indent="-342900">
              <a:buFont typeface="Arial" panose="020B0604020202020204" pitchFamily="34" charset="0"/>
              <a:buChar char="•"/>
            </a:pPr>
            <a:r>
              <a:rPr lang="en-IN" sz="2000" dirty="0"/>
              <a:t>CRUD Operations: Supports creating, reading, updating, and deleting database records.</a:t>
            </a:r>
          </a:p>
          <a:p>
            <a:pPr marL="342900" lvl="0" indent="-342900">
              <a:buFont typeface="Arial" panose="020B0604020202020204" pitchFamily="34" charset="0"/>
              <a:buChar char="•"/>
            </a:pPr>
            <a:r>
              <a:rPr lang="en-IN" sz="2000" dirty="0"/>
              <a:t>Protected Access: Works with login protection, such as </a:t>
            </a:r>
            <a:r>
              <a:rPr lang="en-IN" sz="2000" dirty="0">
                <a:latin typeface="+mn-lt"/>
              </a:rPr>
              <a:t>@login_required</a:t>
            </a:r>
            <a:r>
              <a:rPr lang="en-IN" sz="2000" dirty="0"/>
              <a:t>, to restrict access to authorized users.</a:t>
            </a:r>
          </a:p>
          <a:p>
            <a:pPr marL="342900" lvl="0" indent="-342900">
              <a:buFont typeface="Arial" panose="020B0604020202020204" pitchFamily="34" charset="0"/>
              <a:buChar char="•"/>
            </a:pPr>
            <a:r>
              <a:rPr lang="en-IN" sz="2000" dirty="0"/>
              <a:t>Data Retrieval: Fetches relevant records when the application needs to display information.</a:t>
            </a:r>
          </a:p>
          <a:p>
            <a:pPr marL="342900" lvl="0" indent="-342900">
              <a:buFont typeface="Arial" panose="020B0604020202020204" pitchFamily="34" charset="0"/>
              <a:buChar char="•"/>
            </a:pPr>
            <a:r>
              <a:rPr lang="en-IN" sz="2000" dirty="0"/>
              <a:t>Data Organization: Helps keep application information structured and manageable.</a:t>
            </a:r>
          </a:p>
        </p:txBody>
      </p:sp>
    </p:spTree>
    <p:extLst>
      <p:ext uri="{BB962C8B-B14F-4D97-AF65-F5344CB8AC3E}">
        <p14:creationId xmlns:p14="http://schemas.microsoft.com/office/powerpoint/2010/main" val="1454207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BE8B9AC4-D3A4-D97C-03E3-54818BC48AFF}"/>
              </a:ext>
            </a:extLst>
          </p:cNvPr>
          <p:cNvSpPr/>
          <p:nvPr/>
        </p:nvSpPr>
        <p:spPr>
          <a:xfrm>
            <a:off x="2585834" y="-2"/>
            <a:ext cx="9607529" cy="6858001"/>
          </a:xfrm>
          <a:custGeom>
            <a:avLst/>
            <a:gdLst>
              <a:gd name="csX0" fmla="*/ 0 w 9607529"/>
              <a:gd name="csY0" fmla="*/ 0 h 6858000"/>
              <a:gd name="csX1" fmla="*/ 9607529 w 9607529"/>
              <a:gd name="csY1" fmla="*/ 0 h 6858000"/>
              <a:gd name="csX2" fmla="*/ 9607529 w 9607529"/>
              <a:gd name="csY2" fmla="*/ 6858000 h 6858000"/>
              <a:gd name="csX3" fmla="*/ 2409043 w 9607529"/>
              <a:gd name="csY3" fmla="*/ 6858000 h 6858000"/>
              <a:gd name="csX4" fmla="*/ 2409041 w 9607529"/>
              <a:gd name="csY4" fmla="*/ 6857859 h 6858000"/>
              <a:gd name="csX5" fmla="*/ 2356497 w 9607529"/>
              <a:gd name="csY5" fmla="*/ 6689558 h 6858000"/>
              <a:gd name="csX6" fmla="*/ 527697 w 9607529"/>
              <a:gd name="csY6" fmla="*/ 5486400 h 6858000"/>
              <a:gd name="csX7" fmla="*/ 1281676 w 9607529"/>
              <a:gd name="csY7" fmla="*/ 3657600 h 6858000"/>
              <a:gd name="csX8" fmla="*/ 206855 w 9607529"/>
              <a:gd name="csY8" fmla="*/ 2326105 h 6858000"/>
              <a:gd name="csX9" fmla="*/ 383318 w 9607529"/>
              <a:gd name="csY9" fmla="*/ 850232 h 6858000"/>
              <a:gd name="csX10" fmla="*/ 41421 w 9607529"/>
              <a:gd name="csY10" fmla="*/ 66675 h 6858000"/>
              <a:gd name="csX11" fmla="*/ 0 w 9607529"/>
              <a:gd name="csY1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607529" h="6858000">
                <a:moveTo>
                  <a:pt x="0" y="0"/>
                </a:moveTo>
                <a:lnTo>
                  <a:pt x="9607529" y="0"/>
                </a:lnTo>
                <a:lnTo>
                  <a:pt x="9607529" y="6858000"/>
                </a:lnTo>
                <a:lnTo>
                  <a:pt x="2409043" y="6858000"/>
                </a:lnTo>
                <a:lnTo>
                  <a:pt x="2409041" y="6857859"/>
                </a:lnTo>
                <a:cubicBezTo>
                  <a:pt x="2403120" y="6796923"/>
                  <a:pt x="2386576" y="6740024"/>
                  <a:pt x="2356497" y="6689558"/>
                </a:cubicBezTo>
                <a:cubicBezTo>
                  <a:pt x="2115865" y="6285832"/>
                  <a:pt x="706834" y="5991726"/>
                  <a:pt x="527697" y="5486400"/>
                </a:cubicBezTo>
                <a:cubicBezTo>
                  <a:pt x="348560" y="4981074"/>
                  <a:pt x="1335150" y="4184316"/>
                  <a:pt x="1281676" y="3657600"/>
                </a:cubicBezTo>
                <a:cubicBezTo>
                  <a:pt x="1228202" y="3130884"/>
                  <a:pt x="356581" y="2794000"/>
                  <a:pt x="206855" y="2326105"/>
                </a:cubicBezTo>
                <a:cubicBezTo>
                  <a:pt x="57129" y="1858210"/>
                  <a:pt x="500960" y="1360906"/>
                  <a:pt x="383318" y="850232"/>
                </a:cubicBezTo>
                <a:cubicBezTo>
                  <a:pt x="324497" y="594895"/>
                  <a:pt x="199502" y="332540"/>
                  <a:pt x="41421" y="66675"/>
                </a:cubicBezTo>
                <a:lnTo>
                  <a:pt x="0" y="0"/>
                </a:lnTo>
                <a:close/>
              </a:path>
            </a:pathLst>
          </a:custGeom>
          <a:blipFill>
            <a:blip r:embed="rId2"/>
            <a:stretch>
              <a:fillRect/>
            </a:stretch>
          </a:blipFill>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pic>
        <p:nvPicPr>
          <p:cNvPr id="8" name="Picture 7" descr="Can AI answer medical questions better than your doctor? - Harvard Health">
            <a:extLst>
              <a:ext uri="{FF2B5EF4-FFF2-40B4-BE49-F238E27FC236}">
                <a16:creationId xmlns:a16="http://schemas.microsoft.com/office/drawing/2014/main" id="{9CE94710-1405-5959-61D7-98EF5B7BFA81}"/>
              </a:ext>
            </a:extLst>
          </p:cNvPr>
          <p:cNvPicPr>
            <a:picLocks noChangeAspect="1"/>
          </p:cNvPicPr>
          <p:nvPr/>
        </p:nvPicPr>
        <p:blipFill>
          <a:blip r:embed="rId3">
            <a:grayscl/>
            <a:extLst>
              <a:ext uri="{BEBA8EAE-BF5A-486C-A8C5-ECC9F3942E4B}">
                <a14:imgProps xmlns:a14="http://schemas.microsoft.com/office/drawing/2010/main">
                  <a14:imgLayer r:embed="rId4">
                    <a14:imgEffect>
                      <a14:backgroundRemoval t="9707" b="89842" l="9010" r="90863">
                        <a14:foregroundMark x1="25635" y1="67269" x2="39340" y2="55756"/>
                        <a14:foregroundMark x1="39340" y1="55756" x2="69162" y2="49210"/>
                        <a14:foregroundMark x1="69162" y1="49210" x2="77919" y2="52596"/>
                        <a14:foregroundMark x1="77919" y1="52596" x2="78553" y2="53047"/>
                        <a14:foregroundMark x1="9137" y1="61625" x2="51523" y2="74041"/>
                        <a14:foregroundMark x1="25254" y1="55982" x2="23477" y2="86230"/>
                        <a14:foregroundMark x1="14213" y1="75621" x2="43020" y2="78104"/>
                        <a14:foregroundMark x1="14975" y1="85327" x2="27792" y2="86456"/>
                        <a14:foregroundMark x1="27792" y1="86456" x2="34137" y2="85779"/>
                        <a14:foregroundMark x1="34137" y1="85779" x2="34264" y2="85779"/>
                        <a14:foregroundMark x1="38452" y1="14221" x2="38452" y2="14221"/>
                        <a14:foregroundMark x1="38832" y1="19187" x2="39848" y2="10158"/>
                        <a14:foregroundMark x1="53680" y1="40406" x2="60787" y2="44470"/>
                        <a14:foregroundMark x1="60787" y1="44470" x2="69797" y2="41986"/>
                        <a14:foregroundMark x1="69797" y1="41986" x2="72335" y2="33183"/>
                        <a14:foregroundMark x1="90863" y1="73363" x2="90863" y2="73363"/>
                      </a14:backgroundRemoval>
                    </a14:imgEffect>
                    <a14:imgEffect>
                      <a14:artisticPaintStrokes/>
                    </a14:imgEffect>
                  </a14:imgLayer>
                </a14:imgProps>
              </a:ext>
            </a:extLst>
          </a:blip>
          <a:stretch>
            <a:fillRect/>
          </a:stretch>
        </p:blipFill>
        <p:spPr>
          <a:xfrm>
            <a:off x="-2603078" y="3331027"/>
            <a:ext cx="6099441" cy="3429000"/>
          </a:xfrm>
          <a:prstGeom prst="rect">
            <a:avLst/>
          </a:prstGeom>
        </p:spPr>
      </p:pic>
      <p:sp>
        <p:nvSpPr>
          <p:cNvPr id="26" name="Freeform: Shape 25">
            <a:extLst>
              <a:ext uri="{FF2B5EF4-FFF2-40B4-BE49-F238E27FC236}">
                <a16:creationId xmlns:a16="http://schemas.microsoft.com/office/drawing/2014/main" id="{0745771B-6A31-1A92-9494-8DE41F6B819D}"/>
              </a:ext>
            </a:extLst>
          </p:cNvPr>
          <p:cNvSpPr/>
          <p:nvPr/>
        </p:nvSpPr>
        <p:spPr>
          <a:xfrm>
            <a:off x="0" y="0"/>
            <a:ext cx="4993514" cy="6858000"/>
          </a:xfrm>
          <a:custGeom>
            <a:avLst/>
            <a:gdLst>
              <a:gd name="csX0" fmla="*/ 0 w 4993514"/>
              <a:gd name="csY0" fmla="*/ 0 h 6858000"/>
              <a:gd name="csX1" fmla="*/ 2584471 w 4993514"/>
              <a:gd name="csY1" fmla="*/ 0 h 6858000"/>
              <a:gd name="csX2" fmla="*/ 2625892 w 4993514"/>
              <a:gd name="csY2" fmla="*/ 66675 h 6858000"/>
              <a:gd name="csX3" fmla="*/ 2967789 w 4993514"/>
              <a:gd name="csY3" fmla="*/ 850232 h 6858000"/>
              <a:gd name="csX4" fmla="*/ 2791326 w 4993514"/>
              <a:gd name="csY4" fmla="*/ 2326105 h 6858000"/>
              <a:gd name="csX5" fmla="*/ 3866147 w 4993514"/>
              <a:gd name="csY5" fmla="*/ 3657600 h 6858000"/>
              <a:gd name="csX6" fmla="*/ 3112168 w 4993514"/>
              <a:gd name="csY6" fmla="*/ 5486400 h 6858000"/>
              <a:gd name="csX7" fmla="*/ 4940968 w 4993514"/>
              <a:gd name="csY7" fmla="*/ 6689558 h 6858000"/>
              <a:gd name="csX8" fmla="*/ 4993512 w 4993514"/>
              <a:gd name="csY8" fmla="*/ 6857859 h 6858000"/>
              <a:gd name="csX9" fmla="*/ 4993514 w 4993514"/>
              <a:gd name="csY9" fmla="*/ 6858000 h 6858000"/>
              <a:gd name="csX10" fmla="*/ 0 w 4993514"/>
              <a:gd name="csY10" fmla="*/ 6858000 h 6858000"/>
              <a:gd name="csX11" fmla="*/ 0 w 4993514"/>
              <a:gd name="csY1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3514" h="6858000">
                <a:moveTo>
                  <a:pt x="0" y="0"/>
                </a:moveTo>
                <a:lnTo>
                  <a:pt x="2584471" y="0"/>
                </a:lnTo>
                <a:lnTo>
                  <a:pt x="2625892" y="66675"/>
                </a:lnTo>
                <a:cubicBezTo>
                  <a:pt x="2783973" y="332540"/>
                  <a:pt x="2908968" y="594895"/>
                  <a:pt x="2967789" y="850232"/>
                </a:cubicBezTo>
                <a:cubicBezTo>
                  <a:pt x="3085431" y="1360906"/>
                  <a:pt x="2641600" y="1858210"/>
                  <a:pt x="2791326" y="2326105"/>
                </a:cubicBezTo>
                <a:cubicBezTo>
                  <a:pt x="2941052" y="2794000"/>
                  <a:pt x="3812673" y="3130884"/>
                  <a:pt x="3866147" y="3657600"/>
                </a:cubicBezTo>
                <a:cubicBezTo>
                  <a:pt x="3919621" y="4184316"/>
                  <a:pt x="2933031" y="4981074"/>
                  <a:pt x="3112168" y="5486400"/>
                </a:cubicBezTo>
                <a:cubicBezTo>
                  <a:pt x="3291305" y="5991726"/>
                  <a:pt x="4700336" y="6285832"/>
                  <a:pt x="4940968" y="6689558"/>
                </a:cubicBezTo>
                <a:cubicBezTo>
                  <a:pt x="4971047" y="6740024"/>
                  <a:pt x="4987591" y="6796923"/>
                  <a:pt x="4993512" y="6857859"/>
                </a:cubicBezTo>
                <a:lnTo>
                  <a:pt x="4993514" y="6858000"/>
                </a:lnTo>
                <a:lnTo>
                  <a:pt x="0" y="6858000"/>
                </a:lnTo>
                <a:lnTo>
                  <a:pt x="0" y="0"/>
                </a:lnTo>
                <a:close/>
              </a:path>
            </a:pathLst>
          </a:custGeom>
          <a:blipFill>
            <a:blip r:embed="rId2"/>
            <a:stretch>
              <a:fillRect/>
            </a:stretch>
          </a:blipFill>
          <a:effectLst>
            <a:outerShdw blurRad="50800" dist="1905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pic>
        <p:nvPicPr>
          <p:cNvPr id="36" name="Picture 35">
            <a:extLst>
              <a:ext uri="{FF2B5EF4-FFF2-40B4-BE49-F238E27FC236}">
                <a16:creationId xmlns:a16="http://schemas.microsoft.com/office/drawing/2014/main" id="{D1211B52-97A0-A545-FDBF-EFCAA3CD11F6}"/>
              </a:ext>
            </a:extLst>
          </p:cNvPr>
          <p:cNvPicPr>
            <a:picLocks noChangeAspect="1"/>
          </p:cNvPicPr>
          <p:nvPr/>
        </p:nvPicPr>
        <p:blipFill>
          <a:blip r:embed="rId5"/>
          <a:stretch>
            <a:fillRect/>
          </a:stretch>
        </p:blipFill>
        <p:spPr>
          <a:xfrm>
            <a:off x="4406893" y="1129965"/>
            <a:ext cx="7082932" cy="3463709"/>
          </a:xfrm>
          <a:prstGeom prst="rect">
            <a:avLst/>
          </a:prstGeom>
        </p:spPr>
      </p:pic>
      <p:cxnSp>
        <p:nvCxnSpPr>
          <p:cNvPr id="38" name="Straight Connector 37">
            <a:extLst>
              <a:ext uri="{FF2B5EF4-FFF2-40B4-BE49-F238E27FC236}">
                <a16:creationId xmlns:a16="http://schemas.microsoft.com/office/drawing/2014/main" id="{3305189A-6430-3E37-B959-E3BA76B0F49A}"/>
              </a:ext>
            </a:extLst>
          </p:cNvPr>
          <p:cNvCxnSpPr/>
          <p:nvPr/>
        </p:nvCxnSpPr>
        <p:spPr>
          <a:xfrm>
            <a:off x="4993514" y="4212771"/>
            <a:ext cx="6496311" cy="0"/>
          </a:xfrm>
          <a:prstGeom prst="line">
            <a:avLst/>
          </a:prstGeom>
          <a:ln w="6032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322E8F4-9A90-B5FB-5DBD-989C3860661C}"/>
              </a:ext>
            </a:extLst>
          </p:cNvPr>
          <p:cNvCxnSpPr>
            <a:cxnSpLocks/>
          </p:cNvCxnSpPr>
          <p:nvPr/>
        </p:nvCxnSpPr>
        <p:spPr>
          <a:xfrm>
            <a:off x="6504565" y="4577346"/>
            <a:ext cx="5337029" cy="10886"/>
          </a:xfrm>
          <a:prstGeom prst="line">
            <a:avLst/>
          </a:prstGeom>
          <a:ln w="6032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6045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6A89-53AB-F44B-8447-92940DCA64B0}"/>
            </a:ext>
          </a:extLst>
        </p:cNvPr>
        <p:cNvGrpSpPr/>
        <p:nvPr/>
      </p:nvGrpSpPr>
      <p:grpSpPr>
        <a:xfrm>
          <a:off x="0" y="0"/>
          <a:ext cx="0" cy="0"/>
          <a:chOff x="0" y="0"/>
          <a:chExt cx="0" cy="0"/>
        </a:xfrm>
      </p:grpSpPr>
      <p:sp>
        <p:nvSpPr>
          <p:cNvPr id="23" name="Freeform: Shape 22">
            <a:extLst>
              <a:ext uri="{FF2B5EF4-FFF2-40B4-BE49-F238E27FC236}">
                <a16:creationId xmlns:a16="http://schemas.microsoft.com/office/drawing/2014/main" id="{9752D748-9EA9-9CD2-D1ED-6A97D11F685E}"/>
              </a:ext>
            </a:extLst>
          </p:cNvPr>
          <p:cNvSpPr/>
          <p:nvPr/>
        </p:nvSpPr>
        <p:spPr>
          <a:xfrm>
            <a:off x="8439839" y="-2329348"/>
            <a:ext cx="9607529" cy="9187348"/>
          </a:xfrm>
          <a:custGeom>
            <a:avLst/>
            <a:gdLst>
              <a:gd name="csX0" fmla="*/ 0 w 9607529"/>
              <a:gd name="csY0" fmla="*/ 0 h 6858000"/>
              <a:gd name="csX1" fmla="*/ 9607529 w 9607529"/>
              <a:gd name="csY1" fmla="*/ 0 h 6858000"/>
              <a:gd name="csX2" fmla="*/ 9607529 w 9607529"/>
              <a:gd name="csY2" fmla="*/ 6858000 h 6858000"/>
              <a:gd name="csX3" fmla="*/ 2409043 w 9607529"/>
              <a:gd name="csY3" fmla="*/ 6858000 h 6858000"/>
              <a:gd name="csX4" fmla="*/ 2409041 w 9607529"/>
              <a:gd name="csY4" fmla="*/ 6857859 h 6858000"/>
              <a:gd name="csX5" fmla="*/ 2356497 w 9607529"/>
              <a:gd name="csY5" fmla="*/ 6689558 h 6858000"/>
              <a:gd name="csX6" fmla="*/ 527697 w 9607529"/>
              <a:gd name="csY6" fmla="*/ 5486400 h 6858000"/>
              <a:gd name="csX7" fmla="*/ 1281676 w 9607529"/>
              <a:gd name="csY7" fmla="*/ 3657600 h 6858000"/>
              <a:gd name="csX8" fmla="*/ 206855 w 9607529"/>
              <a:gd name="csY8" fmla="*/ 2326105 h 6858000"/>
              <a:gd name="csX9" fmla="*/ 383318 w 9607529"/>
              <a:gd name="csY9" fmla="*/ 850232 h 6858000"/>
              <a:gd name="csX10" fmla="*/ 41421 w 9607529"/>
              <a:gd name="csY10" fmla="*/ 66675 h 6858000"/>
              <a:gd name="csX11" fmla="*/ 0 w 9607529"/>
              <a:gd name="csY1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607529" h="6858000">
                <a:moveTo>
                  <a:pt x="0" y="0"/>
                </a:moveTo>
                <a:lnTo>
                  <a:pt x="9607529" y="0"/>
                </a:lnTo>
                <a:lnTo>
                  <a:pt x="9607529" y="6858000"/>
                </a:lnTo>
                <a:lnTo>
                  <a:pt x="2409043" y="6858000"/>
                </a:lnTo>
                <a:lnTo>
                  <a:pt x="2409041" y="6857859"/>
                </a:lnTo>
                <a:cubicBezTo>
                  <a:pt x="2403120" y="6796923"/>
                  <a:pt x="2386576" y="6740024"/>
                  <a:pt x="2356497" y="6689558"/>
                </a:cubicBezTo>
                <a:cubicBezTo>
                  <a:pt x="2115865" y="6285832"/>
                  <a:pt x="706834" y="5991726"/>
                  <a:pt x="527697" y="5486400"/>
                </a:cubicBezTo>
                <a:cubicBezTo>
                  <a:pt x="348560" y="4981074"/>
                  <a:pt x="1335150" y="4184316"/>
                  <a:pt x="1281676" y="3657600"/>
                </a:cubicBezTo>
                <a:cubicBezTo>
                  <a:pt x="1228202" y="3130884"/>
                  <a:pt x="356581" y="2794000"/>
                  <a:pt x="206855" y="2326105"/>
                </a:cubicBezTo>
                <a:cubicBezTo>
                  <a:pt x="57129" y="1858210"/>
                  <a:pt x="500960" y="1360906"/>
                  <a:pt x="383318" y="850232"/>
                </a:cubicBezTo>
                <a:cubicBezTo>
                  <a:pt x="324497" y="594895"/>
                  <a:pt x="199502" y="332540"/>
                  <a:pt x="41421" y="66675"/>
                </a:cubicBezTo>
                <a:lnTo>
                  <a:pt x="0" y="0"/>
                </a:lnTo>
                <a:close/>
              </a:path>
            </a:pathLst>
          </a:custGeom>
          <a:blipFill>
            <a:blip r:embed="rId2"/>
            <a:stretch>
              <a:fillRect/>
            </a:stretch>
          </a:blipFill>
          <a:effectLst>
            <a:outerShdw blurRad="50800" dist="190500" dir="5400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pic>
        <p:nvPicPr>
          <p:cNvPr id="8" name="Picture 7" descr="Can AI answer medical questions better than your doctor? - Harvard Health">
            <a:extLst>
              <a:ext uri="{FF2B5EF4-FFF2-40B4-BE49-F238E27FC236}">
                <a16:creationId xmlns:a16="http://schemas.microsoft.com/office/drawing/2014/main" id="{D0BC1D81-03F0-8B3B-9D36-BA3DADA9A6D5}"/>
              </a:ext>
            </a:extLst>
          </p:cNvPr>
          <p:cNvPicPr>
            <a:picLocks noChangeAspect="1"/>
          </p:cNvPicPr>
          <p:nvPr/>
        </p:nvPicPr>
        <p:blipFill>
          <a:blip r:embed="rId3">
            <a:grayscl/>
            <a:extLst>
              <a:ext uri="{BEBA8EAE-BF5A-486C-A8C5-ECC9F3942E4B}">
                <a14:imgProps xmlns:a14="http://schemas.microsoft.com/office/drawing/2010/main">
                  <a14:imgLayer r:embed="rId4">
                    <a14:imgEffect>
                      <a14:backgroundRemoval t="9707" b="89842" l="9010" r="90863">
                        <a14:foregroundMark x1="25635" y1="67269" x2="39340" y2="55756"/>
                        <a14:foregroundMark x1="39340" y1="55756" x2="69162" y2="49210"/>
                        <a14:foregroundMark x1="69162" y1="49210" x2="77919" y2="52596"/>
                        <a14:foregroundMark x1="77919" y1="52596" x2="78553" y2="53047"/>
                        <a14:foregroundMark x1="9137" y1="61625" x2="51523" y2="74041"/>
                        <a14:foregroundMark x1="25254" y1="55982" x2="23477" y2="86230"/>
                        <a14:foregroundMark x1="14213" y1="75621" x2="43020" y2="78104"/>
                        <a14:foregroundMark x1="14975" y1="85327" x2="27792" y2="86456"/>
                        <a14:foregroundMark x1="27792" y1="86456" x2="34137" y2="85779"/>
                        <a14:foregroundMark x1="34137" y1="85779" x2="34264" y2="85779"/>
                        <a14:foregroundMark x1="38452" y1="14221" x2="38452" y2="14221"/>
                        <a14:foregroundMark x1="38832" y1="19187" x2="39848" y2="10158"/>
                        <a14:foregroundMark x1="53680" y1="40406" x2="60787" y2="44470"/>
                        <a14:foregroundMark x1="60787" y1="44470" x2="69797" y2="41986"/>
                        <a14:foregroundMark x1="69797" y1="41986" x2="72335" y2="33183"/>
                        <a14:foregroundMark x1="90863" y1="73363" x2="90863" y2="73363"/>
                      </a14:backgroundRemoval>
                    </a14:imgEffect>
                    <a14:imgEffect>
                      <a14:artisticPaintStrokes/>
                    </a14:imgEffect>
                  </a14:imgLayer>
                </a14:imgProps>
              </a:ext>
            </a:extLst>
          </a:blip>
          <a:stretch>
            <a:fillRect/>
          </a:stretch>
        </p:blipFill>
        <p:spPr>
          <a:xfrm>
            <a:off x="4598273" y="0"/>
            <a:ext cx="6099441" cy="3429000"/>
          </a:xfrm>
          <a:prstGeom prst="rect">
            <a:avLst/>
          </a:prstGeom>
        </p:spPr>
      </p:pic>
      <p:pic>
        <p:nvPicPr>
          <p:cNvPr id="5" name="Graphic 4" descr="Rocket with solid fill">
            <a:extLst>
              <a:ext uri="{FF2B5EF4-FFF2-40B4-BE49-F238E27FC236}">
                <a16:creationId xmlns:a16="http://schemas.microsoft.com/office/drawing/2014/main" id="{3CA9B3E4-B025-6780-7C73-C2F4A25816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6000" y="6468742"/>
            <a:ext cx="49726" cy="49726"/>
          </a:xfrm>
          <a:prstGeom prst="rect">
            <a:avLst/>
          </a:prstGeom>
        </p:spPr>
      </p:pic>
      <p:sp>
        <p:nvSpPr>
          <p:cNvPr id="28" name="TextBox 27">
            <a:extLst>
              <a:ext uri="{FF2B5EF4-FFF2-40B4-BE49-F238E27FC236}">
                <a16:creationId xmlns:a16="http://schemas.microsoft.com/office/drawing/2014/main" id="{68F59573-76A7-0BFB-AA64-2CCD4092611C}"/>
              </a:ext>
            </a:extLst>
          </p:cNvPr>
          <p:cNvSpPr txBox="1"/>
          <p:nvPr/>
        </p:nvSpPr>
        <p:spPr>
          <a:xfrm>
            <a:off x="3752162" y="3240648"/>
            <a:ext cx="5390147" cy="3277820"/>
          </a:xfrm>
          <a:prstGeom prst="rect">
            <a:avLst/>
          </a:prstGeom>
          <a:noFill/>
        </p:spPr>
        <p:txBody>
          <a:bodyPr wrap="square">
            <a:spAutoFit/>
          </a:bodyPr>
          <a:lstStyle/>
          <a:p>
            <a:pPr>
              <a:buNone/>
            </a:pPr>
            <a:r>
              <a:rPr lang="en-IN" sz="2300" dirty="0">
                <a:latin typeface="Agency FB" panose="020B0503020202020204" pitchFamily="34" charset="0"/>
              </a:rPr>
              <a:t>Mind Bloom uses </a:t>
            </a:r>
            <a:r>
              <a:rPr lang="en-IN" sz="2300" b="1" dirty="0">
                <a:latin typeface="Agency FB" panose="020B0503020202020204" pitchFamily="34" charset="0"/>
              </a:rPr>
              <a:t>Ollama</a:t>
            </a:r>
            <a:r>
              <a:rPr lang="en-IN" sz="2300" dirty="0">
                <a:latin typeface="Agency FB" panose="020B0503020202020204" pitchFamily="34" charset="0"/>
              </a:rPr>
              <a:t> to run the </a:t>
            </a:r>
            <a:r>
              <a:rPr lang="en-IN" sz="2300" b="1" dirty="0">
                <a:latin typeface="Agency FB" panose="020B0503020202020204" pitchFamily="34" charset="0"/>
              </a:rPr>
              <a:t>Qwen language model l</a:t>
            </a:r>
            <a:r>
              <a:rPr lang="en-IN" sz="2300" dirty="0">
                <a:latin typeface="Agency FB" panose="020B0503020202020204" pitchFamily="34" charset="0"/>
              </a:rPr>
              <a:t>ocally for AI-powered chatbot responses. The Flask backend connects the chatbot interface with the model to process user messages and generate replies. This approach reduces dependence on external AI APIs, helps avoid API quota limitations, and can improve privacy when processing remains on the local machine. Once the model is downloaded, it can work offline, depending on the application's configuration.</a:t>
            </a:r>
          </a:p>
        </p:txBody>
      </p:sp>
      <p:sp>
        <p:nvSpPr>
          <p:cNvPr id="26" name="Freeform: Shape 25">
            <a:extLst>
              <a:ext uri="{FF2B5EF4-FFF2-40B4-BE49-F238E27FC236}">
                <a16:creationId xmlns:a16="http://schemas.microsoft.com/office/drawing/2014/main" id="{E1C05AED-FAE0-CBEE-BC88-C35889039A95}"/>
              </a:ext>
            </a:extLst>
          </p:cNvPr>
          <p:cNvSpPr/>
          <p:nvPr/>
        </p:nvSpPr>
        <p:spPr>
          <a:xfrm>
            <a:off x="-249170" y="0"/>
            <a:ext cx="4993514" cy="8022674"/>
          </a:xfrm>
          <a:custGeom>
            <a:avLst/>
            <a:gdLst>
              <a:gd name="csX0" fmla="*/ 0 w 4993514"/>
              <a:gd name="csY0" fmla="*/ 0 h 6858000"/>
              <a:gd name="csX1" fmla="*/ 2584471 w 4993514"/>
              <a:gd name="csY1" fmla="*/ 0 h 6858000"/>
              <a:gd name="csX2" fmla="*/ 2625892 w 4993514"/>
              <a:gd name="csY2" fmla="*/ 66675 h 6858000"/>
              <a:gd name="csX3" fmla="*/ 2967789 w 4993514"/>
              <a:gd name="csY3" fmla="*/ 850232 h 6858000"/>
              <a:gd name="csX4" fmla="*/ 2791326 w 4993514"/>
              <a:gd name="csY4" fmla="*/ 2326105 h 6858000"/>
              <a:gd name="csX5" fmla="*/ 3866147 w 4993514"/>
              <a:gd name="csY5" fmla="*/ 3657600 h 6858000"/>
              <a:gd name="csX6" fmla="*/ 3112168 w 4993514"/>
              <a:gd name="csY6" fmla="*/ 5486400 h 6858000"/>
              <a:gd name="csX7" fmla="*/ 4940968 w 4993514"/>
              <a:gd name="csY7" fmla="*/ 6689558 h 6858000"/>
              <a:gd name="csX8" fmla="*/ 4993512 w 4993514"/>
              <a:gd name="csY8" fmla="*/ 6857859 h 6858000"/>
              <a:gd name="csX9" fmla="*/ 4993514 w 4993514"/>
              <a:gd name="csY9" fmla="*/ 6858000 h 6858000"/>
              <a:gd name="csX10" fmla="*/ 0 w 4993514"/>
              <a:gd name="csY10" fmla="*/ 6858000 h 6858000"/>
              <a:gd name="csX11" fmla="*/ 0 w 4993514"/>
              <a:gd name="csY1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93514" h="6858000">
                <a:moveTo>
                  <a:pt x="0" y="0"/>
                </a:moveTo>
                <a:lnTo>
                  <a:pt x="2584471" y="0"/>
                </a:lnTo>
                <a:lnTo>
                  <a:pt x="2625892" y="66675"/>
                </a:lnTo>
                <a:cubicBezTo>
                  <a:pt x="2783973" y="332540"/>
                  <a:pt x="2908968" y="594895"/>
                  <a:pt x="2967789" y="850232"/>
                </a:cubicBezTo>
                <a:cubicBezTo>
                  <a:pt x="3085431" y="1360906"/>
                  <a:pt x="2641600" y="1858210"/>
                  <a:pt x="2791326" y="2326105"/>
                </a:cubicBezTo>
                <a:cubicBezTo>
                  <a:pt x="2941052" y="2794000"/>
                  <a:pt x="3812673" y="3130884"/>
                  <a:pt x="3866147" y="3657600"/>
                </a:cubicBezTo>
                <a:cubicBezTo>
                  <a:pt x="3919621" y="4184316"/>
                  <a:pt x="2933031" y="4981074"/>
                  <a:pt x="3112168" y="5486400"/>
                </a:cubicBezTo>
                <a:cubicBezTo>
                  <a:pt x="3291305" y="5991726"/>
                  <a:pt x="4700336" y="6285832"/>
                  <a:pt x="4940968" y="6689558"/>
                </a:cubicBezTo>
                <a:cubicBezTo>
                  <a:pt x="4971047" y="6740024"/>
                  <a:pt x="4987591" y="6796923"/>
                  <a:pt x="4993512" y="6857859"/>
                </a:cubicBezTo>
                <a:lnTo>
                  <a:pt x="4993514" y="6858000"/>
                </a:lnTo>
                <a:lnTo>
                  <a:pt x="0" y="6858000"/>
                </a:lnTo>
                <a:lnTo>
                  <a:pt x="0" y="0"/>
                </a:lnTo>
                <a:close/>
              </a:path>
            </a:pathLst>
          </a:custGeom>
          <a:blipFill>
            <a:blip r:embed="rId2"/>
            <a:stretch>
              <a:fillRect/>
            </a:stretch>
          </a:blipFill>
          <a:effectLst>
            <a:outerShdw blurRad="50800" dist="1905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516555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7AF1AB79-35CF-EB31-E306-D5DC651EF170}"/>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 y="0"/>
            <a:ext cx="12191999" cy="6858001"/>
          </a:xfrm>
          <a:prstGeom prst="rect">
            <a:avLst/>
          </a:prstGeom>
        </p:spPr>
      </p:pic>
      <p:pic>
        <p:nvPicPr>
          <p:cNvPr id="5" name="Graphic 4" descr="Rocket with solid fill">
            <a:extLst>
              <a:ext uri="{FF2B5EF4-FFF2-40B4-BE49-F238E27FC236}">
                <a16:creationId xmlns:a16="http://schemas.microsoft.com/office/drawing/2014/main" id="{ADD9D0DD-1E81-1C4A-2266-A9BF455844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300" y="4495800"/>
            <a:ext cx="2362200" cy="2362200"/>
          </a:xfrm>
          <a:prstGeom prst="rect">
            <a:avLst/>
          </a:prstGeom>
        </p:spPr>
      </p:pic>
    </p:spTree>
    <p:extLst>
      <p:ext uri="{BB962C8B-B14F-4D97-AF65-F5344CB8AC3E}">
        <p14:creationId xmlns:p14="http://schemas.microsoft.com/office/powerpoint/2010/main" val="1511591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F974D-70DB-5154-E5D8-1DE5A1C2AB3D}"/>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EACA4148-40B9-EECB-4279-F8FBCF5B9746}"/>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 y="0"/>
            <a:ext cx="12191999" cy="6858001"/>
          </a:xfrm>
          <a:prstGeom prst="rect">
            <a:avLst/>
          </a:prstGeom>
        </p:spPr>
      </p:pic>
      <p:pic>
        <p:nvPicPr>
          <p:cNvPr id="5" name="Graphic 4" descr="Rocket with solid fill">
            <a:extLst>
              <a:ext uri="{FF2B5EF4-FFF2-40B4-BE49-F238E27FC236}">
                <a16:creationId xmlns:a16="http://schemas.microsoft.com/office/drawing/2014/main" id="{BF8519B9-5A22-2AC1-A65E-0ECD7345DB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29799" y="114300"/>
            <a:ext cx="2362200" cy="2362200"/>
          </a:xfrm>
          <a:prstGeom prst="rect">
            <a:avLst/>
          </a:prstGeom>
        </p:spPr>
      </p:pic>
      <p:sp>
        <p:nvSpPr>
          <p:cNvPr id="2" name="Rectangle 1">
            <a:extLst>
              <a:ext uri="{FF2B5EF4-FFF2-40B4-BE49-F238E27FC236}">
                <a16:creationId xmlns:a16="http://schemas.microsoft.com/office/drawing/2014/main" id="{08D24B90-6A4A-F4C9-42D9-EA777B7061FE}"/>
              </a:ext>
            </a:extLst>
          </p:cNvPr>
          <p:cNvSpPr/>
          <p:nvPr/>
        </p:nvSpPr>
        <p:spPr>
          <a:xfrm>
            <a:off x="636019" y="2767280"/>
            <a:ext cx="10919977" cy="1323439"/>
          </a:xfrm>
          <a:prstGeom prst="rect">
            <a:avLst/>
          </a:prstGeom>
          <a:noFill/>
        </p:spPr>
        <p:txBody>
          <a:bodyPr wrap="none" lIns="91440" tIns="45720" rIns="91440" bIns="45720">
            <a:spAutoFit/>
          </a:bodyPr>
          <a:lstStyle/>
          <a:p>
            <a:pPr algn="ctr"/>
            <a:r>
              <a:rPr lang="en-US" sz="8000" b="0" cap="none" spc="0" dirty="0">
                <a:ln w="0"/>
                <a:solidFill>
                  <a:schemeClr val="tx1"/>
                </a:solidFill>
                <a:effectLst>
                  <a:outerShdw blurRad="38100" dist="19050" dir="2700000" algn="tl" rotWithShape="0">
                    <a:schemeClr val="dk1">
                      <a:alpha val="40000"/>
                    </a:schemeClr>
                  </a:outerShdw>
                </a:effectLst>
                <a:latin typeface="Agency FB" panose="020B0503020202020204" pitchFamily="34" charset="0"/>
              </a:rPr>
              <a:t>Deployment : From code to cloud </a:t>
            </a:r>
          </a:p>
        </p:txBody>
      </p:sp>
    </p:spTree>
    <p:extLst>
      <p:ext uri="{BB962C8B-B14F-4D97-AF65-F5344CB8AC3E}">
        <p14:creationId xmlns:p14="http://schemas.microsoft.com/office/powerpoint/2010/main" val="4124400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6A584-864A-4F29-5514-4BC8D8E1B392}"/>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F2B1B3FE-5C4F-325B-6F5C-65D61792A8AC}"/>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 y="0"/>
            <a:ext cx="12191999" cy="6858001"/>
          </a:xfrm>
          <a:prstGeom prst="rect">
            <a:avLst/>
          </a:prstGeom>
        </p:spPr>
      </p:pic>
      <p:pic>
        <p:nvPicPr>
          <p:cNvPr id="5" name="Graphic 4" descr="Rocket with solid fill">
            <a:extLst>
              <a:ext uri="{FF2B5EF4-FFF2-40B4-BE49-F238E27FC236}">
                <a16:creationId xmlns:a16="http://schemas.microsoft.com/office/drawing/2014/main" id="{5AAF0526-FFAC-6D72-22BE-5A8E7FED3C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69600" y="0"/>
            <a:ext cx="1422399" cy="1422399"/>
          </a:xfrm>
          <a:prstGeom prst="rect">
            <a:avLst/>
          </a:prstGeom>
        </p:spPr>
      </p:pic>
      <p:sp>
        <p:nvSpPr>
          <p:cNvPr id="2" name="Rectangle 1">
            <a:extLst>
              <a:ext uri="{FF2B5EF4-FFF2-40B4-BE49-F238E27FC236}">
                <a16:creationId xmlns:a16="http://schemas.microsoft.com/office/drawing/2014/main" id="{4F232248-5C0D-AE02-DC0E-7DB454046C52}"/>
              </a:ext>
            </a:extLst>
          </p:cNvPr>
          <p:cNvSpPr/>
          <p:nvPr/>
        </p:nvSpPr>
        <p:spPr>
          <a:xfrm>
            <a:off x="-215900" y="0"/>
            <a:ext cx="8420100" cy="1015663"/>
          </a:xfrm>
          <a:prstGeom prst="rect">
            <a:avLst/>
          </a:prstGeom>
          <a:noFill/>
        </p:spPr>
        <p:txBody>
          <a:bodyPr wrap="square" lIns="91440" tIns="45720" rIns="91440" bIns="45720">
            <a:spAutoFit/>
          </a:bodyPr>
          <a:lstStyle/>
          <a:p>
            <a:pPr algn="ctr"/>
            <a:r>
              <a:rPr lang="en-US" sz="6000" dirty="0">
                <a:ln w="0"/>
                <a:effectLst>
                  <a:outerShdw blurRad="38100" dist="19050" dir="2700000" algn="tl" rotWithShape="0">
                    <a:schemeClr val="dk1">
                      <a:alpha val="40000"/>
                    </a:schemeClr>
                  </a:outerShdw>
                </a:effectLst>
                <a:latin typeface="Agency FB" panose="020B0503020202020204" pitchFamily="34" charset="0"/>
              </a:rPr>
              <a:t>Deployment : From code to cloud </a:t>
            </a:r>
          </a:p>
        </p:txBody>
      </p:sp>
      <p:sp>
        <p:nvSpPr>
          <p:cNvPr id="6" name="TextBox 5">
            <a:extLst>
              <a:ext uri="{FF2B5EF4-FFF2-40B4-BE49-F238E27FC236}">
                <a16:creationId xmlns:a16="http://schemas.microsoft.com/office/drawing/2014/main" id="{E4DDD665-AA78-6A2D-EEE6-71F5CCFB85C3}"/>
              </a:ext>
            </a:extLst>
          </p:cNvPr>
          <p:cNvSpPr txBox="1"/>
          <p:nvPr/>
        </p:nvSpPr>
        <p:spPr>
          <a:xfrm>
            <a:off x="0" y="1352540"/>
            <a:ext cx="12192000" cy="5170646"/>
          </a:xfrm>
          <a:prstGeom prst="rect">
            <a:avLst/>
          </a:prstGeom>
          <a:noFill/>
        </p:spPr>
        <p:txBody>
          <a:bodyPr wrap="square">
            <a:spAutoFit/>
          </a:bodyPr>
          <a:lstStyle/>
          <a:p>
            <a:pPr marL="457200" lvl="0" indent="-457200">
              <a:buFont typeface="Arial" panose="020B0604020202020204" pitchFamily="34" charset="0"/>
              <a:buChar char="•"/>
            </a:pPr>
            <a:r>
              <a:rPr lang="en-IN" sz="3000" b="1" dirty="0">
                <a:solidFill>
                  <a:schemeClr val="tx1">
                    <a:lumMod val="95000"/>
                    <a:lumOff val="5000"/>
                  </a:schemeClr>
                </a:solidFill>
                <a:latin typeface="+mj-lt"/>
              </a:rPr>
              <a:t>GitHub Repository: </a:t>
            </a:r>
            <a:r>
              <a:rPr lang="en-IN" sz="3000" dirty="0">
                <a:solidFill>
                  <a:schemeClr val="tx1">
                    <a:lumMod val="95000"/>
                    <a:lumOff val="5000"/>
                  </a:schemeClr>
                </a:solidFill>
                <a:latin typeface="+mj-lt"/>
              </a:rPr>
              <a:t>Stores the Mind Bloom source code and tracks project changes.</a:t>
            </a:r>
          </a:p>
          <a:p>
            <a:pPr marL="457200" lvl="0" indent="-457200">
              <a:buFont typeface="Arial" panose="020B0604020202020204" pitchFamily="34" charset="0"/>
              <a:buChar char="•"/>
            </a:pPr>
            <a:r>
              <a:rPr lang="en-IN" sz="3000" b="1" dirty="0">
                <a:solidFill>
                  <a:schemeClr val="tx1">
                    <a:lumMod val="95000"/>
                    <a:lumOff val="5000"/>
                  </a:schemeClr>
                </a:solidFill>
                <a:latin typeface="+mj-lt"/>
              </a:rPr>
              <a:t>Render Hosting:</a:t>
            </a:r>
            <a:r>
              <a:rPr lang="en-IN" sz="3000" dirty="0">
                <a:solidFill>
                  <a:schemeClr val="tx1">
                    <a:lumMod val="95000"/>
                    <a:lumOff val="5000"/>
                  </a:schemeClr>
                </a:solidFill>
                <a:latin typeface="+mj-lt"/>
              </a:rPr>
              <a:t> Deploys the Flask web application and makes it accessible online.</a:t>
            </a:r>
          </a:p>
          <a:p>
            <a:pPr marL="457200" lvl="0" indent="-457200">
              <a:buFont typeface="Arial" panose="020B0604020202020204" pitchFamily="34" charset="0"/>
              <a:buChar char="•"/>
            </a:pPr>
            <a:r>
              <a:rPr lang="en-IN" sz="3000" b="1" dirty="0">
                <a:solidFill>
                  <a:schemeClr val="tx1">
                    <a:lumMod val="95000"/>
                    <a:lumOff val="5000"/>
                  </a:schemeClr>
                </a:solidFill>
                <a:latin typeface="+mj-lt"/>
              </a:rPr>
              <a:t>Public URL: </a:t>
            </a:r>
            <a:r>
              <a:rPr lang="en-IN" sz="3000" dirty="0">
                <a:solidFill>
                  <a:schemeClr val="tx1">
                    <a:lumMod val="95000"/>
                    <a:lumOff val="5000"/>
                  </a:schemeClr>
                </a:solidFill>
                <a:latin typeface="+mj-lt"/>
              </a:rPr>
              <a:t>Allows users to access Mind Bloom through a web browser.</a:t>
            </a:r>
          </a:p>
          <a:p>
            <a:pPr marL="457200" lvl="0" indent="-457200">
              <a:buFont typeface="Arial" panose="020B0604020202020204" pitchFamily="34" charset="0"/>
              <a:buChar char="•"/>
            </a:pPr>
            <a:r>
              <a:rPr lang="en-IN" sz="3000" dirty="0">
                <a:solidFill>
                  <a:schemeClr val="tx1">
                    <a:lumMod val="95000"/>
                    <a:lumOff val="5000"/>
                  </a:schemeClr>
                </a:solidFill>
                <a:latin typeface="+mj-lt"/>
              </a:rPr>
              <a:t>Automatic Deployment: Render can redeploy the website when configured changes are pushed to GitHub.</a:t>
            </a:r>
          </a:p>
          <a:p>
            <a:pPr marL="457200" lvl="0" indent="-457200">
              <a:buFont typeface="Arial" panose="020B0604020202020204" pitchFamily="34" charset="0"/>
              <a:buChar char="•"/>
            </a:pPr>
            <a:r>
              <a:rPr lang="en-IN" sz="3000" b="1" dirty="0">
                <a:solidFill>
                  <a:schemeClr val="tx1">
                    <a:lumMod val="95000"/>
                    <a:lumOff val="5000"/>
                  </a:schemeClr>
                </a:solidFill>
                <a:latin typeface="+mj-lt"/>
              </a:rPr>
              <a:t>UptimeRobot Monitoring: </a:t>
            </a:r>
            <a:r>
              <a:rPr lang="en-IN" sz="3000" dirty="0">
                <a:solidFill>
                  <a:schemeClr val="tx1">
                    <a:lumMod val="95000"/>
                    <a:lumOff val="5000"/>
                  </a:schemeClr>
                </a:solidFill>
                <a:latin typeface="+mj-lt"/>
              </a:rPr>
              <a:t>Periodically checks the deployed website's availability.</a:t>
            </a:r>
          </a:p>
          <a:p>
            <a:pPr marL="457200" lvl="0" indent="-457200">
              <a:buFont typeface="Arial" panose="020B0604020202020204" pitchFamily="34" charset="0"/>
              <a:buChar char="•"/>
            </a:pPr>
            <a:r>
              <a:rPr lang="en-IN" sz="3000" b="1" dirty="0">
                <a:solidFill>
                  <a:schemeClr val="tx1">
                    <a:lumMod val="95000"/>
                    <a:lumOff val="5000"/>
                  </a:schemeClr>
                </a:solidFill>
                <a:latin typeface="+mj-lt"/>
              </a:rPr>
              <a:t>Remote Accessibility:</a:t>
            </a:r>
            <a:r>
              <a:rPr lang="en-IN" sz="3000" dirty="0">
                <a:solidFill>
                  <a:schemeClr val="tx1">
                    <a:lumMod val="95000"/>
                    <a:lumOff val="5000"/>
                  </a:schemeClr>
                </a:solidFill>
                <a:latin typeface="+mj-lt"/>
              </a:rPr>
              <a:t> Users can access the hosted website without installing Python or running the Flask server locally.</a:t>
            </a:r>
          </a:p>
        </p:txBody>
      </p:sp>
      <p:pic>
        <p:nvPicPr>
          <p:cNvPr id="7" name="Picture 6" descr="Android Icon png images | PNGEgg">
            <a:extLst>
              <a:ext uri="{FF2B5EF4-FFF2-40B4-BE49-F238E27FC236}">
                <a16:creationId xmlns:a16="http://schemas.microsoft.com/office/drawing/2014/main" id="{0165BCAC-E659-351C-3A8A-3943BB013C3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483" b="91667" l="9483" r="89943">
                        <a14:foregroundMark x1="20690" y1="53736" x2="20690" y2="53736"/>
                        <a14:foregroundMark x1="83621" y1="52011" x2="83621" y2="52011"/>
                        <a14:foregroundMark x1="54023" y1="32184" x2="54023" y2="32184"/>
                        <a14:foregroundMark x1="56609" y1="91092" x2="56609" y2="91092"/>
                        <a14:foregroundMark x1="42529" y1="91667" x2="42529" y2="91667"/>
                      </a14:backgroundRemoval>
                    </a14:imgEffect>
                  </a14:imgLayer>
                </a14:imgProps>
              </a:ext>
            </a:extLst>
          </a:blip>
          <a:stretch>
            <a:fillRect/>
          </a:stretch>
        </p:blipFill>
        <p:spPr>
          <a:xfrm>
            <a:off x="139700" y="5691336"/>
            <a:ext cx="49064" cy="49064"/>
          </a:xfrm>
          <a:prstGeom prst="rect">
            <a:avLst/>
          </a:prstGeom>
        </p:spPr>
      </p:pic>
    </p:spTree>
    <p:extLst>
      <p:ext uri="{BB962C8B-B14F-4D97-AF65-F5344CB8AC3E}">
        <p14:creationId xmlns:p14="http://schemas.microsoft.com/office/powerpoint/2010/main" val="2449113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C067C-6A07-7EC8-4036-AD89EAF283F9}"/>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EAAC5FA2-FE3B-676F-9030-E7C38CDBEB0F}"/>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 y="0"/>
            <a:ext cx="12191999" cy="6858001"/>
          </a:xfrm>
          <a:prstGeom prst="rect">
            <a:avLst/>
          </a:prstGeom>
        </p:spPr>
      </p:pic>
      <p:grpSp>
        <p:nvGrpSpPr>
          <p:cNvPr id="49" name="Group 48">
            <a:extLst>
              <a:ext uri="{FF2B5EF4-FFF2-40B4-BE49-F238E27FC236}">
                <a16:creationId xmlns:a16="http://schemas.microsoft.com/office/drawing/2014/main" id="{9A41EA59-5455-4563-F487-3050312C8BFF}"/>
              </a:ext>
            </a:extLst>
          </p:cNvPr>
          <p:cNvGrpSpPr/>
          <p:nvPr/>
        </p:nvGrpSpPr>
        <p:grpSpPr>
          <a:xfrm>
            <a:off x="6383917" y="5486400"/>
            <a:ext cx="5808083" cy="1371600"/>
            <a:chOff x="6383917" y="5486400"/>
            <a:chExt cx="5808083" cy="1371600"/>
          </a:xfrm>
        </p:grpSpPr>
        <p:sp>
          <p:nvSpPr>
            <p:cNvPr id="24" name="Rectangle 23">
              <a:extLst>
                <a:ext uri="{FF2B5EF4-FFF2-40B4-BE49-F238E27FC236}">
                  <a16:creationId xmlns:a16="http://schemas.microsoft.com/office/drawing/2014/main" id="{6AA17E12-377B-CD2E-3B89-3138498B16C8}"/>
                </a:ext>
              </a:extLst>
            </p:cNvPr>
            <p:cNvSpPr/>
            <p:nvPr/>
          </p:nvSpPr>
          <p:spPr>
            <a:xfrm>
              <a:off x="6921500" y="5486400"/>
              <a:ext cx="5270500" cy="1371600"/>
            </a:xfrm>
            <a:prstGeom prst="rect">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Isosceles Triangle 43">
              <a:extLst>
                <a:ext uri="{FF2B5EF4-FFF2-40B4-BE49-F238E27FC236}">
                  <a16:creationId xmlns:a16="http://schemas.microsoft.com/office/drawing/2014/main" id="{50D7B7B0-0F15-DAE0-86A4-894BE38F030E}"/>
                </a:ext>
              </a:extLst>
            </p:cNvPr>
            <p:cNvSpPr/>
            <p:nvPr/>
          </p:nvSpPr>
          <p:spPr>
            <a:xfrm rot="16200000">
              <a:off x="6105563" y="5928632"/>
              <a:ext cx="1094290" cy="537581"/>
            </a:xfrm>
            <a:prstGeom prst="triangle">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descr="Android Icon png images | PNGEgg">
            <a:extLst>
              <a:ext uri="{FF2B5EF4-FFF2-40B4-BE49-F238E27FC236}">
                <a16:creationId xmlns:a16="http://schemas.microsoft.com/office/drawing/2014/main" id="{105BE615-0E4B-C038-E3B5-E23607CDBC8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483" b="91667" l="9483" r="89943">
                        <a14:foregroundMark x1="20690" y1="53736" x2="20690" y2="53736"/>
                        <a14:foregroundMark x1="83621" y1="52011" x2="83621" y2="52011"/>
                        <a14:foregroundMark x1="54023" y1="32184" x2="54023" y2="32184"/>
                        <a14:foregroundMark x1="56609" y1="91092" x2="56609" y2="91092"/>
                        <a14:foregroundMark x1="42529" y1="91667" x2="42529" y2="91667"/>
                      </a14:backgroundRemoval>
                    </a14:imgEffect>
                  </a14:imgLayer>
                </a14:imgProps>
              </a:ext>
            </a:extLst>
          </a:blip>
          <a:stretch>
            <a:fillRect/>
          </a:stretch>
        </p:blipFill>
        <p:spPr>
          <a:xfrm>
            <a:off x="-152400" y="3874368"/>
            <a:ext cx="2870200" cy="2870200"/>
          </a:xfrm>
          <a:prstGeom prst="rect">
            <a:avLst/>
          </a:prstGeom>
        </p:spPr>
      </p:pic>
      <p:pic>
        <p:nvPicPr>
          <p:cNvPr id="4" name="Picture 3" descr="Android operating system logo symbol with name – Royalty-Free Vector |  VectorStock">
            <a:extLst>
              <a:ext uri="{FF2B5EF4-FFF2-40B4-BE49-F238E27FC236}">
                <a16:creationId xmlns:a16="http://schemas.microsoft.com/office/drawing/2014/main" id="{FF990599-C82E-2621-4024-AF073D916867}"/>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20500" y1="70773" x2="20500" y2="70773"/>
                        <a14:foregroundMark x1="30800" y1="72004" x2="30800" y2="72004"/>
                        <a14:foregroundMark x1="42300" y1="73012" x2="42300" y2="73012"/>
                        <a14:foregroundMark x1="53500" y1="73236" x2="53500" y2="73236"/>
                        <a14:foregroundMark x1="58600" y1="74244" x2="58600" y2="74244"/>
                        <a14:foregroundMark x1="70700" y1="73236" x2="70700" y2="73236"/>
                        <a14:foregroundMark x1="74000" y1="73012" x2="74000" y2="73012"/>
                        <a14:foregroundMark x1="70100" y1="66517" x2="70100" y2="66517"/>
                        <a14:backgroundMark x1="52400" y1="42889" x2="52400" y2="42889"/>
                        <a14:backgroundMark x1="46000" y1="56887" x2="45400" y2="38634"/>
                      </a14:backgroundRemoval>
                    </a14:imgEffect>
                  </a14:imgLayer>
                </a14:imgProps>
              </a:ext>
            </a:extLst>
          </a:blip>
          <a:stretch>
            <a:fillRect/>
          </a:stretch>
        </p:blipFill>
        <p:spPr>
          <a:xfrm>
            <a:off x="0" y="-2159868"/>
            <a:ext cx="5759798" cy="5143500"/>
          </a:xfrm>
          <a:prstGeom prst="rect">
            <a:avLst/>
          </a:prstGeom>
        </p:spPr>
      </p:pic>
      <p:sp>
        <p:nvSpPr>
          <p:cNvPr id="8" name="Rectangle 7">
            <a:extLst>
              <a:ext uri="{FF2B5EF4-FFF2-40B4-BE49-F238E27FC236}">
                <a16:creationId xmlns:a16="http://schemas.microsoft.com/office/drawing/2014/main" id="{507FD4B7-2FEF-8CD1-69DE-DCF25A5BA272}"/>
              </a:ext>
            </a:extLst>
          </p:cNvPr>
          <p:cNvSpPr/>
          <p:nvPr/>
        </p:nvSpPr>
        <p:spPr>
          <a:xfrm>
            <a:off x="2214809" y="2024685"/>
            <a:ext cx="3881191" cy="1015663"/>
          </a:xfrm>
          <a:prstGeom prst="rect">
            <a:avLst/>
          </a:prstGeom>
          <a:noFill/>
        </p:spPr>
        <p:txBody>
          <a:bodyPr wrap="none" lIns="91440" tIns="45720" rIns="91440" bIns="45720">
            <a:spAutoFit/>
          </a:bodyPr>
          <a:lstStyle/>
          <a:p>
            <a:pPr algn="ctr"/>
            <a:r>
              <a:rPr lang="en-US" sz="6000" b="1" dirty="0">
                <a:ln w="0"/>
                <a:effectLst>
                  <a:outerShdw blurRad="38100" dist="19050" dir="2700000" algn="tl" rotWithShape="0">
                    <a:schemeClr val="dk1">
                      <a:alpha val="40000"/>
                    </a:schemeClr>
                  </a:outerShdw>
                </a:effectLst>
                <a:latin typeface="Bradley Hand ITC" panose="03070402050302030203" pitchFamily="66" charset="0"/>
              </a:rPr>
              <a:t>Application</a:t>
            </a:r>
            <a:endParaRPr lang="en-US" sz="6000" b="1" cap="none" spc="0" dirty="0">
              <a:ln w="0"/>
              <a:solidFill>
                <a:schemeClr val="tx1"/>
              </a:solidFill>
              <a:effectLst>
                <a:outerShdw blurRad="38100" dist="19050" dir="2700000" algn="tl" rotWithShape="0">
                  <a:schemeClr val="dk1">
                    <a:alpha val="40000"/>
                  </a:schemeClr>
                </a:outerShdw>
              </a:effectLst>
              <a:latin typeface="Bradley Hand ITC" panose="03070402050302030203" pitchFamily="66" charset="0"/>
            </a:endParaRPr>
          </a:p>
        </p:txBody>
      </p:sp>
      <p:sp>
        <p:nvSpPr>
          <p:cNvPr id="33" name="Rectangle 32">
            <a:extLst>
              <a:ext uri="{FF2B5EF4-FFF2-40B4-BE49-F238E27FC236}">
                <a16:creationId xmlns:a16="http://schemas.microsoft.com/office/drawing/2014/main" id="{D459891D-3E88-19A5-37F8-3E1E34EEF249}"/>
              </a:ext>
            </a:extLst>
          </p:cNvPr>
          <p:cNvSpPr/>
          <p:nvPr/>
        </p:nvSpPr>
        <p:spPr>
          <a:xfrm>
            <a:off x="8504212" y="5836188"/>
            <a:ext cx="2105063" cy="784830"/>
          </a:xfrm>
          <a:prstGeom prst="rect">
            <a:avLst/>
          </a:prstGeom>
          <a:noFill/>
        </p:spPr>
        <p:txBody>
          <a:bodyPr wrap="none" lIns="91440" tIns="45720" rIns="91440" bIns="45720">
            <a:spAutoFit/>
          </a:bodyPr>
          <a:lstStyle/>
          <a:p>
            <a:pPr algn="ctr"/>
            <a:r>
              <a:rPr lang="en-US" sz="4500" b="0" cap="none" spc="0" dirty="0">
                <a:ln w="0"/>
                <a:solidFill>
                  <a:schemeClr val="tx1"/>
                </a:solidFill>
                <a:effectLst>
                  <a:outerShdw blurRad="38100" dist="19050" dir="2700000" algn="tl" rotWithShape="0">
                    <a:schemeClr val="dk1">
                      <a:alpha val="40000"/>
                    </a:schemeClr>
                  </a:outerShdw>
                </a:effectLst>
              </a:rPr>
              <a:t>APK file </a:t>
            </a:r>
          </a:p>
        </p:txBody>
      </p:sp>
      <p:grpSp>
        <p:nvGrpSpPr>
          <p:cNvPr id="45" name="Group 44">
            <a:extLst>
              <a:ext uri="{FF2B5EF4-FFF2-40B4-BE49-F238E27FC236}">
                <a16:creationId xmlns:a16="http://schemas.microsoft.com/office/drawing/2014/main" id="{BC08CB02-8B20-444A-E707-65A0427FA2BF}"/>
              </a:ext>
            </a:extLst>
          </p:cNvPr>
          <p:cNvGrpSpPr/>
          <p:nvPr/>
        </p:nvGrpSpPr>
        <p:grpSpPr>
          <a:xfrm>
            <a:off x="6383918" y="0"/>
            <a:ext cx="5808082" cy="1371600"/>
            <a:chOff x="6383918" y="0"/>
            <a:chExt cx="5808082" cy="1371600"/>
          </a:xfrm>
        </p:grpSpPr>
        <p:sp>
          <p:nvSpPr>
            <p:cNvPr id="10" name="Rectangle 9">
              <a:extLst>
                <a:ext uri="{FF2B5EF4-FFF2-40B4-BE49-F238E27FC236}">
                  <a16:creationId xmlns:a16="http://schemas.microsoft.com/office/drawing/2014/main" id="{F3D1AFE0-6A93-5602-186B-6BC15FF4B043}"/>
                </a:ext>
              </a:extLst>
            </p:cNvPr>
            <p:cNvSpPr/>
            <p:nvPr/>
          </p:nvSpPr>
          <p:spPr>
            <a:xfrm>
              <a:off x="6921500" y="0"/>
              <a:ext cx="5270500" cy="1371600"/>
            </a:xfrm>
            <a:prstGeom prst="rect">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Rectangle 24">
              <a:extLst>
                <a:ext uri="{FF2B5EF4-FFF2-40B4-BE49-F238E27FC236}">
                  <a16:creationId xmlns:a16="http://schemas.microsoft.com/office/drawing/2014/main" id="{D40222C5-47B2-E584-61F6-E876D471E2AC}"/>
                </a:ext>
              </a:extLst>
            </p:cNvPr>
            <p:cNvSpPr/>
            <p:nvPr/>
          </p:nvSpPr>
          <p:spPr>
            <a:xfrm>
              <a:off x="7683475" y="298274"/>
              <a:ext cx="3689150" cy="784830"/>
            </a:xfrm>
            <a:prstGeom prst="rect">
              <a:avLst/>
            </a:prstGeom>
            <a:noFill/>
          </p:spPr>
          <p:txBody>
            <a:bodyPr wrap="none" lIns="91440" tIns="45720" rIns="91440" bIns="45720">
              <a:spAutoFit/>
            </a:bodyPr>
            <a:lstStyle/>
            <a:p>
              <a:pPr algn="ctr"/>
              <a:r>
                <a:rPr lang="en-IN" sz="4500" dirty="0"/>
                <a:t>Android Studio</a:t>
              </a: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36" name="Isosceles Triangle 35">
              <a:extLst>
                <a:ext uri="{FF2B5EF4-FFF2-40B4-BE49-F238E27FC236}">
                  <a16:creationId xmlns:a16="http://schemas.microsoft.com/office/drawing/2014/main" id="{8114D09F-353E-D9CA-24FD-912A8BA35917}"/>
                </a:ext>
              </a:extLst>
            </p:cNvPr>
            <p:cNvSpPr/>
            <p:nvPr/>
          </p:nvSpPr>
          <p:spPr>
            <a:xfrm rot="16200000">
              <a:off x="6105564" y="417009"/>
              <a:ext cx="1094290" cy="537581"/>
            </a:xfrm>
            <a:prstGeom prst="triangle">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46" name="Group 45">
            <a:extLst>
              <a:ext uri="{FF2B5EF4-FFF2-40B4-BE49-F238E27FC236}">
                <a16:creationId xmlns:a16="http://schemas.microsoft.com/office/drawing/2014/main" id="{309AC098-2E91-734C-566E-3DA92FB3BE91}"/>
              </a:ext>
            </a:extLst>
          </p:cNvPr>
          <p:cNvGrpSpPr/>
          <p:nvPr/>
        </p:nvGrpSpPr>
        <p:grpSpPr>
          <a:xfrm>
            <a:off x="6383915" y="1371600"/>
            <a:ext cx="5808085" cy="1371600"/>
            <a:chOff x="6383915" y="1371600"/>
            <a:chExt cx="5808085" cy="1371600"/>
          </a:xfrm>
        </p:grpSpPr>
        <p:sp>
          <p:nvSpPr>
            <p:cNvPr id="18" name="Rectangle 17">
              <a:extLst>
                <a:ext uri="{FF2B5EF4-FFF2-40B4-BE49-F238E27FC236}">
                  <a16:creationId xmlns:a16="http://schemas.microsoft.com/office/drawing/2014/main" id="{7174CF8A-9E9D-BCCE-3FF5-30A1AA7C98DA}"/>
                </a:ext>
              </a:extLst>
            </p:cNvPr>
            <p:cNvSpPr/>
            <p:nvPr/>
          </p:nvSpPr>
          <p:spPr>
            <a:xfrm>
              <a:off x="6921500" y="1371600"/>
              <a:ext cx="5270500" cy="1371600"/>
            </a:xfrm>
            <a:prstGeom prst="rect">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Rectangle 26">
              <a:extLst>
                <a:ext uri="{FF2B5EF4-FFF2-40B4-BE49-F238E27FC236}">
                  <a16:creationId xmlns:a16="http://schemas.microsoft.com/office/drawing/2014/main" id="{FA009AE5-7F26-0008-CD2D-5B1737406EF8}"/>
                </a:ext>
              </a:extLst>
            </p:cNvPr>
            <p:cNvSpPr/>
            <p:nvPr/>
          </p:nvSpPr>
          <p:spPr>
            <a:xfrm>
              <a:off x="7683475" y="1686171"/>
              <a:ext cx="3746538" cy="784830"/>
            </a:xfrm>
            <a:prstGeom prst="rect">
              <a:avLst/>
            </a:prstGeom>
            <a:noFill/>
          </p:spPr>
          <p:txBody>
            <a:bodyPr wrap="none" lIns="91440" tIns="45720" rIns="91440" bIns="45720">
              <a:spAutoFit/>
            </a:bodyPr>
            <a:lstStyle/>
            <a:p>
              <a:pPr algn="ctr"/>
              <a:r>
                <a:rPr lang="en-IN" sz="4500" dirty="0"/>
                <a:t>MainActivity.kt</a:t>
              </a: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38" name="Isosceles Triangle 37">
              <a:extLst>
                <a:ext uri="{FF2B5EF4-FFF2-40B4-BE49-F238E27FC236}">
                  <a16:creationId xmlns:a16="http://schemas.microsoft.com/office/drawing/2014/main" id="{A3A191C4-FB60-1145-B0D4-BAC37B545D11}"/>
                </a:ext>
              </a:extLst>
            </p:cNvPr>
            <p:cNvSpPr/>
            <p:nvPr/>
          </p:nvSpPr>
          <p:spPr>
            <a:xfrm rot="16200000">
              <a:off x="6105561" y="1726154"/>
              <a:ext cx="1094290" cy="537581"/>
            </a:xfrm>
            <a:prstGeom prst="triangle">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7" name="Group 46">
            <a:extLst>
              <a:ext uri="{FF2B5EF4-FFF2-40B4-BE49-F238E27FC236}">
                <a16:creationId xmlns:a16="http://schemas.microsoft.com/office/drawing/2014/main" id="{14EBB6C5-0089-5D04-A61F-546DC6E7A40B}"/>
              </a:ext>
            </a:extLst>
          </p:cNvPr>
          <p:cNvGrpSpPr/>
          <p:nvPr/>
        </p:nvGrpSpPr>
        <p:grpSpPr>
          <a:xfrm>
            <a:off x="6383916" y="2743200"/>
            <a:ext cx="5808083" cy="1371600"/>
            <a:chOff x="6383916" y="2743200"/>
            <a:chExt cx="5808083" cy="1371600"/>
          </a:xfrm>
        </p:grpSpPr>
        <p:sp>
          <p:nvSpPr>
            <p:cNvPr id="20" name="Rectangle 19">
              <a:extLst>
                <a:ext uri="{FF2B5EF4-FFF2-40B4-BE49-F238E27FC236}">
                  <a16:creationId xmlns:a16="http://schemas.microsoft.com/office/drawing/2014/main" id="{0A63A349-0837-7F48-FDE2-70E78CA7E6DE}"/>
                </a:ext>
              </a:extLst>
            </p:cNvPr>
            <p:cNvSpPr/>
            <p:nvPr/>
          </p:nvSpPr>
          <p:spPr>
            <a:xfrm>
              <a:off x="6921499" y="2743200"/>
              <a:ext cx="5270500" cy="1371600"/>
            </a:xfrm>
            <a:prstGeom prst="rect">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Rectangle 28">
              <a:extLst>
                <a:ext uri="{FF2B5EF4-FFF2-40B4-BE49-F238E27FC236}">
                  <a16:creationId xmlns:a16="http://schemas.microsoft.com/office/drawing/2014/main" id="{15B68024-69CD-9981-45B5-6A0FD1C8C2D1}"/>
                </a:ext>
              </a:extLst>
            </p:cNvPr>
            <p:cNvSpPr/>
            <p:nvPr/>
          </p:nvSpPr>
          <p:spPr>
            <a:xfrm>
              <a:off x="7076174" y="3019107"/>
              <a:ext cx="5115824" cy="784830"/>
            </a:xfrm>
            <a:prstGeom prst="rect">
              <a:avLst/>
            </a:prstGeom>
            <a:noFill/>
          </p:spPr>
          <p:txBody>
            <a:bodyPr wrap="none" lIns="91440" tIns="45720" rIns="91440" bIns="45720">
              <a:spAutoFit/>
            </a:bodyPr>
            <a:lstStyle/>
            <a:p>
              <a:pPr algn="ctr"/>
              <a:r>
                <a:rPr lang="en-IN" sz="4500" dirty="0"/>
                <a:t>AndroidManifest.xml</a:t>
              </a: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0" name="Isosceles Triangle 39">
              <a:extLst>
                <a:ext uri="{FF2B5EF4-FFF2-40B4-BE49-F238E27FC236}">
                  <a16:creationId xmlns:a16="http://schemas.microsoft.com/office/drawing/2014/main" id="{2F025712-773F-EDAE-A1FB-3D2D0F81DFA8}"/>
                </a:ext>
              </a:extLst>
            </p:cNvPr>
            <p:cNvSpPr/>
            <p:nvPr/>
          </p:nvSpPr>
          <p:spPr>
            <a:xfrm rot="16200000">
              <a:off x="6105562" y="3146464"/>
              <a:ext cx="1094290" cy="537581"/>
            </a:xfrm>
            <a:prstGeom prst="triangle">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8" name="Group 47">
            <a:extLst>
              <a:ext uri="{FF2B5EF4-FFF2-40B4-BE49-F238E27FC236}">
                <a16:creationId xmlns:a16="http://schemas.microsoft.com/office/drawing/2014/main" id="{02E4EFEA-7B39-7F49-CF51-1518848D3F0F}"/>
              </a:ext>
            </a:extLst>
          </p:cNvPr>
          <p:cNvGrpSpPr/>
          <p:nvPr/>
        </p:nvGrpSpPr>
        <p:grpSpPr>
          <a:xfrm>
            <a:off x="6411245" y="4114800"/>
            <a:ext cx="5780753" cy="1371600"/>
            <a:chOff x="6411245" y="4114800"/>
            <a:chExt cx="5780753" cy="1371600"/>
          </a:xfrm>
        </p:grpSpPr>
        <p:sp>
          <p:nvSpPr>
            <p:cNvPr id="22" name="Rectangle 21">
              <a:extLst>
                <a:ext uri="{FF2B5EF4-FFF2-40B4-BE49-F238E27FC236}">
                  <a16:creationId xmlns:a16="http://schemas.microsoft.com/office/drawing/2014/main" id="{27DD5BF2-CC6B-9FE2-7A72-F0DCEE55597E}"/>
                </a:ext>
              </a:extLst>
            </p:cNvPr>
            <p:cNvSpPr/>
            <p:nvPr/>
          </p:nvSpPr>
          <p:spPr>
            <a:xfrm>
              <a:off x="6921498" y="4114800"/>
              <a:ext cx="5270500" cy="1371600"/>
            </a:xfrm>
            <a:prstGeom prst="rect">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Rectangle 30">
              <a:extLst>
                <a:ext uri="{FF2B5EF4-FFF2-40B4-BE49-F238E27FC236}">
                  <a16:creationId xmlns:a16="http://schemas.microsoft.com/office/drawing/2014/main" id="{CE3493DA-BCEF-2AEE-5895-D9A2308C9E08}"/>
                </a:ext>
              </a:extLst>
            </p:cNvPr>
            <p:cNvSpPr/>
            <p:nvPr/>
          </p:nvSpPr>
          <p:spPr>
            <a:xfrm>
              <a:off x="7390927" y="4451738"/>
              <a:ext cx="4331634" cy="784830"/>
            </a:xfrm>
            <a:prstGeom prst="rect">
              <a:avLst/>
            </a:prstGeom>
            <a:noFill/>
          </p:spPr>
          <p:txBody>
            <a:bodyPr wrap="none" lIns="91440" tIns="45720" rIns="91440" bIns="45720">
              <a:spAutoFit/>
            </a:bodyPr>
            <a:lstStyle/>
            <a:p>
              <a:pPr algn="ctr"/>
              <a:r>
                <a:rPr lang="en-IN" sz="4500" dirty="0"/>
                <a:t>activity_main.xml</a:t>
              </a: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2" name="Isosceles Triangle 41">
              <a:extLst>
                <a:ext uri="{FF2B5EF4-FFF2-40B4-BE49-F238E27FC236}">
                  <a16:creationId xmlns:a16="http://schemas.microsoft.com/office/drawing/2014/main" id="{22C27F98-B57D-46E4-207A-A63F06AA5ADC}"/>
                </a:ext>
              </a:extLst>
            </p:cNvPr>
            <p:cNvSpPr/>
            <p:nvPr/>
          </p:nvSpPr>
          <p:spPr>
            <a:xfrm rot="16200000">
              <a:off x="6132891" y="4531809"/>
              <a:ext cx="1094290" cy="537581"/>
            </a:xfrm>
            <a:prstGeom prst="triangle">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773669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95A4E-9522-EB04-837D-024343E9A982}"/>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24B2852C-8100-3111-E34E-4982FF80B185}"/>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 y="0"/>
            <a:ext cx="12191999" cy="6858001"/>
          </a:xfrm>
          <a:prstGeom prst="rect">
            <a:avLst/>
          </a:prstGeom>
        </p:spPr>
      </p:pic>
      <p:grpSp>
        <p:nvGrpSpPr>
          <p:cNvPr id="49" name="Group 48">
            <a:extLst>
              <a:ext uri="{FF2B5EF4-FFF2-40B4-BE49-F238E27FC236}">
                <a16:creationId xmlns:a16="http://schemas.microsoft.com/office/drawing/2014/main" id="{C4BBF0BA-191E-6CD6-46B8-4DA278A00D1E}"/>
              </a:ext>
            </a:extLst>
          </p:cNvPr>
          <p:cNvGrpSpPr/>
          <p:nvPr/>
        </p:nvGrpSpPr>
        <p:grpSpPr>
          <a:xfrm>
            <a:off x="-1422399" y="6010168"/>
            <a:ext cx="13614399" cy="860710"/>
            <a:chOff x="6383917" y="5486400"/>
            <a:chExt cx="5808083" cy="1371600"/>
          </a:xfrm>
        </p:grpSpPr>
        <p:sp>
          <p:nvSpPr>
            <p:cNvPr id="24" name="Rectangle 23">
              <a:extLst>
                <a:ext uri="{FF2B5EF4-FFF2-40B4-BE49-F238E27FC236}">
                  <a16:creationId xmlns:a16="http://schemas.microsoft.com/office/drawing/2014/main" id="{F6CA6BD5-76E5-A1CA-2F8E-87107F135CB8}"/>
                </a:ext>
              </a:extLst>
            </p:cNvPr>
            <p:cNvSpPr/>
            <p:nvPr/>
          </p:nvSpPr>
          <p:spPr>
            <a:xfrm>
              <a:off x="6921500" y="5486400"/>
              <a:ext cx="5270500" cy="1371600"/>
            </a:xfrm>
            <a:prstGeom prst="rect">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Isosceles Triangle 43">
              <a:extLst>
                <a:ext uri="{FF2B5EF4-FFF2-40B4-BE49-F238E27FC236}">
                  <a16:creationId xmlns:a16="http://schemas.microsoft.com/office/drawing/2014/main" id="{F3665C19-041D-2482-F4CC-190149C1AFA2}"/>
                </a:ext>
              </a:extLst>
            </p:cNvPr>
            <p:cNvSpPr/>
            <p:nvPr/>
          </p:nvSpPr>
          <p:spPr>
            <a:xfrm rot="16200000">
              <a:off x="6105563" y="5928632"/>
              <a:ext cx="1094290" cy="537581"/>
            </a:xfrm>
            <a:prstGeom prst="triangle">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8" name="Group 47">
            <a:extLst>
              <a:ext uri="{FF2B5EF4-FFF2-40B4-BE49-F238E27FC236}">
                <a16:creationId xmlns:a16="http://schemas.microsoft.com/office/drawing/2014/main" id="{053116E6-2C85-24E9-6211-8620161E0B5C}"/>
              </a:ext>
            </a:extLst>
          </p:cNvPr>
          <p:cNvGrpSpPr/>
          <p:nvPr/>
        </p:nvGrpSpPr>
        <p:grpSpPr>
          <a:xfrm>
            <a:off x="-1574799" y="5082922"/>
            <a:ext cx="13766800" cy="993174"/>
            <a:chOff x="6411245" y="4114800"/>
            <a:chExt cx="5780753" cy="1371600"/>
          </a:xfrm>
        </p:grpSpPr>
        <p:sp>
          <p:nvSpPr>
            <p:cNvPr id="22" name="Rectangle 21">
              <a:extLst>
                <a:ext uri="{FF2B5EF4-FFF2-40B4-BE49-F238E27FC236}">
                  <a16:creationId xmlns:a16="http://schemas.microsoft.com/office/drawing/2014/main" id="{2828DD22-DF5C-6F8B-0DF8-511091E90B04}"/>
                </a:ext>
              </a:extLst>
            </p:cNvPr>
            <p:cNvSpPr/>
            <p:nvPr/>
          </p:nvSpPr>
          <p:spPr>
            <a:xfrm>
              <a:off x="6921498" y="4114800"/>
              <a:ext cx="5270500" cy="1371600"/>
            </a:xfrm>
            <a:prstGeom prst="rect">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Rectangle 30">
              <a:extLst>
                <a:ext uri="{FF2B5EF4-FFF2-40B4-BE49-F238E27FC236}">
                  <a16:creationId xmlns:a16="http://schemas.microsoft.com/office/drawing/2014/main" id="{EF7450C2-05AA-EEC0-7FF3-E62DABEE6DEB}"/>
                </a:ext>
              </a:extLst>
            </p:cNvPr>
            <p:cNvSpPr/>
            <p:nvPr/>
          </p:nvSpPr>
          <p:spPr>
            <a:xfrm>
              <a:off x="9464378" y="4451738"/>
              <a:ext cx="184731"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2" name="Isosceles Triangle 41">
              <a:extLst>
                <a:ext uri="{FF2B5EF4-FFF2-40B4-BE49-F238E27FC236}">
                  <a16:creationId xmlns:a16="http://schemas.microsoft.com/office/drawing/2014/main" id="{20B5BB13-745E-9C8B-4668-6036189F289B}"/>
                </a:ext>
              </a:extLst>
            </p:cNvPr>
            <p:cNvSpPr/>
            <p:nvPr/>
          </p:nvSpPr>
          <p:spPr>
            <a:xfrm rot="16200000">
              <a:off x="6132891" y="4531809"/>
              <a:ext cx="1094290" cy="537581"/>
            </a:xfrm>
            <a:prstGeom prst="triangle">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7" name="Group 46">
            <a:extLst>
              <a:ext uri="{FF2B5EF4-FFF2-40B4-BE49-F238E27FC236}">
                <a16:creationId xmlns:a16="http://schemas.microsoft.com/office/drawing/2014/main" id="{7BE49069-E2F3-5D3A-1492-08591641095F}"/>
              </a:ext>
            </a:extLst>
          </p:cNvPr>
          <p:cNvGrpSpPr/>
          <p:nvPr/>
        </p:nvGrpSpPr>
        <p:grpSpPr>
          <a:xfrm>
            <a:off x="-1320800" y="3991149"/>
            <a:ext cx="13512800" cy="1082042"/>
            <a:chOff x="6383916" y="2743200"/>
            <a:chExt cx="5808083" cy="1371600"/>
          </a:xfrm>
        </p:grpSpPr>
        <p:sp>
          <p:nvSpPr>
            <p:cNvPr id="20" name="Rectangle 19">
              <a:extLst>
                <a:ext uri="{FF2B5EF4-FFF2-40B4-BE49-F238E27FC236}">
                  <a16:creationId xmlns:a16="http://schemas.microsoft.com/office/drawing/2014/main" id="{BE65E4A6-F9AC-2874-5EFC-EF70F0544B01}"/>
                </a:ext>
              </a:extLst>
            </p:cNvPr>
            <p:cNvSpPr/>
            <p:nvPr/>
          </p:nvSpPr>
          <p:spPr>
            <a:xfrm>
              <a:off x="6921499" y="2743200"/>
              <a:ext cx="5270500" cy="1371600"/>
            </a:xfrm>
            <a:prstGeom prst="rect">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Rectangle 28">
              <a:extLst>
                <a:ext uri="{FF2B5EF4-FFF2-40B4-BE49-F238E27FC236}">
                  <a16:creationId xmlns:a16="http://schemas.microsoft.com/office/drawing/2014/main" id="{5E7BE4BD-5634-FA1C-1FD6-520C470A83EF}"/>
                </a:ext>
              </a:extLst>
            </p:cNvPr>
            <p:cNvSpPr/>
            <p:nvPr/>
          </p:nvSpPr>
          <p:spPr>
            <a:xfrm>
              <a:off x="9541721" y="3019107"/>
              <a:ext cx="184730"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0" name="Isosceles Triangle 39">
              <a:extLst>
                <a:ext uri="{FF2B5EF4-FFF2-40B4-BE49-F238E27FC236}">
                  <a16:creationId xmlns:a16="http://schemas.microsoft.com/office/drawing/2014/main" id="{BD6B10E8-4146-B388-39AA-EFEE14A55B15}"/>
                </a:ext>
              </a:extLst>
            </p:cNvPr>
            <p:cNvSpPr/>
            <p:nvPr/>
          </p:nvSpPr>
          <p:spPr>
            <a:xfrm rot="16200000">
              <a:off x="6105562" y="3146464"/>
              <a:ext cx="1094290" cy="537581"/>
            </a:xfrm>
            <a:prstGeom prst="triangle">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6" name="Group 45">
            <a:extLst>
              <a:ext uri="{FF2B5EF4-FFF2-40B4-BE49-F238E27FC236}">
                <a16:creationId xmlns:a16="http://schemas.microsoft.com/office/drawing/2014/main" id="{BF7F95DE-9022-35E3-FF0E-8E118525173F}"/>
              </a:ext>
            </a:extLst>
          </p:cNvPr>
          <p:cNvGrpSpPr/>
          <p:nvPr/>
        </p:nvGrpSpPr>
        <p:grpSpPr>
          <a:xfrm>
            <a:off x="-1574798" y="2992202"/>
            <a:ext cx="13766799" cy="997087"/>
            <a:chOff x="6383915" y="1371600"/>
            <a:chExt cx="5808085" cy="1371600"/>
          </a:xfrm>
        </p:grpSpPr>
        <p:sp>
          <p:nvSpPr>
            <p:cNvPr id="18" name="Rectangle 17">
              <a:extLst>
                <a:ext uri="{FF2B5EF4-FFF2-40B4-BE49-F238E27FC236}">
                  <a16:creationId xmlns:a16="http://schemas.microsoft.com/office/drawing/2014/main" id="{36F967CB-28CC-384F-EE86-1B31E90768E7}"/>
                </a:ext>
              </a:extLst>
            </p:cNvPr>
            <p:cNvSpPr/>
            <p:nvPr/>
          </p:nvSpPr>
          <p:spPr>
            <a:xfrm>
              <a:off x="6921500" y="1371600"/>
              <a:ext cx="5270500" cy="1371600"/>
            </a:xfrm>
            <a:prstGeom prst="rect">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Rectangle 26">
              <a:extLst>
                <a:ext uri="{FF2B5EF4-FFF2-40B4-BE49-F238E27FC236}">
                  <a16:creationId xmlns:a16="http://schemas.microsoft.com/office/drawing/2014/main" id="{098D8E76-7605-5CCE-048B-B6FA4BEA79BB}"/>
                </a:ext>
              </a:extLst>
            </p:cNvPr>
            <p:cNvSpPr/>
            <p:nvPr/>
          </p:nvSpPr>
          <p:spPr>
            <a:xfrm>
              <a:off x="9464378" y="1686171"/>
              <a:ext cx="184731"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38" name="Isosceles Triangle 37">
              <a:extLst>
                <a:ext uri="{FF2B5EF4-FFF2-40B4-BE49-F238E27FC236}">
                  <a16:creationId xmlns:a16="http://schemas.microsoft.com/office/drawing/2014/main" id="{0613F72C-9B62-ADBB-9956-4DE289ECD606}"/>
                </a:ext>
              </a:extLst>
            </p:cNvPr>
            <p:cNvSpPr/>
            <p:nvPr/>
          </p:nvSpPr>
          <p:spPr>
            <a:xfrm rot="16200000">
              <a:off x="6105561" y="1726154"/>
              <a:ext cx="1094290" cy="537581"/>
            </a:xfrm>
            <a:prstGeom prst="triangle">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5" name="Group 44">
            <a:extLst>
              <a:ext uri="{FF2B5EF4-FFF2-40B4-BE49-F238E27FC236}">
                <a16:creationId xmlns:a16="http://schemas.microsoft.com/office/drawing/2014/main" id="{1DA1F6E7-0379-AF4A-22CA-1935C046D88A}"/>
              </a:ext>
            </a:extLst>
          </p:cNvPr>
          <p:cNvGrpSpPr/>
          <p:nvPr/>
        </p:nvGrpSpPr>
        <p:grpSpPr>
          <a:xfrm>
            <a:off x="-1422400" y="-1"/>
            <a:ext cx="13614399" cy="3023005"/>
            <a:chOff x="6383918" y="0"/>
            <a:chExt cx="5808082" cy="1371600"/>
          </a:xfrm>
        </p:grpSpPr>
        <p:sp>
          <p:nvSpPr>
            <p:cNvPr id="25" name="Rectangle 24">
              <a:extLst>
                <a:ext uri="{FF2B5EF4-FFF2-40B4-BE49-F238E27FC236}">
                  <a16:creationId xmlns:a16="http://schemas.microsoft.com/office/drawing/2014/main" id="{84353B1E-11B3-2850-B6EF-7133E04BF851}"/>
                </a:ext>
              </a:extLst>
            </p:cNvPr>
            <p:cNvSpPr/>
            <p:nvPr/>
          </p:nvSpPr>
          <p:spPr>
            <a:xfrm>
              <a:off x="7683475" y="298274"/>
              <a:ext cx="3689150" cy="784830"/>
            </a:xfrm>
            <a:prstGeom prst="rect">
              <a:avLst/>
            </a:prstGeom>
            <a:noFill/>
          </p:spPr>
          <p:txBody>
            <a:bodyPr wrap="none" lIns="91440" tIns="45720" rIns="91440" bIns="45720">
              <a:spAutoFit/>
            </a:bodyPr>
            <a:lstStyle/>
            <a:p>
              <a:pPr algn="ctr"/>
              <a:r>
                <a:rPr lang="en-IN" sz="4500" dirty="0"/>
                <a:t>Android Studio</a:t>
              </a: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36" name="Isosceles Triangle 35">
              <a:extLst>
                <a:ext uri="{FF2B5EF4-FFF2-40B4-BE49-F238E27FC236}">
                  <a16:creationId xmlns:a16="http://schemas.microsoft.com/office/drawing/2014/main" id="{F27DDFD9-D7F0-E86E-6D43-923C6325FB23}"/>
                </a:ext>
              </a:extLst>
            </p:cNvPr>
            <p:cNvSpPr/>
            <p:nvPr/>
          </p:nvSpPr>
          <p:spPr>
            <a:xfrm rot="16200000">
              <a:off x="6105564" y="417009"/>
              <a:ext cx="1094290" cy="537581"/>
            </a:xfrm>
            <a:prstGeom prst="triangle">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87845EF2-9DB7-1F6D-18A5-B234E8F60C54}"/>
                </a:ext>
              </a:extLst>
            </p:cNvPr>
            <p:cNvSpPr/>
            <p:nvPr/>
          </p:nvSpPr>
          <p:spPr>
            <a:xfrm>
              <a:off x="6921500" y="0"/>
              <a:ext cx="5270500" cy="1371600"/>
            </a:xfrm>
            <a:prstGeom prst="rect">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 name="Rectangle 1">
            <a:extLst>
              <a:ext uri="{FF2B5EF4-FFF2-40B4-BE49-F238E27FC236}">
                <a16:creationId xmlns:a16="http://schemas.microsoft.com/office/drawing/2014/main" id="{68619EAF-4285-D6CD-7D2D-41C6A2A6FA8F}"/>
              </a:ext>
            </a:extLst>
          </p:cNvPr>
          <p:cNvSpPr/>
          <p:nvPr/>
        </p:nvSpPr>
        <p:spPr>
          <a:xfrm>
            <a:off x="445350" y="210056"/>
            <a:ext cx="5554276" cy="1754326"/>
          </a:xfrm>
          <a:prstGeom prst="rect">
            <a:avLst/>
          </a:prstGeom>
          <a:noFill/>
        </p:spPr>
        <p:txBody>
          <a:bodyPr wrap="none" lIns="91440" tIns="45720" rIns="91440" bIns="45720">
            <a:spAutoFit/>
          </a:bodyPr>
          <a:lstStyle/>
          <a:p>
            <a:pPr algn="ctr"/>
            <a:r>
              <a:rPr lang="en-US" sz="5400" b="1" cap="none" spc="0" dirty="0">
                <a:ln w="0"/>
                <a:solidFill>
                  <a:schemeClr val="tx1"/>
                </a:solidFill>
                <a:effectLst>
                  <a:outerShdw blurRad="38100" dist="19050" dir="2700000" algn="tl" rotWithShape="0">
                    <a:schemeClr val="dk1">
                      <a:alpha val="40000"/>
                    </a:schemeClr>
                  </a:outerShdw>
                </a:effectLst>
              </a:rPr>
              <a:t>01. Android Studio</a:t>
            </a:r>
          </a:p>
          <a:p>
            <a:pPr algn="ctr"/>
            <a:r>
              <a:rPr lang="en-US" sz="5400" b="1" cap="none" spc="0" dirty="0">
                <a:ln w="0"/>
                <a:solidFill>
                  <a:schemeClr val="tx1"/>
                </a:solidFill>
                <a:effectLst>
                  <a:outerShdw blurRad="38100" dist="19050" dir="2700000" algn="tl" rotWithShape="0">
                    <a:schemeClr val="dk1">
                      <a:alpha val="40000"/>
                    </a:schemeClr>
                  </a:outerShdw>
                </a:effectLst>
              </a:rPr>
              <a:t> </a:t>
            </a:r>
          </a:p>
        </p:txBody>
      </p:sp>
      <p:sp>
        <p:nvSpPr>
          <p:cNvPr id="11" name="TextBox 10">
            <a:extLst>
              <a:ext uri="{FF2B5EF4-FFF2-40B4-BE49-F238E27FC236}">
                <a16:creationId xmlns:a16="http://schemas.microsoft.com/office/drawing/2014/main" id="{C6DC505E-BBAD-0E31-ABA2-18DD2FE88C83}"/>
              </a:ext>
            </a:extLst>
          </p:cNvPr>
          <p:cNvSpPr txBox="1"/>
          <p:nvPr/>
        </p:nvSpPr>
        <p:spPr>
          <a:xfrm>
            <a:off x="383170" y="1396224"/>
            <a:ext cx="11618411" cy="1015663"/>
          </a:xfrm>
          <a:prstGeom prst="rect">
            <a:avLst/>
          </a:prstGeom>
          <a:noFill/>
        </p:spPr>
        <p:txBody>
          <a:bodyPr wrap="square">
            <a:spAutoFit/>
          </a:bodyPr>
          <a:lstStyle/>
          <a:p>
            <a:r>
              <a:rPr lang="en-IN" sz="3000" dirty="0"/>
              <a:t>The IDE used to develop, test, and build the Mind Bloom Android application.</a:t>
            </a:r>
          </a:p>
        </p:txBody>
      </p:sp>
    </p:spTree>
    <p:extLst>
      <p:ext uri="{BB962C8B-B14F-4D97-AF65-F5344CB8AC3E}">
        <p14:creationId xmlns:p14="http://schemas.microsoft.com/office/powerpoint/2010/main" val="1921612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92BBD-8E11-9775-50AB-1FEFD01BFE47}"/>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F6D2759E-29D4-5011-A974-A6978F5DD26F}"/>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 y="0"/>
            <a:ext cx="12191999" cy="6858001"/>
          </a:xfrm>
          <a:prstGeom prst="rect">
            <a:avLst/>
          </a:prstGeom>
        </p:spPr>
      </p:pic>
      <p:grpSp>
        <p:nvGrpSpPr>
          <p:cNvPr id="49" name="Group 48">
            <a:extLst>
              <a:ext uri="{FF2B5EF4-FFF2-40B4-BE49-F238E27FC236}">
                <a16:creationId xmlns:a16="http://schemas.microsoft.com/office/drawing/2014/main" id="{0AB76A0D-8D40-EBEE-A149-DE82FFE1DF48}"/>
              </a:ext>
            </a:extLst>
          </p:cNvPr>
          <p:cNvGrpSpPr/>
          <p:nvPr/>
        </p:nvGrpSpPr>
        <p:grpSpPr>
          <a:xfrm>
            <a:off x="-1422399" y="6010168"/>
            <a:ext cx="13614399" cy="860710"/>
            <a:chOff x="6383917" y="5486400"/>
            <a:chExt cx="5808083" cy="1371600"/>
          </a:xfrm>
        </p:grpSpPr>
        <p:sp>
          <p:nvSpPr>
            <p:cNvPr id="24" name="Rectangle 23">
              <a:extLst>
                <a:ext uri="{FF2B5EF4-FFF2-40B4-BE49-F238E27FC236}">
                  <a16:creationId xmlns:a16="http://schemas.microsoft.com/office/drawing/2014/main" id="{A4C5A18A-1FB7-D490-9A25-4E1DA9725B16}"/>
                </a:ext>
              </a:extLst>
            </p:cNvPr>
            <p:cNvSpPr/>
            <p:nvPr/>
          </p:nvSpPr>
          <p:spPr>
            <a:xfrm>
              <a:off x="6921500" y="5486400"/>
              <a:ext cx="5270500" cy="1371600"/>
            </a:xfrm>
            <a:prstGeom prst="rect">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Isosceles Triangle 43">
              <a:extLst>
                <a:ext uri="{FF2B5EF4-FFF2-40B4-BE49-F238E27FC236}">
                  <a16:creationId xmlns:a16="http://schemas.microsoft.com/office/drawing/2014/main" id="{FE43385C-7F8B-5468-3AC9-5F2AA178F8FB}"/>
                </a:ext>
              </a:extLst>
            </p:cNvPr>
            <p:cNvSpPr/>
            <p:nvPr/>
          </p:nvSpPr>
          <p:spPr>
            <a:xfrm rot="16200000">
              <a:off x="6105563" y="5928632"/>
              <a:ext cx="1094290" cy="537581"/>
            </a:xfrm>
            <a:prstGeom prst="triangle">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8" name="Group 47">
            <a:extLst>
              <a:ext uri="{FF2B5EF4-FFF2-40B4-BE49-F238E27FC236}">
                <a16:creationId xmlns:a16="http://schemas.microsoft.com/office/drawing/2014/main" id="{59829155-45C2-8531-9338-7EB6015AD8F2}"/>
              </a:ext>
            </a:extLst>
          </p:cNvPr>
          <p:cNvGrpSpPr/>
          <p:nvPr/>
        </p:nvGrpSpPr>
        <p:grpSpPr>
          <a:xfrm>
            <a:off x="-1574799" y="5082922"/>
            <a:ext cx="13766800" cy="993174"/>
            <a:chOff x="6411245" y="4114800"/>
            <a:chExt cx="5780753" cy="1371600"/>
          </a:xfrm>
        </p:grpSpPr>
        <p:sp>
          <p:nvSpPr>
            <p:cNvPr id="22" name="Rectangle 21">
              <a:extLst>
                <a:ext uri="{FF2B5EF4-FFF2-40B4-BE49-F238E27FC236}">
                  <a16:creationId xmlns:a16="http://schemas.microsoft.com/office/drawing/2014/main" id="{A4065925-91D4-9542-EFA8-0D417B878BD1}"/>
                </a:ext>
              </a:extLst>
            </p:cNvPr>
            <p:cNvSpPr/>
            <p:nvPr/>
          </p:nvSpPr>
          <p:spPr>
            <a:xfrm>
              <a:off x="6921498" y="4114800"/>
              <a:ext cx="5270500" cy="1371600"/>
            </a:xfrm>
            <a:prstGeom prst="rect">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Rectangle 30">
              <a:extLst>
                <a:ext uri="{FF2B5EF4-FFF2-40B4-BE49-F238E27FC236}">
                  <a16:creationId xmlns:a16="http://schemas.microsoft.com/office/drawing/2014/main" id="{72EFE263-2B1F-F6CF-6AB6-81CBF9201435}"/>
                </a:ext>
              </a:extLst>
            </p:cNvPr>
            <p:cNvSpPr/>
            <p:nvPr/>
          </p:nvSpPr>
          <p:spPr>
            <a:xfrm>
              <a:off x="9464378" y="4451738"/>
              <a:ext cx="184731"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2" name="Isosceles Triangle 41">
              <a:extLst>
                <a:ext uri="{FF2B5EF4-FFF2-40B4-BE49-F238E27FC236}">
                  <a16:creationId xmlns:a16="http://schemas.microsoft.com/office/drawing/2014/main" id="{39C73FA4-6A75-8B05-83D3-44E73F0251CE}"/>
                </a:ext>
              </a:extLst>
            </p:cNvPr>
            <p:cNvSpPr/>
            <p:nvPr/>
          </p:nvSpPr>
          <p:spPr>
            <a:xfrm rot="16200000">
              <a:off x="6132891" y="4531809"/>
              <a:ext cx="1094290" cy="537581"/>
            </a:xfrm>
            <a:prstGeom prst="triangle">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7" name="Group 46">
            <a:extLst>
              <a:ext uri="{FF2B5EF4-FFF2-40B4-BE49-F238E27FC236}">
                <a16:creationId xmlns:a16="http://schemas.microsoft.com/office/drawing/2014/main" id="{8D418023-8B6E-BF6C-4389-471061A33038}"/>
              </a:ext>
            </a:extLst>
          </p:cNvPr>
          <p:cNvGrpSpPr/>
          <p:nvPr/>
        </p:nvGrpSpPr>
        <p:grpSpPr>
          <a:xfrm>
            <a:off x="-1320800" y="3873500"/>
            <a:ext cx="13512800" cy="1199691"/>
            <a:chOff x="6383916" y="2743200"/>
            <a:chExt cx="5808083" cy="1371600"/>
          </a:xfrm>
        </p:grpSpPr>
        <p:sp>
          <p:nvSpPr>
            <p:cNvPr id="20" name="Rectangle 19">
              <a:extLst>
                <a:ext uri="{FF2B5EF4-FFF2-40B4-BE49-F238E27FC236}">
                  <a16:creationId xmlns:a16="http://schemas.microsoft.com/office/drawing/2014/main" id="{57C527B9-138A-8625-2B21-B59B7D1B1548}"/>
                </a:ext>
              </a:extLst>
            </p:cNvPr>
            <p:cNvSpPr/>
            <p:nvPr/>
          </p:nvSpPr>
          <p:spPr>
            <a:xfrm>
              <a:off x="6921499" y="2743200"/>
              <a:ext cx="5270500" cy="1371600"/>
            </a:xfrm>
            <a:prstGeom prst="rect">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Rectangle 28">
              <a:extLst>
                <a:ext uri="{FF2B5EF4-FFF2-40B4-BE49-F238E27FC236}">
                  <a16:creationId xmlns:a16="http://schemas.microsoft.com/office/drawing/2014/main" id="{1AB84145-7969-28E7-1440-C7353049193D}"/>
                </a:ext>
              </a:extLst>
            </p:cNvPr>
            <p:cNvSpPr/>
            <p:nvPr/>
          </p:nvSpPr>
          <p:spPr>
            <a:xfrm>
              <a:off x="9541721" y="3019107"/>
              <a:ext cx="184730"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0" name="Isosceles Triangle 39">
              <a:extLst>
                <a:ext uri="{FF2B5EF4-FFF2-40B4-BE49-F238E27FC236}">
                  <a16:creationId xmlns:a16="http://schemas.microsoft.com/office/drawing/2014/main" id="{C3264046-9A88-1CAC-D4F2-6A5C3E2CAC79}"/>
                </a:ext>
              </a:extLst>
            </p:cNvPr>
            <p:cNvSpPr/>
            <p:nvPr/>
          </p:nvSpPr>
          <p:spPr>
            <a:xfrm rot="16200000">
              <a:off x="6105562" y="3146464"/>
              <a:ext cx="1094290" cy="537581"/>
            </a:xfrm>
            <a:prstGeom prst="triangle">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6" name="Group 45">
            <a:extLst>
              <a:ext uri="{FF2B5EF4-FFF2-40B4-BE49-F238E27FC236}">
                <a16:creationId xmlns:a16="http://schemas.microsoft.com/office/drawing/2014/main" id="{4252BF80-B567-AB9A-FE28-1D4FC050A9F0}"/>
              </a:ext>
            </a:extLst>
          </p:cNvPr>
          <p:cNvGrpSpPr/>
          <p:nvPr/>
        </p:nvGrpSpPr>
        <p:grpSpPr>
          <a:xfrm>
            <a:off x="-1574800" y="962806"/>
            <a:ext cx="13766799" cy="3017520"/>
            <a:chOff x="6383915" y="1371599"/>
            <a:chExt cx="5808085" cy="4150922"/>
          </a:xfrm>
        </p:grpSpPr>
        <p:sp>
          <p:nvSpPr>
            <p:cNvPr id="18" name="Rectangle 17">
              <a:extLst>
                <a:ext uri="{FF2B5EF4-FFF2-40B4-BE49-F238E27FC236}">
                  <a16:creationId xmlns:a16="http://schemas.microsoft.com/office/drawing/2014/main" id="{A0371487-5DFB-2813-DE0C-ABCF7FC5436C}"/>
                </a:ext>
              </a:extLst>
            </p:cNvPr>
            <p:cNvSpPr/>
            <p:nvPr/>
          </p:nvSpPr>
          <p:spPr>
            <a:xfrm>
              <a:off x="6921500" y="1371599"/>
              <a:ext cx="5270500" cy="4150922"/>
            </a:xfrm>
            <a:prstGeom prst="rect">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7" name="Rectangle 26">
              <a:extLst>
                <a:ext uri="{FF2B5EF4-FFF2-40B4-BE49-F238E27FC236}">
                  <a16:creationId xmlns:a16="http://schemas.microsoft.com/office/drawing/2014/main" id="{BF6749FD-FFC6-83B3-07C1-F75A22845819}"/>
                </a:ext>
              </a:extLst>
            </p:cNvPr>
            <p:cNvSpPr/>
            <p:nvPr/>
          </p:nvSpPr>
          <p:spPr>
            <a:xfrm>
              <a:off x="9517776" y="1686171"/>
              <a:ext cx="77936" cy="1079618"/>
            </a:xfrm>
            <a:prstGeom prst="rect">
              <a:avLst/>
            </a:prstGeom>
            <a:noFill/>
          </p:spPr>
          <p:txBody>
            <a:bodyPr wrap="none" lIns="91440" tIns="45720" rIns="91440" bIns="45720">
              <a:spAutoFit/>
            </a:bodyPr>
            <a:lstStyle/>
            <a:p>
              <a:pPr algn="ctr"/>
              <a:endParaRPr lang="en-US" sz="4500" b="1" cap="none" spc="0" dirty="0">
                <a:ln w="0"/>
                <a:solidFill>
                  <a:schemeClr val="tx1"/>
                </a:solidFill>
                <a:effectLst>
                  <a:outerShdw blurRad="38100" dist="19050" dir="2700000" algn="tl" rotWithShape="0">
                    <a:schemeClr val="dk1">
                      <a:alpha val="40000"/>
                    </a:schemeClr>
                  </a:outerShdw>
                </a:effectLst>
              </a:endParaRPr>
            </a:p>
          </p:txBody>
        </p:sp>
        <p:sp>
          <p:nvSpPr>
            <p:cNvPr id="38" name="Isosceles Triangle 37">
              <a:extLst>
                <a:ext uri="{FF2B5EF4-FFF2-40B4-BE49-F238E27FC236}">
                  <a16:creationId xmlns:a16="http://schemas.microsoft.com/office/drawing/2014/main" id="{623B2550-1B45-52F4-FF61-F959678312E4}"/>
                </a:ext>
              </a:extLst>
            </p:cNvPr>
            <p:cNvSpPr/>
            <p:nvPr/>
          </p:nvSpPr>
          <p:spPr>
            <a:xfrm rot="16200000">
              <a:off x="6105561" y="1726154"/>
              <a:ext cx="1094290" cy="537581"/>
            </a:xfrm>
            <a:prstGeom prst="triangle">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p>
          </p:txBody>
        </p:sp>
      </p:grpSp>
      <p:grpSp>
        <p:nvGrpSpPr>
          <p:cNvPr id="45" name="Group 44">
            <a:extLst>
              <a:ext uri="{FF2B5EF4-FFF2-40B4-BE49-F238E27FC236}">
                <a16:creationId xmlns:a16="http://schemas.microsoft.com/office/drawing/2014/main" id="{8E2B9290-55BE-55A7-3F7E-38135E08E007}"/>
              </a:ext>
            </a:extLst>
          </p:cNvPr>
          <p:cNvGrpSpPr/>
          <p:nvPr/>
        </p:nvGrpSpPr>
        <p:grpSpPr>
          <a:xfrm>
            <a:off x="-1422400" y="0"/>
            <a:ext cx="13614399" cy="1015663"/>
            <a:chOff x="6383918" y="0"/>
            <a:chExt cx="5808082" cy="1371600"/>
          </a:xfrm>
        </p:grpSpPr>
        <p:sp>
          <p:nvSpPr>
            <p:cNvPr id="25" name="Rectangle 24">
              <a:extLst>
                <a:ext uri="{FF2B5EF4-FFF2-40B4-BE49-F238E27FC236}">
                  <a16:creationId xmlns:a16="http://schemas.microsoft.com/office/drawing/2014/main" id="{8DEC91C2-F346-2A61-AFC9-06D755DB31F5}"/>
                </a:ext>
              </a:extLst>
            </p:cNvPr>
            <p:cNvSpPr/>
            <p:nvPr/>
          </p:nvSpPr>
          <p:spPr>
            <a:xfrm>
              <a:off x="7683475" y="298274"/>
              <a:ext cx="3689150" cy="784830"/>
            </a:xfrm>
            <a:prstGeom prst="rect">
              <a:avLst/>
            </a:prstGeom>
            <a:noFill/>
          </p:spPr>
          <p:txBody>
            <a:bodyPr wrap="none" lIns="91440" tIns="45720" rIns="91440" bIns="45720">
              <a:spAutoFit/>
            </a:bodyPr>
            <a:lstStyle/>
            <a:p>
              <a:pPr algn="ctr"/>
              <a:r>
                <a:rPr lang="en-IN" sz="4500" dirty="0"/>
                <a:t>Android Studio</a:t>
              </a: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36" name="Isosceles Triangle 35">
              <a:extLst>
                <a:ext uri="{FF2B5EF4-FFF2-40B4-BE49-F238E27FC236}">
                  <a16:creationId xmlns:a16="http://schemas.microsoft.com/office/drawing/2014/main" id="{DE4AB110-8436-A04D-0A09-6DE003B40133}"/>
                </a:ext>
              </a:extLst>
            </p:cNvPr>
            <p:cNvSpPr/>
            <p:nvPr/>
          </p:nvSpPr>
          <p:spPr>
            <a:xfrm rot="16200000">
              <a:off x="6105564" y="417009"/>
              <a:ext cx="1094290" cy="537581"/>
            </a:xfrm>
            <a:prstGeom prst="triangle">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6730779B-7C88-0404-EE3C-BCAB7FBC3B51}"/>
                </a:ext>
              </a:extLst>
            </p:cNvPr>
            <p:cNvSpPr/>
            <p:nvPr/>
          </p:nvSpPr>
          <p:spPr>
            <a:xfrm>
              <a:off x="6921500" y="0"/>
              <a:ext cx="5270500" cy="1371600"/>
            </a:xfrm>
            <a:prstGeom prst="rect">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5" name="TextBox 4">
            <a:extLst>
              <a:ext uri="{FF2B5EF4-FFF2-40B4-BE49-F238E27FC236}">
                <a16:creationId xmlns:a16="http://schemas.microsoft.com/office/drawing/2014/main" id="{FD6C1D66-E732-4703-BA14-624275B88B92}"/>
              </a:ext>
            </a:extLst>
          </p:cNvPr>
          <p:cNvSpPr txBox="1"/>
          <p:nvPr/>
        </p:nvSpPr>
        <p:spPr>
          <a:xfrm>
            <a:off x="650150" y="2476668"/>
            <a:ext cx="11376750" cy="1015663"/>
          </a:xfrm>
          <a:prstGeom prst="rect">
            <a:avLst/>
          </a:prstGeom>
          <a:noFill/>
        </p:spPr>
        <p:txBody>
          <a:bodyPr wrap="square">
            <a:spAutoFit/>
          </a:bodyPr>
          <a:lstStyle/>
          <a:p>
            <a:r>
              <a:rPr lang="en-IN" sz="3000" dirty="0"/>
              <a:t>Contains the Kotlin code that controls the app's main screen and handles application behaviour.</a:t>
            </a:r>
          </a:p>
        </p:txBody>
      </p:sp>
      <p:sp>
        <p:nvSpPr>
          <p:cNvPr id="6" name="Rectangle 5">
            <a:extLst>
              <a:ext uri="{FF2B5EF4-FFF2-40B4-BE49-F238E27FC236}">
                <a16:creationId xmlns:a16="http://schemas.microsoft.com/office/drawing/2014/main" id="{1D220F7B-464C-FB4A-2424-EDD3A2458DCF}"/>
              </a:ext>
            </a:extLst>
          </p:cNvPr>
          <p:cNvSpPr/>
          <p:nvPr/>
        </p:nvSpPr>
        <p:spPr>
          <a:xfrm>
            <a:off x="650150" y="1244541"/>
            <a:ext cx="5805628" cy="923330"/>
          </a:xfrm>
          <a:prstGeom prst="rect">
            <a:avLst/>
          </a:prstGeom>
          <a:noFill/>
        </p:spPr>
        <p:txBody>
          <a:bodyPr wrap="none" lIns="91440" tIns="45720" rIns="91440" bIns="45720">
            <a:spAutoFit/>
          </a:bodyPr>
          <a:lstStyle/>
          <a:p>
            <a:pPr algn="ctr"/>
            <a:r>
              <a:rPr lang="en-IN" sz="5400" b="1" dirty="0"/>
              <a:t>02. MainActivity.kt:</a:t>
            </a:r>
            <a:endParaRPr lang="en-IN" sz="54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39083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AF88B-9987-3CA6-F2BB-8EFF23CF9ECF}"/>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07F4C731-733A-949E-9AB7-3062D1C361C3}"/>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 y="0"/>
            <a:ext cx="12191999" cy="6858001"/>
          </a:xfrm>
          <a:prstGeom prst="rect">
            <a:avLst/>
          </a:prstGeom>
        </p:spPr>
      </p:pic>
      <p:grpSp>
        <p:nvGrpSpPr>
          <p:cNvPr id="49" name="Group 48">
            <a:extLst>
              <a:ext uri="{FF2B5EF4-FFF2-40B4-BE49-F238E27FC236}">
                <a16:creationId xmlns:a16="http://schemas.microsoft.com/office/drawing/2014/main" id="{6B36153B-C6B1-726C-81F9-63C11E5FAA7B}"/>
              </a:ext>
            </a:extLst>
          </p:cNvPr>
          <p:cNvGrpSpPr/>
          <p:nvPr/>
        </p:nvGrpSpPr>
        <p:grpSpPr>
          <a:xfrm>
            <a:off x="-1422399" y="6010168"/>
            <a:ext cx="13614399" cy="860710"/>
            <a:chOff x="6383917" y="5486400"/>
            <a:chExt cx="5808083" cy="1371600"/>
          </a:xfrm>
        </p:grpSpPr>
        <p:sp>
          <p:nvSpPr>
            <p:cNvPr id="24" name="Rectangle 23">
              <a:extLst>
                <a:ext uri="{FF2B5EF4-FFF2-40B4-BE49-F238E27FC236}">
                  <a16:creationId xmlns:a16="http://schemas.microsoft.com/office/drawing/2014/main" id="{47CB7721-1858-B80D-34BA-B25F9026E9C5}"/>
                </a:ext>
              </a:extLst>
            </p:cNvPr>
            <p:cNvSpPr/>
            <p:nvPr/>
          </p:nvSpPr>
          <p:spPr>
            <a:xfrm>
              <a:off x="6921500" y="5486400"/>
              <a:ext cx="5270500" cy="1371600"/>
            </a:xfrm>
            <a:prstGeom prst="rect">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Isosceles Triangle 43">
              <a:extLst>
                <a:ext uri="{FF2B5EF4-FFF2-40B4-BE49-F238E27FC236}">
                  <a16:creationId xmlns:a16="http://schemas.microsoft.com/office/drawing/2014/main" id="{8ECA8DBD-1070-9794-E41F-6F2DF634B81D}"/>
                </a:ext>
              </a:extLst>
            </p:cNvPr>
            <p:cNvSpPr/>
            <p:nvPr/>
          </p:nvSpPr>
          <p:spPr>
            <a:xfrm rot="16200000">
              <a:off x="6105563" y="5928632"/>
              <a:ext cx="1094290" cy="537581"/>
            </a:xfrm>
            <a:prstGeom prst="triangle">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8" name="Group 47">
            <a:extLst>
              <a:ext uri="{FF2B5EF4-FFF2-40B4-BE49-F238E27FC236}">
                <a16:creationId xmlns:a16="http://schemas.microsoft.com/office/drawing/2014/main" id="{E7613A72-56E5-FE9A-E2D2-18FABAD00BAC}"/>
              </a:ext>
            </a:extLst>
          </p:cNvPr>
          <p:cNvGrpSpPr/>
          <p:nvPr/>
        </p:nvGrpSpPr>
        <p:grpSpPr>
          <a:xfrm>
            <a:off x="-1574799" y="5029860"/>
            <a:ext cx="13766800" cy="993174"/>
            <a:chOff x="6411245" y="4114800"/>
            <a:chExt cx="5780753" cy="1371600"/>
          </a:xfrm>
        </p:grpSpPr>
        <p:sp>
          <p:nvSpPr>
            <p:cNvPr id="22" name="Rectangle 21">
              <a:extLst>
                <a:ext uri="{FF2B5EF4-FFF2-40B4-BE49-F238E27FC236}">
                  <a16:creationId xmlns:a16="http://schemas.microsoft.com/office/drawing/2014/main" id="{35E00D34-6ACB-776E-9FC8-9AF52523424F}"/>
                </a:ext>
              </a:extLst>
            </p:cNvPr>
            <p:cNvSpPr/>
            <p:nvPr/>
          </p:nvSpPr>
          <p:spPr>
            <a:xfrm>
              <a:off x="6921498" y="4114800"/>
              <a:ext cx="5270500" cy="1371600"/>
            </a:xfrm>
            <a:prstGeom prst="rect">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Rectangle 30">
              <a:extLst>
                <a:ext uri="{FF2B5EF4-FFF2-40B4-BE49-F238E27FC236}">
                  <a16:creationId xmlns:a16="http://schemas.microsoft.com/office/drawing/2014/main" id="{425A2078-372A-10B3-7566-B0046244AB01}"/>
                </a:ext>
              </a:extLst>
            </p:cNvPr>
            <p:cNvSpPr/>
            <p:nvPr/>
          </p:nvSpPr>
          <p:spPr>
            <a:xfrm>
              <a:off x="9464378" y="4451738"/>
              <a:ext cx="184731"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2" name="Isosceles Triangle 41">
              <a:extLst>
                <a:ext uri="{FF2B5EF4-FFF2-40B4-BE49-F238E27FC236}">
                  <a16:creationId xmlns:a16="http://schemas.microsoft.com/office/drawing/2014/main" id="{FD5A9367-0E04-8E2E-C5EF-7D4451096DCD}"/>
                </a:ext>
              </a:extLst>
            </p:cNvPr>
            <p:cNvSpPr/>
            <p:nvPr/>
          </p:nvSpPr>
          <p:spPr>
            <a:xfrm rot="16200000">
              <a:off x="6132891" y="4531809"/>
              <a:ext cx="1094290" cy="537581"/>
            </a:xfrm>
            <a:prstGeom prst="triangle">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7" name="Group 46">
            <a:extLst>
              <a:ext uri="{FF2B5EF4-FFF2-40B4-BE49-F238E27FC236}">
                <a16:creationId xmlns:a16="http://schemas.microsoft.com/office/drawing/2014/main" id="{89EA2AAA-737E-AFF2-45BA-9C2ABCCED999}"/>
              </a:ext>
            </a:extLst>
          </p:cNvPr>
          <p:cNvGrpSpPr/>
          <p:nvPr/>
        </p:nvGrpSpPr>
        <p:grpSpPr>
          <a:xfrm>
            <a:off x="-1320800" y="2042924"/>
            <a:ext cx="13512800" cy="3017520"/>
            <a:chOff x="6383916" y="650313"/>
            <a:chExt cx="5808083" cy="3449914"/>
          </a:xfrm>
        </p:grpSpPr>
        <p:sp>
          <p:nvSpPr>
            <p:cNvPr id="20" name="Rectangle 19">
              <a:extLst>
                <a:ext uri="{FF2B5EF4-FFF2-40B4-BE49-F238E27FC236}">
                  <a16:creationId xmlns:a16="http://schemas.microsoft.com/office/drawing/2014/main" id="{56BEB9C8-EF63-82F4-3D98-272247FD9CD6}"/>
                </a:ext>
              </a:extLst>
            </p:cNvPr>
            <p:cNvSpPr/>
            <p:nvPr/>
          </p:nvSpPr>
          <p:spPr>
            <a:xfrm>
              <a:off x="6921499" y="650313"/>
              <a:ext cx="5270500" cy="3449914"/>
            </a:xfrm>
            <a:prstGeom prst="rect">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Rectangle 28">
              <a:extLst>
                <a:ext uri="{FF2B5EF4-FFF2-40B4-BE49-F238E27FC236}">
                  <a16:creationId xmlns:a16="http://schemas.microsoft.com/office/drawing/2014/main" id="{BBB31BE3-B940-B141-43B8-0FEBCAD4F251}"/>
                </a:ext>
              </a:extLst>
            </p:cNvPr>
            <p:cNvSpPr/>
            <p:nvPr/>
          </p:nvSpPr>
          <p:spPr>
            <a:xfrm>
              <a:off x="9541721" y="3019107"/>
              <a:ext cx="184730"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0" name="Isosceles Triangle 39">
              <a:extLst>
                <a:ext uri="{FF2B5EF4-FFF2-40B4-BE49-F238E27FC236}">
                  <a16:creationId xmlns:a16="http://schemas.microsoft.com/office/drawing/2014/main" id="{F9859336-BD8B-0F6B-5638-84FB6F87E7AE}"/>
                </a:ext>
              </a:extLst>
            </p:cNvPr>
            <p:cNvSpPr/>
            <p:nvPr/>
          </p:nvSpPr>
          <p:spPr>
            <a:xfrm rot="16200000">
              <a:off x="6105562" y="3146464"/>
              <a:ext cx="1094290" cy="537581"/>
            </a:xfrm>
            <a:prstGeom prst="triangle">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6" name="Group 45">
            <a:extLst>
              <a:ext uri="{FF2B5EF4-FFF2-40B4-BE49-F238E27FC236}">
                <a16:creationId xmlns:a16="http://schemas.microsoft.com/office/drawing/2014/main" id="{C19408D0-BA78-7185-16C2-7D6091BE981C}"/>
              </a:ext>
            </a:extLst>
          </p:cNvPr>
          <p:cNvGrpSpPr/>
          <p:nvPr/>
        </p:nvGrpSpPr>
        <p:grpSpPr>
          <a:xfrm>
            <a:off x="-1574800" y="962806"/>
            <a:ext cx="13766799" cy="1157236"/>
            <a:chOff x="6383915" y="1371599"/>
            <a:chExt cx="5808085" cy="4150922"/>
          </a:xfrm>
        </p:grpSpPr>
        <p:sp>
          <p:nvSpPr>
            <p:cNvPr id="18" name="Rectangle 17">
              <a:extLst>
                <a:ext uri="{FF2B5EF4-FFF2-40B4-BE49-F238E27FC236}">
                  <a16:creationId xmlns:a16="http://schemas.microsoft.com/office/drawing/2014/main" id="{44B226D7-5C36-F1F3-CB77-DF01D99CE39D}"/>
                </a:ext>
              </a:extLst>
            </p:cNvPr>
            <p:cNvSpPr/>
            <p:nvPr/>
          </p:nvSpPr>
          <p:spPr>
            <a:xfrm>
              <a:off x="6921500" y="1371599"/>
              <a:ext cx="5270500" cy="4150922"/>
            </a:xfrm>
            <a:prstGeom prst="rect">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7" name="Rectangle 26">
              <a:extLst>
                <a:ext uri="{FF2B5EF4-FFF2-40B4-BE49-F238E27FC236}">
                  <a16:creationId xmlns:a16="http://schemas.microsoft.com/office/drawing/2014/main" id="{8FFDF540-BE10-B22D-851C-39153F93A250}"/>
                </a:ext>
              </a:extLst>
            </p:cNvPr>
            <p:cNvSpPr/>
            <p:nvPr/>
          </p:nvSpPr>
          <p:spPr>
            <a:xfrm>
              <a:off x="9517776" y="1686171"/>
              <a:ext cx="77936" cy="1079618"/>
            </a:xfrm>
            <a:prstGeom prst="rect">
              <a:avLst/>
            </a:prstGeom>
            <a:noFill/>
          </p:spPr>
          <p:txBody>
            <a:bodyPr wrap="none" lIns="91440" tIns="45720" rIns="91440" bIns="45720">
              <a:spAutoFit/>
            </a:bodyPr>
            <a:lstStyle/>
            <a:p>
              <a:pPr algn="ctr"/>
              <a:endParaRPr lang="en-US" sz="4500" b="1" cap="none" spc="0" dirty="0">
                <a:ln w="0"/>
                <a:solidFill>
                  <a:schemeClr val="tx1"/>
                </a:solidFill>
                <a:effectLst>
                  <a:outerShdw blurRad="38100" dist="19050" dir="2700000" algn="tl" rotWithShape="0">
                    <a:schemeClr val="dk1">
                      <a:alpha val="40000"/>
                    </a:schemeClr>
                  </a:outerShdw>
                </a:effectLst>
              </a:endParaRPr>
            </a:p>
          </p:txBody>
        </p:sp>
        <p:sp>
          <p:nvSpPr>
            <p:cNvPr id="38" name="Isosceles Triangle 37">
              <a:extLst>
                <a:ext uri="{FF2B5EF4-FFF2-40B4-BE49-F238E27FC236}">
                  <a16:creationId xmlns:a16="http://schemas.microsoft.com/office/drawing/2014/main" id="{7CC6654E-3EDF-9002-E262-F227B479A3F5}"/>
                </a:ext>
              </a:extLst>
            </p:cNvPr>
            <p:cNvSpPr/>
            <p:nvPr/>
          </p:nvSpPr>
          <p:spPr>
            <a:xfrm rot="16200000">
              <a:off x="6105561" y="1726154"/>
              <a:ext cx="1094290" cy="537581"/>
            </a:xfrm>
            <a:prstGeom prst="triangle">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p>
          </p:txBody>
        </p:sp>
      </p:grpSp>
      <p:grpSp>
        <p:nvGrpSpPr>
          <p:cNvPr id="45" name="Group 44">
            <a:extLst>
              <a:ext uri="{FF2B5EF4-FFF2-40B4-BE49-F238E27FC236}">
                <a16:creationId xmlns:a16="http://schemas.microsoft.com/office/drawing/2014/main" id="{92628522-5EAE-1E41-B670-371908D5D71F}"/>
              </a:ext>
            </a:extLst>
          </p:cNvPr>
          <p:cNvGrpSpPr/>
          <p:nvPr/>
        </p:nvGrpSpPr>
        <p:grpSpPr>
          <a:xfrm>
            <a:off x="-1422400" y="0"/>
            <a:ext cx="13614399" cy="1015663"/>
            <a:chOff x="6383918" y="0"/>
            <a:chExt cx="5808082" cy="1371600"/>
          </a:xfrm>
        </p:grpSpPr>
        <p:sp>
          <p:nvSpPr>
            <p:cNvPr id="25" name="Rectangle 24">
              <a:extLst>
                <a:ext uri="{FF2B5EF4-FFF2-40B4-BE49-F238E27FC236}">
                  <a16:creationId xmlns:a16="http://schemas.microsoft.com/office/drawing/2014/main" id="{95F47EEF-C113-3107-C871-4C10BD112AA5}"/>
                </a:ext>
              </a:extLst>
            </p:cNvPr>
            <p:cNvSpPr/>
            <p:nvPr/>
          </p:nvSpPr>
          <p:spPr>
            <a:xfrm>
              <a:off x="7683475" y="298274"/>
              <a:ext cx="3689150" cy="784830"/>
            </a:xfrm>
            <a:prstGeom prst="rect">
              <a:avLst/>
            </a:prstGeom>
            <a:noFill/>
          </p:spPr>
          <p:txBody>
            <a:bodyPr wrap="none" lIns="91440" tIns="45720" rIns="91440" bIns="45720">
              <a:spAutoFit/>
            </a:bodyPr>
            <a:lstStyle/>
            <a:p>
              <a:pPr algn="ctr"/>
              <a:r>
                <a:rPr lang="en-IN" sz="4500" dirty="0"/>
                <a:t>Android Studio</a:t>
              </a: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36" name="Isosceles Triangle 35">
              <a:extLst>
                <a:ext uri="{FF2B5EF4-FFF2-40B4-BE49-F238E27FC236}">
                  <a16:creationId xmlns:a16="http://schemas.microsoft.com/office/drawing/2014/main" id="{83D9F90C-E27C-0FC1-9F53-1E1E807EE1F0}"/>
                </a:ext>
              </a:extLst>
            </p:cNvPr>
            <p:cNvSpPr/>
            <p:nvPr/>
          </p:nvSpPr>
          <p:spPr>
            <a:xfrm rot="16200000">
              <a:off x="6105564" y="417009"/>
              <a:ext cx="1094290" cy="537581"/>
            </a:xfrm>
            <a:prstGeom prst="triangle">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83B0DC29-ABB4-0490-E76F-44DE0D294A82}"/>
                </a:ext>
              </a:extLst>
            </p:cNvPr>
            <p:cNvSpPr/>
            <p:nvPr/>
          </p:nvSpPr>
          <p:spPr>
            <a:xfrm>
              <a:off x="6921500" y="0"/>
              <a:ext cx="5270500" cy="1371600"/>
            </a:xfrm>
            <a:prstGeom prst="rect">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5" name="TextBox 4">
            <a:extLst>
              <a:ext uri="{FF2B5EF4-FFF2-40B4-BE49-F238E27FC236}">
                <a16:creationId xmlns:a16="http://schemas.microsoft.com/office/drawing/2014/main" id="{D1B52F9A-3D81-60D3-887A-1D92D44CE236}"/>
              </a:ext>
            </a:extLst>
          </p:cNvPr>
          <p:cNvSpPr txBox="1"/>
          <p:nvPr/>
        </p:nvSpPr>
        <p:spPr>
          <a:xfrm>
            <a:off x="719647" y="3660325"/>
            <a:ext cx="11376750" cy="1077218"/>
          </a:xfrm>
          <a:prstGeom prst="rect">
            <a:avLst/>
          </a:prstGeom>
          <a:noFill/>
        </p:spPr>
        <p:txBody>
          <a:bodyPr wrap="square">
            <a:spAutoFit/>
          </a:bodyPr>
          <a:lstStyle/>
          <a:p>
            <a:r>
              <a:rPr lang="en-IN" sz="3200" dirty="0"/>
              <a:t>Defines essential app information, including permissions, activities, and application configuration.</a:t>
            </a:r>
            <a:endParaRPr lang="en-IN" sz="3000" dirty="0"/>
          </a:p>
        </p:txBody>
      </p:sp>
      <p:sp>
        <p:nvSpPr>
          <p:cNvPr id="6" name="Rectangle 5">
            <a:extLst>
              <a:ext uri="{FF2B5EF4-FFF2-40B4-BE49-F238E27FC236}">
                <a16:creationId xmlns:a16="http://schemas.microsoft.com/office/drawing/2014/main" id="{7AD7C28A-AAF9-3AE8-8173-4DBD9BD67040}"/>
              </a:ext>
            </a:extLst>
          </p:cNvPr>
          <p:cNvSpPr/>
          <p:nvPr/>
        </p:nvSpPr>
        <p:spPr>
          <a:xfrm>
            <a:off x="719647" y="2523603"/>
            <a:ext cx="7550465" cy="923330"/>
          </a:xfrm>
          <a:prstGeom prst="rect">
            <a:avLst/>
          </a:prstGeom>
          <a:noFill/>
        </p:spPr>
        <p:txBody>
          <a:bodyPr wrap="none" lIns="91440" tIns="45720" rIns="91440" bIns="45720">
            <a:spAutoFit/>
          </a:bodyPr>
          <a:lstStyle/>
          <a:p>
            <a:pPr algn="ctr"/>
            <a:r>
              <a:rPr lang="en-IN" sz="5400" b="1" dirty="0"/>
              <a:t>03. AndroidManifest.xml:</a:t>
            </a:r>
            <a:endParaRPr lang="en-IN" sz="54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65095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B7EB-5643-91A7-0299-BA6E188AB6FD}"/>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A50B198B-B3B4-C13F-7189-930BD27E6513}"/>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 y="0"/>
            <a:ext cx="12191999" cy="6858001"/>
          </a:xfrm>
          <a:prstGeom prst="rect">
            <a:avLst/>
          </a:prstGeom>
        </p:spPr>
      </p:pic>
      <p:grpSp>
        <p:nvGrpSpPr>
          <p:cNvPr id="49" name="Group 48">
            <a:extLst>
              <a:ext uri="{FF2B5EF4-FFF2-40B4-BE49-F238E27FC236}">
                <a16:creationId xmlns:a16="http://schemas.microsoft.com/office/drawing/2014/main" id="{45E64C29-CFF0-332D-BC88-84A14B59A2ED}"/>
              </a:ext>
            </a:extLst>
          </p:cNvPr>
          <p:cNvGrpSpPr/>
          <p:nvPr/>
        </p:nvGrpSpPr>
        <p:grpSpPr>
          <a:xfrm>
            <a:off x="-1422399" y="6010168"/>
            <a:ext cx="13614399" cy="860710"/>
            <a:chOff x="6383917" y="5486400"/>
            <a:chExt cx="5808083" cy="1371600"/>
          </a:xfrm>
        </p:grpSpPr>
        <p:sp>
          <p:nvSpPr>
            <p:cNvPr id="24" name="Rectangle 23">
              <a:extLst>
                <a:ext uri="{FF2B5EF4-FFF2-40B4-BE49-F238E27FC236}">
                  <a16:creationId xmlns:a16="http://schemas.microsoft.com/office/drawing/2014/main" id="{8FF20C1D-9F0A-ABEC-084C-422A0AA6D828}"/>
                </a:ext>
              </a:extLst>
            </p:cNvPr>
            <p:cNvSpPr/>
            <p:nvPr/>
          </p:nvSpPr>
          <p:spPr>
            <a:xfrm>
              <a:off x="6921500" y="5486400"/>
              <a:ext cx="5270500" cy="1371600"/>
            </a:xfrm>
            <a:prstGeom prst="rect">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Isosceles Triangle 43">
              <a:extLst>
                <a:ext uri="{FF2B5EF4-FFF2-40B4-BE49-F238E27FC236}">
                  <a16:creationId xmlns:a16="http://schemas.microsoft.com/office/drawing/2014/main" id="{23DD1E43-B603-945F-86ED-4C6F96708EB0}"/>
                </a:ext>
              </a:extLst>
            </p:cNvPr>
            <p:cNvSpPr/>
            <p:nvPr/>
          </p:nvSpPr>
          <p:spPr>
            <a:xfrm rot="16200000">
              <a:off x="6105563" y="5928632"/>
              <a:ext cx="1094290" cy="537581"/>
            </a:xfrm>
            <a:prstGeom prst="triangle">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8" name="Group 47">
            <a:extLst>
              <a:ext uri="{FF2B5EF4-FFF2-40B4-BE49-F238E27FC236}">
                <a16:creationId xmlns:a16="http://schemas.microsoft.com/office/drawing/2014/main" id="{7C385DBC-A1F1-DC74-EDB4-C4D27294D430}"/>
              </a:ext>
            </a:extLst>
          </p:cNvPr>
          <p:cNvGrpSpPr/>
          <p:nvPr/>
        </p:nvGrpSpPr>
        <p:grpSpPr>
          <a:xfrm>
            <a:off x="-1574799" y="3044066"/>
            <a:ext cx="13766800" cy="3017520"/>
            <a:chOff x="6411245" y="1372365"/>
            <a:chExt cx="5780753" cy="4167276"/>
          </a:xfrm>
        </p:grpSpPr>
        <p:sp>
          <p:nvSpPr>
            <p:cNvPr id="22" name="Rectangle 21">
              <a:extLst>
                <a:ext uri="{FF2B5EF4-FFF2-40B4-BE49-F238E27FC236}">
                  <a16:creationId xmlns:a16="http://schemas.microsoft.com/office/drawing/2014/main" id="{C784E444-BBA8-5181-8D5D-2201611B82A4}"/>
                </a:ext>
              </a:extLst>
            </p:cNvPr>
            <p:cNvSpPr/>
            <p:nvPr/>
          </p:nvSpPr>
          <p:spPr>
            <a:xfrm>
              <a:off x="6921498" y="1372365"/>
              <a:ext cx="5270500" cy="4167276"/>
            </a:xfrm>
            <a:prstGeom prst="rect">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Rectangle 30">
              <a:extLst>
                <a:ext uri="{FF2B5EF4-FFF2-40B4-BE49-F238E27FC236}">
                  <a16:creationId xmlns:a16="http://schemas.microsoft.com/office/drawing/2014/main" id="{4737ABF8-9469-D40D-23F9-D0AB4787AE35}"/>
                </a:ext>
              </a:extLst>
            </p:cNvPr>
            <p:cNvSpPr/>
            <p:nvPr/>
          </p:nvSpPr>
          <p:spPr>
            <a:xfrm>
              <a:off x="9464378" y="4451738"/>
              <a:ext cx="184731"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2" name="Isosceles Triangle 41">
              <a:extLst>
                <a:ext uri="{FF2B5EF4-FFF2-40B4-BE49-F238E27FC236}">
                  <a16:creationId xmlns:a16="http://schemas.microsoft.com/office/drawing/2014/main" id="{DFB32B72-F958-52AB-BA4E-336819B09A45}"/>
                </a:ext>
              </a:extLst>
            </p:cNvPr>
            <p:cNvSpPr/>
            <p:nvPr/>
          </p:nvSpPr>
          <p:spPr>
            <a:xfrm rot="16200000">
              <a:off x="6132891" y="4531809"/>
              <a:ext cx="1094290" cy="537581"/>
            </a:xfrm>
            <a:prstGeom prst="triangle">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7" name="Group 46">
            <a:extLst>
              <a:ext uri="{FF2B5EF4-FFF2-40B4-BE49-F238E27FC236}">
                <a16:creationId xmlns:a16="http://schemas.microsoft.com/office/drawing/2014/main" id="{94768FB5-F0CD-D3F4-CBFA-BE53E21987E6}"/>
              </a:ext>
            </a:extLst>
          </p:cNvPr>
          <p:cNvGrpSpPr/>
          <p:nvPr/>
        </p:nvGrpSpPr>
        <p:grpSpPr>
          <a:xfrm>
            <a:off x="-1320800" y="2042924"/>
            <a:ext cx="13512800" cy="1039924"/>
            <a:chOff x="6383916" y="650313"/>
            <a:chExt cx="5808083" cy="3449914"/>
          </a:xfrm>
        </p:grpSpPr>
        <p:sp>
          <p:nvSpPr>
            <p:cNvPr id="20" name="Rectangle 19">
              <a:extLst>
                <a:ext uri="{FF2B5EF4-FFF2-40B4-BE49-F238E27FC236}">
                  <a16:creationId xmlns:a16="http://schemas.microsoft.com/office/drawing/2014/main" id="{C69ABAF6-021C-82E0-9C16-30207E967130}"/>
                </a:ext>
              </a:extLst>
            </p:cNvPr>
            <p:cNvSpPr/>
            <p:nvPr/>
          </p:nvSpPr>
          <p:spPr>
            <a:xfrm>
              <a:off x="6921499" y="650313"/>
              <a:ext cx="5270500" cy="3449914"/>
            </a:xfrm>
            <a:prstGeom prst="rect">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Rectangle 28">
              <a:extLst>
                <a:ext uri="{FF2B5EF4-FFF2-40B4-BE49-F238E27FC236}">
                  <a16:creationId xmlns:a16="http://schemas.microsoft.com/office/drawing/2014/main" id="{8904D6EC-5F48-98D8-093A-6B4F43E85CEF}"/>
                </a:ext>
              </a:extLst>
            </p:cNvPr>
            <p:cNvSpPr/>
            <p:nvPr/>
          </p:nvSpPr>
          <p:spPr>
            <a:xfrm>
              <a:off x="9541721" y="3019107"/>
              <a:ext cx="184730"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0" name="Isosceles Triangle 39">
              <a:extLst>
                <a:ext uri="{FF2B5EF4-FFF2-40B4-BE49-F238E27FC236}">
                  <a16:creationId xmlns:a16="http://schemas.microsoft.com/office/drawing/2014/main" id="{7A98F2C8-360F-C356-9FFA-A7204DB2671C}"/>
                </a:ext>
              </a:extLst>
            </p:cNvPr>
            <p:cNvSpPr/>
            <p:nvPr/>
          </p:nvSpPr>
          <p:spPr>
            <a:xfrm rot="16200000">
              <a:off x="6105562" y="3146464"/>
              <a:ext cx="1094290" cy="537581"/>
            </a:xfrm>
            <a:prstGeom prst="triangle">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6" name="Group 45">
            <a:extLst>
              <a:ext uri="{FF2B5EF4-FFF2-40B4-BE49-F238E27FC236}">
                <a16:creationId xmlns:a16="http://schemas.microsoft.com/office/drawing/2014/main" id="{44A7CCB1-8A7F-A008-BA2B-2B128A858B05}"/>
              </a:ext>
            </a:extLst>
          </p:cNvPr>
          <p:cNvGrpSpPr/>
          <p:nvPr/>
        </p:nvGrpSpPr>
        <p:grpSpPr>
          <a:xfrm>
            <a:off x="-1574800" y="962806"/>
            <a:ext cx="13766799" cy="1157236"/>
            <a:chOff x="6383915" y="1371599"/>
            <a:chExt cx="5808085" cy="4150922"/>
          </a:xfrm>
        </p:grpSpPr>
        <p:sp>
          <p:nvSpPr>
            <p:cNvPr id="18" name="Rectangle 17">
              <a:extLst>
                <a:ext uri="{FF2B5EF4-FFF2-40B4-BE49-F238E27FC236}">
                  <a16:creationId xmlns:a16="http://schemas.microsoft.com/office/drawing/2014/main" id="{3BEDF98F-A619-C043-88B1-537DECEDD379}"/>
                </a:ext>
              </a:extLst>
            </p:cNvPr>
            <p:cNvSpPr/>
            <p:nvPr/>
          </p:nvSpPr>
          <p:spPr>
            <a:xfrm>
              <a:off x="6921500" y="1371599"/>
              <a:ext cx="5270500" cy="4150922"/>
            </a:xfrm>
            <a:prstGeom prst="rect">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7" name="Rectangle 26">
              <a:extLst>
                <a:ext uri="{FF2B5EF4-FFF2-40B4-BE49-F238E27FC236}">
                  <a16:creationId xmlns:a16="http://schemas.microsoft.com/office/drawing/2014/main" id="{11E7CE25-24E3-6915-59E9-D473918A8F99}"/>
                </a:ext>
              </a:extLst>
            </p:cNvPr>
            <p:cNvSpPr/>
            <p:nvPr/>
          </p:nvSpPr>
          <p:spPr>
            <a:xfrm>
              <a:off x="9517776" y="1686171"/>
              <a:ext cx="77936" cy="1079618"/>
            </a:xfrm>
            <a:prstGeom prst="rect">
              <a:avLst/>
            </a:prstGeom>
            <a:noFill/>
          </p:spPr>
          <p:txBody>
            <a:bodyPr wrap="none" lIns="91440" tIns="45720" rIns="91440" bIns="45720">
              <a:spAutoFit/>
            </a:bodyPr>
            <a:lstStyle/>
            <a:p>
              <a:pPr algn="ctr"/>
              <a:endParaRPr lang="en-US" sz="4500" b="1" cap="none" spc="0" dirty="0">
                <a:ln w="0"/>
                <a:solidFill>
                  <a:schemeClr val="tx1"/>
                </a:solidFill>
                <a:effectLst>
                  <a:outerShdw blurRad="38100" dist="19050" dir="2700000" algn="tl" rotWithShape="0">
                    <a:schemeClr val="dk1">
                      <a:alpha val="40000"/>
                    </a:schemeClr>
                  </a:outerShdw>
                </a:effectLst>
              </a:endParaRPr>
            </a:p>
          </p:txBody>
        </p:sp>
        <p:sp>
          <p:nvSpPr>
            <p:cNvPr id="38" name="Isosceles Triangle 37">
              <a:extLst>
                <a:ext uri="{FF2B5EF4-FFF2-40B4-BE49-F238E27FC236}">
                  <a16:creationId xmlns:a16="http://schemas.microsoft.com/office/drawing/2014/main" id="{2B3C4503-2FA2-6E95-8D23-15C8EA164D28}"/>
                </a:ext>
              </a:extLst>
            </p:cNvPr>
            <p:cNvSpPr/>
            <p:nvPr/>
          </p:nvSpPr>
          <p:spPr>
            <a:xfrm rot="16200000">
              <a:off x="6105561" y="1726154"/>
              <a:ext cx="1094290" cy="537581"/>
            </a:xfrm>
            <a:prstGeom prst="triangle">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p>
          </p:txBody>
        </p:sp>
      </p:grpSp>
      <p:grpSp>
        <p:nvGrpSpPr>
          <p:cNvPr id="45" name="Group 44">
            <a:extLst>
              <a:ext uri="{FF2B5EF4-FFF2-40B4-BE49-F238E27FC236}">
                <a16:creationId xmlns:a16="http://schemas.microsoft.com/office/drawing/2014/main" id="{54780410-AAD6-2D7C-DE50-88DD1A98B5F6}"/>
              </a:ext>
            </a:extLst>
          </p:cNvPr>
          <p:cNvGrpSpPr/>
          <p:nvPr/>
        </p:nvGrpSpPr>
        <p:grpSpPr>
          <a:xfrm>
            <a:off x="-1422400" y="0"/>
            <a:ext cx="13614399" cy="1015663"/>
            <a:chOff x="6383918" y="0"/>
            <a:chExt cx="5808082" cy="1371600"/>
          </a:xfrm>
        </p:grpSpPr>
        <p:sp>
          <p:nvSpPr>
            <p:cNvPr id="25" name="Rectangle 24">
              <a:extLst>
                <a:ext uri="{FF2B5EF4-FFF2-40B4-BE49-F238E27FC236}">
                  <a16:creationId xmlns:a16="http://schemas.microsoft.com/office/drawing/2014/main" id="{2B71C145-12E7-053A-3812-3DC7FFBCD7A1}"/>
                </a:ext>
              </a:extLst>
            </p:cNvPr>
            <p:cNvSpPr/>
            <p:nvPr/>
          </p:nvSpPr>
          <p:spPr>
            <a:xfrm>
              <a:off x="7683475" y="298274"/>
              <a:ext cx="3689150" cy="784830"/>
            </a:xfrm>
            <a:prstGeom prst="rect">
              <a:avLst/>
            </a:prstGeom>
            <a:noFill/>
          </p:spPr>
          <p:txBody>
            <a:bodyPr wrap="none" lIns="91440" tIns="45720" rIns="91440" bIns="45720">
              <a:spAutoFit/>
            </a:bodyPr>
            <a:lstStyle/>
            <a:p>
              <a:pPr algn="ctr"/>
              <a:r>
                <a:rPr lang="en-IN" sz="4500" dirty="0"/>
                <a:t>Android Studio</a:t>
              </a: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36" name="Isosceles Triangle 35">
              <a:extLst>
                <a:ext uri="{FF2B5EF4-FFF2-40B4-BE49-F238E27FC236}">
                  <a16:creationId xmlns:a16="http://schemas.microsoft.com/office/drawing/2014/main" id="{E88E8107-BA1A-3910-C1F1-7D87F36DF585}"/>
                </a:ext>
              </a:extLst>
            </p:cNvPr>
            <p:cNvSpPr/>
            <p:nvPr/>
          </p:nvSpPr>
          <p:spPr>
            <a:xfrm rot="16200000">
              <a:off x="6105564" y="417009"/>
              <a:ext cx="1094290" cy="537581"/>
            </a:xfrm>
            <a:prstGeom prst="triangle">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AEF49B9B-3611-CA25-74BA-2CADB3D7AAA8}"/>
                </a:ext>
              </a:extLst>
            </p:cNvPr>
            <p:cNvSpPr/>
            <p:nvPr/>
          </p:nvSpPr>
          <p:spPr>
            <a:xfrm>
              <a:off x="6921500" y="0"/>
              <a:ext cx="5270500" cy="1371600"/>
            </a:xfrm>
            <a:prstGeom prst="rect">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5" name="TextBox 4">
            <a:extLst>
              <a:ext uri="{FF2B5EF4-FFF2-40B4-BE49-F238E27FC236}">
                <a16:creationId xmlns:a16="http://schemas.microsoft.com/office/drawing/2014/main" id="{BCAA0478-47F9-9E1F-CFFC-35EF11937231}"/>
              </a:ext>
            </a:extLst>
          </p:cNvPr>
          <p:cNvSpPr txBox="1"/>
          <p:nvPr/>
        </p:nvSpPr>
        <p:spPr>
          <a:xfrm>
            <a:off x="815251" y="4831106"/>
            <a:ext cx="11376750" cy="584775"/>
          </a:xfrm>
          <a:prstGeom prst="rect">
            <a:avLst/>
          </a:prstGeom>
          <a:noFill/>
        </p:spPr>
        <p:txBody>
          <a:bodyPr wrap="square">
            <a:spAutoFit/>
          </a:bodyPr>
          <a:lstStyle/>
          <a:p>
            <a:r>
              <a:rPr lang="en-IN" sz="3200" dirty="0"/>
              <a:t>Defines the layout and visual structure of the app's main screen.</a:t>
            </a:r>
            <a:endParaRPr lang="en-IN" sz="3000" dirty="0"/>
          </a:p>
        </p:txBody>
      </p:sp>
      <p:sp>
        <p:nvSpPr>
          <p:cNvPr id="6" name="Rectangle 5">
            <a:extLst>
              <a:ext uri="{FF2B5EF4-FFF2-40B4-BE49-F238E27FC236}">
                <a16:creationId xmlns:a16="http://schemas.microsoft.com/office/drawing/2014/main" id="{CF1F6CF2-5C36-868B-E8A2-538ECF361706}"/>
              </a:ext>
            </a:extLst>
          </p:cNvPr>
          <p:cNvSpPr/>
          <p:nvPr/>
        </p:nvSpPr>
        <p:spPr>
          <a:xfrm>
            <a:off x="815251" y="3525579"/>
            <a:ext cx="6551794" cy="923330"/>
          </a:xfrm>
          <a:prstGeom prst="rect">
            <a:avLst/>
          </a:prstGeom>
          <a:noFill/>
        </p:spPr>
        <p:txBody>
          <a:bodyPr wrap="none" lIns="91440" tIns="45720" rIns="91440" bIns="45720">
            <a:spAutoFit/>
          </a:bodyPr>
          <a:lstStyle/>
          <a:p>
            <a:pPr algn="ctr"/>
            <a:r>
              <a:rPr lang="en-IN" sz="5400" b="1" dirty="0"/>
              <a:t>04. activity_main.xml:</a:t>
            </a:r>
            <a:endParaRPr lang="en-IN" sz="54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6917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D37EB-7C33-FBD6-BF77-687CCE0AC330}"/>
            </a:ext>
          </a:extLst>
        </p:cNvPr>
        <p:cNvGrpSpPr/>
        <p:nvPr/>
      </p:nvGrpSpPr>
      <p:grpSpPr>
        <a:xfrm>
          <a:off x="0" y="0"/>
          <a:ext cx="0" cy="0"/>
          <a:chOff x="0" y="0"/>
          <a:chExt cx="0" cy="0"/>
        </a:xfrm>
      </p:grpSpPr>
      <p:pic>
        <p:nvPicPr>
          <p:cNvPr id="3" name="Picture 2" descr="This may contain: an image of a green background that is very soft">
            <a:extLst>
              <a:ext uri="{FF2B5EF4-FFF2-40B4-BE49-F238E27FC236}">
                <a16:creationId xmlns:a16="http://schemas.microsoft.com/office/drawing/2014/main" id="{AD03A543-76B7-373A-CB4F-A9B8B7365B79}"/>
              </a:ext>
            </a:extLst>
          </p:cNvPr>
          <p:cNvPicPr>
            <a:picLocks noChangeAspect="1"/>
          </p:cNvPicPr>
          <p:nvPr/>
        </p:nvPicPr>
        <p:blipFill>
          <a:blip r:embed="rId2">
            <a:duotone>
              <a:prstClr val="black"/>
              <a:schemeClr val="accent6">
                <a:lumMod val="40000"/>
                <a:lumOff val="60000"/>
                <a:tint val="45000"/>
                <a:satMod val="400000"/>
              </a:schemeClr>
            </a:duotone>
            <a:extLst>
              <a:ext uri="{BEBA8EAE-BF5A-486C-A8C5-ECC9F3942E4B}">
                <a14:imgProps xmlns:a14="http://schemas.microsoft.com/office/drawing/2010/main">
                  <a14:imgLayer r:embed="rId3">
                    <a14:imgEffect>
                      <a14:saturation sat="66000"/>
                    </a14:imgEffect>
                  </a14:imgLayer>
                </a14:imgProps>
              </a:ext>
            </a:extLst>
          </a:blip>
          <a:stretch>
            <a:fillRect/>
          </a:stretch>
        </p:blipFill>
        <p:spPr>
          <a:xfrm>
            <a:off x="1" y="0"/>
            <a:ext cx="12191999" cy="6858001"/>
          </a:xfrm>
          <a:prstGeom prst="rect">
            <a:avLst/>
          </a:prstGeom>
        </p:spPr>
      </p:pic>
      <p:grpSp>
        <p:nvGrpSpPr>
          <p:cNvPr id="49" name="Group 48">
            <a:extLst>
              <a:ext uri="{FF2B5EF4-FFF2-40B4-BE49-F238E27FC236}">
                <a16:creationId xmlns:a16="http://schemas.microsoft.com/office/drawing/2014/main" id="{8E17B895-4E33-4FE0-2B8E-6FE3CE954189}"/>
              </a:ext>
            </a:extLst>
          </p:cNvPr>
          <p:cNvGrpSpPr/>
          <p:nvPr/>
        </p:nvGrpSpPr>
        <p:grpSpPr>
          <a:xfrm>
            <a:off x="-1422399" y="3876011"/>
            <a:ext cx="13614394" cy="3017520"/>
            <a:chOff x="6383917" y="2085475"/>
            <a:chExt cx="5808081" cy="4808624"/>
          </a:xfrm>
        </p:grpSpPr>
        <p:sp>
          <p:nvSpPr>
            <p:cNvPr id="24" name="Rectangle 23">
              <a:extLst>
                <a:ext uri="{FF2B5EF4-FFF2-40B4-BE49-F238E27FC236}">
                  <a16:creationId xmlns:a16="http://schemas.microsoft.com/office/drawing/2014/main" id="{A89CC053-4287-94A4-5C44-C2DAEFA50CF8}"/>
                </a:ext>
              </a:extLst>
            </p:cNvPr>
            <p:cNvSpPr/>
            <p:nvPr/>
          </p:nvSpPr>
          <p:spPr>
            <a:xfrm>
              <a:off x="6921498" y="2085475"/>
              <a:ext cx="5270500" cy="4808624"/>
            </a:xfrm>
            <a:prstGeom prst="rect">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Isosceles Triangle 43">
              <a:extLst>
                <a:ext uri="{FF2B5EF4-FFF2-40B4-BE49-F238E27FC236}">
                  <a16:creationId xmlns:a16="http://schemas.microsoft.com/office/drawing/2014/main" id="{60CF35FE-0519-036B-C898-A8CF2851BA9F}"/>
                </a:ext>
              </a:extLst>
            </p:cNvPr>
            <p:cNvSpPr/>
            <p:nvPr/>
          </p:nvSpPr>
          <p:spPr>
            <a:xfrm rot="16200000">
              <a:off x="6105563" y="5928632"/>
              <a:ext cx="1094290" cy="537581"/>
            </a:xfrm>
            <a:prstGeom prst="triangle">
              <a:avLst/>
            </a:prstGeom>
            <a:solidFill>
              <a:srgbClr val="B8C3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8" name="Group 47">
            <a:extLst>
              <a:ext uri="{FF2B5EF4-FFF2-40B4-BE49-F238E27FC236}">
                <a16:creationId xmlns:a16="http://schemas.microsoft.com/office/drawing/2014/main" id="{B67EE9B5-F89A-DC39-EB4C-58A7E2155813}"/>
              </a:ext>
            </a:extLst>
          </p:cNvPr>
          <p:cNvGrpSpPr/>
          <p:nvPr/>
        </p:nvGrpSpPr>
        <p:grpSpPr>
          <a:xfrm>
            <a:off x="-1574799" y="3044066"/>
            <a:ext cx="13766800" cy="1055234"/>
            <a:chOff x="6411245" y="1372365"/>
            <a:chExt cx="5780753" cy="4167276"/>
          </a:xfrm>
        </p:grpSpPr>
        <p:sp>
          <p:nvSpPr>
            <p:cNvPr id="22" name="Rectangle 21">
              <a:extLst>
                <a:ext uri="{FF2B5EF4-FFF2-40B4-BE49-F238E27FC236}">
                  <a16:creationId xmlns:a16="http://schemas.microsoft.com/office/drawing/2014/main" id="{7A293FD5-EE16-DA56-5585-9B81445FE855}"/>
                </a:ext>
              </a:extLst>
            </p:cNvPr>
            <p:cNvSpPr/>
            <p:nvPr/>
          </p:nvSpPr>
          <p:spPr>
            <a:xfrm>
              <a:off x="6921498" y="1372365"/>
              <a:ext cx="5270500" cy="4167276"/>
            </a:xfrm>
            <a:prstGeom prst="rect">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Rectangle 30">
              <a:extLst>
                <a:ext uri="{FF2B5EF4-FFF2-40B4-BE49-F238E27FC236}">
                  <a16:creationId xmlns:a16="http://schemas.microsoft.com/office/drawing/2014/main" id="{57A60F80-4702-C8B4-A832-4548CD46F303}"/>
                </a:ext>
              </a:extLst>
            </p:cNvPr>
            <p:cNvSpPr/>
            <p:nvPr/>
          </p:nvSpPr>
          <p:spPr>
            <a:xfrm>
              <a:off x="9464378" y="4451738"/>
              <a:ext cx="184731"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2" name="Isosceles Triangle 41">
              <a:extLst>
                <a:ext uri="{FF2B5EF4-FFF2-40B4-BE49-F238E27FC236}">
                  <a16:creationId xmlns:a16="http://schemas.microsoft.com/office/drawing/2014/main" id="{4642449F-150B-7ECF-589D-6BA4059CBEE8}"/>
                </a:ext>
              </a:extLst>
            </p:cNvPr>
            <p:cNvSpPr/>
            <p:nvPr/>
          </p:nvSpPr>
          <p:spPr>
            <a:xfrm rot="16200000">
              <a:off x="6132891" y="4531809"/>
              <a:ext cx="1094290" cy="537581"/>
            </a:xfrm>
            <a:prstGeom prst="triangle">
              <a:avLst/>
            </a:prstGeom>
            <a:solidFill>
              <a:srgbClr val="A4B2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7" name="Group 46">
            <a:extLst>
              <a:ext uri="{FF2B5EF4-FFF2-40B4-BE49-F238E27FC236}">
                <a16:creationId xmlns:a16="http://schemas.microsoft.com/office/drawing/2014/main" id="{5211D36B-04B5-5F1B-C5B2-FB6DB684633D}"/>
              </a:ext>
            </a:extLst>
          </p:cNvPr>
          <p:cNvGrpSpPr/>
          <p:nvPr/>
        </p:nvGrpSpPr>
        <p:grpSpPr>
          <a:xfrm>
            <a:off x="-1320800" y="2042924"/>
            <a:ext cx="13512800" cy="1039924"/>
            <a:chOff x="6383916" y="650313"/>
            <a:chExt cx="5808083" cy="3449914"/>
          </a:xfrm>
        </p:grpSpPr>
        <p:sp>
          <p:nvSpPr>
            <p:cNvPr id="20" name="Rectangle 19">
              <a:extLst>
                <a:ext uri="{FF2B5EF4-FFF2-40B4-BE49-F238E27FC236}">
                  <a16:creationId xmlns:a16="http://schemas.microsoft.com/office/drawing/2014/main" id="{B03B9C23-FB40-224F-CE98-F494115D78ED}"/>
                </a:ext>
              </a:extLst>
            </p:cNvPr>
            <p:cNvSpPr/>
            <p:nvPr/>
          </p:nvSpPr>
          <p:spPr>
            <a:xfrm>
              <a:off x="6921499" y="650313"/>
              <a:ext cx="5270500" cy="3449914"/>
            </a:xfrm>
            <a:prstGeom prst="rect">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Rectangle 28">
              <a:extLst>
                <a:ext uri="{FF2B5EF4-FFF2-40B4-BE49-F238E27FC236}">
                  <a16:creationId xmlns:a16="http://schemas.microsoft.com/office/drawing/2014/main" id="{FCD0A78C-D63B-F655-D6F7-5D2386D41DBC}"/>
                </a:ext>
              </a:extLst>
            </p:cNvPr>
            <p:cNvSpPr/>
            <p:nvPr/>
          </p:nvSpPr>
          <p:spPr>
            <a:xfrm>
              <a:off x="9541721" y="3019107"/>
              <a:ext cx="184730" cy="784830"/>
            </a:xfrm>
            <a:prstGeom prst="rect">
              <a:avLst/>
            </a:prstGeom>
            <a:noFill/>
          </p:spPr>
          <p:txBody>
            <a:bodyPr wrap="none" lIns="91440" tIns="45720" rIns="91440" bIns="45720">
              <a:spAutoFit/>
            </a:bodyPr>
            <a:lstStyle/>
            <a:p>
              <a:pPr algn="ct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40" name="Isosceles Triangle 39">
              <a:extLst>
                <a:ext uri="{FF2B5EF4-FFF2-40B4-BE49-F238E27FC236}">
                  <a16:creationId xmlns:a16="http://schemas.microsoft.com/office/drawing/2014/main" id="{38D27E7A-251A-E25A-11C6-B724D789C806}"/>
                </a:ext>
              </a:extLst>
            </p:cNvPr>
            <p:cNvSpPr/>
            <p:nvPr/>
          </p:nvSpPr>
          <p:spPr>
            <a:xfrm rot="16200000">
              <a:off x="6105562" y="3146464"/>
              <a:ext cx="1094290" cy="537581"/>
            </a:xfrm>
            <a:prstGeom prst="triangle">
              <a:avLst/>
            </a:prstGeom>
            <a:solidFill>
              <a:srgbClr val="7684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6" name="Group 45">
            <a:extLst>
              <a:ext uri="{FF2B5EF4-FFF2-40B4-BE49-F238E27FC236}">
                <a16:creationId xmlns:a16="http://schemas.microsoft.com/office/drawing/2014/main" id="{65468DAA-F318-DA13-FB4E-CA803B2866D1}"/>
              </a:ext>
            </a:extLst>
          </p:cNvPr>
          <p:cNvGrpSpPr/>
          <p:nvPr/>
        </p:nvGrpSpPr>
        <p:grpSpPr>
          <a:xfrm>
            <a:off x="-1574800" y="962806"/>
            <a:ext cx="13766799" cy="1157236"/>
            <a:chOff x="6383915" y="1371599"/>
            <a:chExt cx="5808085" cy="4150922"/>
          </a:xfrm>
        </p:grpSpPr>
        <p:sp>
          <p:nvSpPr>
            <p:cNvPr id="18" name="Rectangle 17">
              <a:extLst>
                <a:ext uri="{FF2B5EF4-FFF2-40B4-BE49-F238E27FC236}">
                  <a16:creationId xmlns:a16="http://schemas.microsoft.com/office/drawing/2014/main" id="{A6154D3D-D517-9475-37EA-85463D7BA18C}"/>
                </a:ext>
              </a:extLst>
            </p:cNvPr>
            <p:cNvSpPr/>
            <p:nvPr/>
          </p:nvSpPr>
          <p:spPr>
            <a:xfrm>
              <a:off x="6921500" y="1371599"/>
              <a:ext cx="5270500" cy="4150922"/>
            </a:xfrm>
            <a:prstGeom prst="rect">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27" name="Rectangle 26">
              <a:extLst>
                <a:ext uri="{FF2B5EF4-FFF2-40B4-BE49-F238E27FC236}">
                  <a16:creationId xmlns:a16="http://schemas.microsoft.com/office/drawing/2014/main" id="{4EC9E3E9-3E44-0A2C-61DD-433FB1A195B8}"/>
                </a:ext>
              </a:extLst>
            </p:cNvPr>
            <p:cNvSpPr/>
            <p:nvPr/>
          </p:nvSpPr>
          <p:spPr>
            <a:xfrm>
              <a:off x="9517776" y="1686171"/>
              <a:ext cx="77936" cy="1079618"/>
            </a:xfrm>
            <a:prstGeom prst="rect">
              <a:avLst/>
            </a:prstGeom>
            <a:noFill/>
          </p:spPr>
          <p:txBody>
            <a:bodyPr wrap="none" lIns="91440" tIns="45720" rIns="91440" bIns="45720">
              <a:spAutoFit/>
            </a:bodyPr>
            <a:lstStyle/>
            <a:p>
              <a:pPr algn="ctr"/>
              <a:endParaRPr lang="en-US" sz="4500" b="1" cap="none" spc="0" dirty="0">
                <a:ln w="0"/>
                <a:solidFill>
                  <a:schemeClr val="tx1"/>
                </a:solidFill>
                <a:effectLst>
                  <a:outerShdw blurRad="38100" dist="19050" dir="2700000" algn="tl" rotWithShape="0">
                    <a:schemeClr val="dk1">
                      <a:alpha val="40000"/>
                    </a:schemeClr>
                  </a:outerShdw>
                </a:effectLst>
              </a:endParaRPr>
            </a:p>
          </p:txBody>
        </p:sp>
        <p:sp>
          <p:nvSpPr>
            <p:cNvPr id="38" name="Isosceles Triangle 37">
              <a:extLst>
                <a:ext uri="{FF2B5EF4-FFF2-40B4-BE49-F238E27FC236}">
                  <a16:creationId xmlns:a16="http://schemas.microsoft.com/office/drawing/2014/main" id="{50B178C5-231D-42ED-7051-3ED086A79C5D}"/>
                </a:ext>
              </a:extLst>
            </p:cNvPr>
            <p:cNvSpPr/>
            <p:nvPr/>
          </p:nvSpPr>
          <p:spPr>
            <a:xfrm rot="16200000">
              <a:off x="6105561" y="1726154"/>
              <a:ext cx="1094290" cy="537581"/>
            </a:xfrm>
            <a:prstGeom prst="triangle">
              <a:avLst/>
            </a:prstGeom>
            <a:solidFill>
              <a:srgbClr val="568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p>
          </p:txBody>
        </p:sp>
      </p:grpSp>
      <p:grpSp>
        <p:nvGrpSpPr>
          <p:cNvPr id="45" name="Group 44">
            <a:extLst>
              <a:ext uri="{FF2B5EF4-FFF2-40B4-BE49-F238E27FC236}">
                <a16:creationId xmlns:a16="http://schemas.microsoft.com/office/drawing/2014/main" id="{C276522B-EBC2-6547-0664-A0F8758788FD}"/>
              </a:ext>
            </a:extLst>
          </p:cNvPr>
          <p:cNvGrpSpPr/>
          <p:nvPr/>
        </p:nvGrpSpPr>
        <p:grpSpPr>
          <a:xfrm>
            <a:off x="-1422400" y="0"/>
            <a:ext cx="13614399" cy="1015663"/>
            <a:chOff x="6383918" y="0"/>
            <a:chExt cx="5808082" cy="1371600"/>
          </a:xfrm>
        </p:grpSpPr>
        <p:sp>
          <p:nvSpPr>
            <p:cNvPr id="25" name="Rectangle 24">
              <a:extLst>
                <a:ext uri="{FF2B5EF4-FFF2-40B4-BE49-F238E27FC236}">
                  <a16:creationId xmlns:a16="http://schemas.microsoft.com/office/drawing/2014/main" id="{883584EC-5B8C-72F4-C88A-0727D4F562B0}"/>
                </a:ext>
              </a:extLst>
            </p:cNvPr>
            <p:cNvSpPr/>
            <p:nvPr/>
          </p:nvSpPr>
          <p:spPr>
            <a:xfrm>
              <a:off x="7683475" y="298274"/>
              <a:ext cx="3689150" cy="784830"/>
            </a:xfrm>
            <a:prstGeom prst="rect">
              <a:avLst/>
            </a:prstGeom>
            <a:noFill/>
          </p:spPr>
          <p:txBody>
            <a:bodyPr wrap="none" lIns="91440" tIns="45720" rIns="91440" bIns="45720">
              <a:spAutoFit/>
            </a:bodyPr>
            <a:lstStyle/>
            <a:p>
              <a:pPr algn="ctr"/>
              <a:r>
                <a:rPr lang="en-IN" sz="4500" dirty="0"/>
                <a:t>Android Studio</a:t>
              </a:r>
              <a:endParaRPr lang="en-US" sz="4500" b="0" cap="none" spc="0" dirty="0">
                <a:ln w="0"/>
                <a:solidFill>
                  <a:schemeClr val="tx1"/>
                </a:solidFill>
                <a:effectLst>
                  <a:outerShdw blurRad="38100" dist="19050" dir="2700000" algn="tl" rotWithShape="0">
                    <a:schemeClr val="dk1">
                      <a:alpha val="40000"/>
                    </a:schemeClr>
                  </a:outerShdw>
                </a:effectLst>
              </a:endParaRPr>
            </a:p>
          </p:txBody>
        </p:sp>
        <p:sp>
          <p:nvSpPr>
            <p:cNvPr id="36" name="Isosceles Triangle 35">
              <a:extLst>
                <a:ext uri="{FF2B5EF4-FFF2-40B4-BE49-F238E27FC236}">
                  <a16:creationId xmlns:a16="http://schemas.microsoft.com/office/drawing/2014/main" id="{516A3F11-C919-6C93-46E7-43A3657F0B2D}"/>
                </a:ext>
              </a:extLst>
            </p:cNvPr>
            <p:cNvSpPr/>
            <p:nvPr/>
          </p:nvSpPr>
          <p:spPr>
            <a:xfrm rot="16200000">
              <a:off x="6105564" y="417009"/>
              <a:ext cx="1094290" cy="537581"/>
            </a:xfrm>
            <a:prstGeom prst="triangle">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0111367B-E795-0C97-AE77-10CA56B18461}"/>
                </a:ext>
              </a:extLst>
            </p:cNvPr>
            <p:cNvSpPr/>
            <p:nvPr/>
          </p:nvSpPr>
          <p:spPr>
            <a:xfrm>
              <a:off x="6921500" y="0"/>
              <a:ext cx="5270500" cy="1371600"/>
            </a:xfrm>
            <a:prstGeom prst="rect">
              <a:avLst/>
            </a:prstGeom>
            <a:solidFill>
              <a:srgbClr val="3A69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5" name="TextBox 4">
            <a:extLst>
              <a:ext uri="{FF2B5EF4-FFF2-40B4-BE49-F238E27FC236}">
                <a16:creationId xmlns:a16="http://schemas.microsoft.com/office/drawing/2014/main" id="{ED4E8953-4749-805C-567D-2AE1C382AD9D}"/>
              </a:ext>
            </a:extLst>
          </p:cNvPr>
          <p:cNvSpPr txBox="1"/>
          <p:nvPr/>
        </p:nvSpPr>
        <p:spPr>
          <a:xfrm>
            <a:off x="767403" y="5498993"/>
            <a:ext cx="11376750" cy="1077218"/>
          </a:xfrm>
          <a:prstGeom prst="rect">
            <a:avLst/>
          </a:prstGeom>
          <a:noFill/>
        </p:spPr>
        <p:txBody>
          <a:bodyPr wrap="square">
            <a:spAutoFit/>
          </a:bodyPr>
          <a:lstStyle/>
          <a:p>
            <a:r>
              <a:rPr lang="en-IN" sz="3200" dirty="0"/>
              <a:t>The final installation file generated to install and run Mind Bloom on compatible Android devices.</a:t>
            </a:r>
          </a:p>
        </p:txBody>
      </p:sp>
      <p:sp>
        <p:nvSpPr>
          <p:cNvPr id="6" name="Rectangle 5">
            <a:extLst>
              <a:ext uri="{FF2B5EF4-FFF2-40B4-BE49-F238E27FC236}">
                <a16:creationId xmlns:a16="http://schemas.microsoft.com/office/drawing/2014/main" id="{CC46F5BF-23C7-6DCF-A8FD-B3796605A6F5}"/>
              </a:ext>
            </a:extLst>
          </p:cNvPr>
          <p:cNvSpPr/>
          <p:nvPr/>
        </p:nvSpPr>
        <p:spPr>
          <a:xfrm>
            <a:off x="1099101" y="4425911"/>
            <a:ext cx="3748142" cy="923330"/>
          </a:xfrm>
          <a:prstGeom prst="rect">
            <a:avLst/>
          </a:prstGeom>
          <a:noFill/>
        </p:spPr>
        <p:txBody>
          <a:bodyPr wrap="none" lIns="91440" tIns="45720" rIns="91440" bIns="45720">
            <a:spAutoFit/>
          </a:bodyPr>
          <a:lstStyle/>
          <a:p>
            <a:pPr algn="ctr"/>
            <a:r>
              <a:rPr lang="en-IN" sz="5400" b="1" dirty="0"/>
              <a:t>05. APK File:</a:t>
            </a:r>
            <a:endParaRPr lang="en-IN" sz="54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40316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creen Recording 4">
            <a:hlinkClick r:id="" action="ppaction://media"/>
            <a:extLst>
              <a:ext uri="{FF2B5EF4-FFF2-40B4-BE49-F238E27FC236}">
                <a16:creationId xmlns:a16="http://schemas.microsoft.com/office/drawing/2014/main" id="{AF5F2EF5-5A12-4935-5FA8-8BC353F0DB3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1"/>
            <a:ext cx="12192000" cy="7010401"/>
          </a:xfrm>
          <a:prstGeom prst="rect">
            <a:avLst/>
          </a:prstGeom>
        </p:spPr>
      </p:pic>
      <p:sp>
        <p:nvSpPr>
          <p:cNvPr id="6" name="Rectangle 5">
            <a:extLst>
              <a:ext uri="{FF2B5EF4-FFF2-40B4-BE49-F238E27FC236}">
                <a16:creationId xmlns:a16="http://schemas.microsoft.com/office/drawing/2014/main" id="{42EF1FA0-9A3F-3B10-3754-E882C4761310}"/>
              </a:ext>
            </a:extLst>
          </p:cNvPr>
          <p:cNvSpPr/>
          <p:nvPr/>
        </p:nvSpPr>
        <p:spPr>
          <a:xfrm>
            <a:off x="4015591" y="7231022"/>
            <a:ext cx="4160818" cy="14096167"/>
          </a:xfrm>
          <a:prstGeom prst="rect">
            <a:avLst/>
          </a:prstGeom>
          <a:noFill/>
        </p:spPr>
        <p:txBody>
          <a:bodyPr wrap="none" lIns="91440" tIns="45720" rIns="91440" bIns="45720">
            <a:spAutoFit/>
          </a:bodyPr>
          <a:lstStyle/>
          <a:p>
            <a:pPr algn="ctr"/>
            <a:r>
              <a:rPr lang="en-US" sz="4500" cap="none" spc="50" dirty="0">
                <a:ln w="0"/>
                <a:solidFill>
                  <a:schemeClr val="bg2"/>
                </a:solidFill>
                <a:effectLst>
                  <a:innerShdw blurRad="63500" dist="50800" dir="13500000">
                    <a:srgbClr val="000000">
                      <a:alpha val="50000"/>
                    </a:srgbClr>
                  </a:innerShdw>
                </a:effectLst>
              </a:rPr>
              <a:t>Presented By:</a:t>
            </a:r>
          </a:p>
          <a:p>
            <a:pPr algn="ctr"/>
            <a:endParaRPr lang="en-US" sz="4500" cap="none" spc="50" dirty="0">
              <a:ln w="0"/>
              <a:solidFill>
                <a:schemeClr val="bg2"/>
              </a:solidFill>
              <a:effectLst>
                <a:innerShdw blurRad="63500" dist="50800" dir="13500000">
                  <a:srgbClr val="000000">
                    <a:alpha val="50000"/>
                  </a:srgbClr>
                </a:innerShdw>
              </a:effectLst>
            </a:endParaRPr>
          </a:p>
          <a:p>
            <a:pPr algn="ctr"/>
            <a:r>
              <a:rPr lang="en-US" sz="4500" spc="50" dirty="0">
                <a:ln w="0"/>
                <a:solidFill>
                  <a:schemeClr val="bg2"/>
                </a:solidFill>
                <a:effectLst>
                  <a:innerShdw blurRad="63500" dist="50800" dir="13500000">
                    <a:srgbClr val="000000">
                      <a:alpha val="50000"/>
                    </a:srgbClr>
                  </a:innerShdw>
                </a:effectLst>
              </a:rPr>
              <a:t>Heer Ranpara</a:t>
            </a:r>
          </a:p>
          <a:p>
            <a:pPr algn="ctr"/>
            <a:endParaRPr lang="en-US" sz="4500" spc="50" dirty="0">
              <a:ln w="0"/>
              <a:solidFill>
                <a:schemeClr val="bg2"/>
              </a:solidFill>
              <a:effectLst>
                <a:innerShdw blurRad="63500" dist="50800" dir="13500000">
                  <a:srgbClr val="000000">
                    <a:alpha val="50000"/>
                  </a:srgbClr>
                </a:innerShdw>
              </a:effectLst>
            </a:endParaRPr>
          </a:p>
          <a:p>
            <a:pPr algn="ctr"/>
            <a:r>
              <a:rPr lang="en-US" sz="4500" spc="50" dirty="0">
                <a:ln w="0"/>
                <a:solidFill>
                  <a:schemeClr val="bg2"/>
                </a:solidFill>
                <a:effectLst>
                  <a:innerShdw blurRad="63500" dist="50800" dir="13500000">
                    <a:srgbClr val="000000">
                      <a:alpha val="50000"/>
                    </a:srgbClr>
                  </a:innerShdw>
                </a:effectLst>
              </a:rPr>
              <a:t>Vidhi Rathod</a:t>
            </a:r>
          </a:p>
          <a:p>
            <a:pPr algn="ctr"/>
            <a:endParaRPr lang="en-US" sz="4500" cap="none" spc="50" dirty="0">
              <a:ln w="0"/>
              <a:solidFill>
                <a:schemeClr val="bg2"/>
              </a:solidFill>
              <a:effectLst>
                <a:innerShdw blurRad="63500" dist="50800" dir="13500000">
                  <a:srgbClr val="000000">
                    <a:alpha val="50000"/>
                  </a:srgbClr>
                </a:innerShdw>
              </a:effectLst>
            </a:endParaRPr>
          </a:p>
          <a:p>
            <a:pPr algn="ctr"/>
            <a:r>
              <a:rPr lang="en-US" sz="4500" cap="none" spc="50" dirty="0">
                <a:ln w="0"/>
                <a:solidFill>
                  <a:schemeClr val="bg2"/>
                </a:solidFill>
                <a:effectLst>
                  <a:innerShdw blurRad="63500" dist="50800" dir="13500000">
                    <a:srgbClr val="000000">
                      <a:alpha val="50000"/>
                    </a:srgbClr>
                  </a:innerShdw>
                </a:effectLst>
              </a:rPr>
              <a:t>Jeel Ravrani</a:t>
            </a:r>
          </a:p>
          <a:p>
            <a:pPr algn="ctr"/>
            <a:endParaRPr lang="en-US" sz="4500" cap="none" spc="50" dirty="0">
              <a:ln w="0"/>
              <a:solidFill>
                <a:schemeClr val="bg2"/>
              </a:solidFill>
              <a:effectLst>
                <a:innerShdw blurRad="63500" dist="50800" dir="13500000">
                  <a:srgbClr val="000000">
                    <a:alpha val="50000"/>
                  </a:srgbClr>
                </a:innerShdw>
              </a:effectLst>
            </a:endParaRPr>
          </a:p>
          <a:p>
            <a:pPr algn="ctr"/>
            <a:r>
              <a:rPr lang="en-US" sz="4500" spc="50" dirty="0">
                <a:ln w="0"/>
                <a:solidFill>
                  <a:schemeClr val="bg2"/>
                </a:solidFill>
                <a:effectLst>
                  <a:innerShdw blurRad="63500" dist="50800" dir="13500000">
                    <a:srgbClr val="000000">
                      <a:alpha val="50000"/>
                    </a:srgbClr>
                  </a:innerShdw>
                </a:effectLst>
              </a:rPr>
              <a:t>Jiya Shethiya</a:t>
            </a:r>
          </a:p>
          <a:p>
            <a:pPr algn="ctr"/>
            <a:endParaRPr lang="en-US" sz="4500" spc="50" dirty="0">
              <a:ln w="0"/>
              <a:solidFill>
                <a:schemeClr val="bg2"/>
              </a:solidFill>
              <a:effectLst>
                <a:innerShdw blurRad="63500" dist="50800" dir="13500000">
                  <a:srgbClr val="000000">
                    <a:alpha val="50000"/>
                  </a:srgbClr>
                </a:innerShdw>
              </a:effectLst>
            </a:endParaRPr>
          </a:p>
          <a:p>
            <a:pPr algn="ctr"/>
            <a:r>
              <a:rPr lang="en-US" sz="4500" spc="50" dirty="0">
                <a:ln w="0"/>
                <a:solidFill>
                  <a:schemeClr val="bg2"/>
                </a:solidFill>
                <a:effectLst>
                  <a:innerShdw blurRad="63500" dist="50800" dir="13500000">
                    <a:srgbClr val="000000">
                      <a:alpha val="50000"/>
                    </a:srgbClr>
                  </a:innerShdw>
                </a:effectLst>
              </a:rPr>
              <a:t>Dharmi Vasiyani</a:t>
            </a:r>
          </a:p>
          <a:p>
            <a:pPr algn="ctr"/>
            <a:endParaRPr lang="en-US" sz="4500" spc="50" dirty="0">
              <a:ln w="0"/>
              <a:solidFill>
                <a:schemeClr val="bg2"/>
              </a:solidFill>
              <a:effectLst>
                <a:innerShdw blurRad="63500" dist="50800" dir="13500000">
                  <a:srgbClr val="000000">
                    <a:alpha val="50000"/>
                  </a:srgbClr>
                </a:innerShdw>
              </a:effectLst>
            </a:endParaRPr>
          </a:p>
          <a:p>
            <a:pPr algn="ctr"/>
            <a:endParaRPr lang="en-US" sz="4500" spc="50" dirty="0">
              <a:ln w="0"/>
              <a:solidFill>
                <a:schemeClr val="bg2"/>
              </a:solidFill>
              <a:effectLst>
                <a:innerShdw blurRad="63500" dist="50800" dir="13500000">
                  <a:srgbClr val="000000">
                    <a:alpha val="50000"/>
                  </a:srgbClr>
                </a:innerShdw>
              </a:effectLst>
            </a:endParaRPr>
          </a:p>
          <a:p>
            <a:pPr algn="ctr"/>
            <a:endParaRPr lang="en-US" sz="4500" spc="50" dirty="0">
              <a:ln w="0"/>
              <a:solidFill>
                <a:schemeClr val="bg2"/>
              </a:solidFill>
              <a:effectLst>
                <a:innerShdw blurRad="63500" dist="50800" dir="13500000">
                  <a:srgbClr val="000000">
                    <a:alpha val="50000"/>
                  </a:srgbClr>
                </a:innerShdw>
              </a:effectLst>
            </a:endParaRPr>
          </a:p>
          <a:p>
            <a:pPr algn="ctr"/>
            <a:r>
              <a:rPr lang="en-US" sz="4500" spc="50" dirty="0">
                <a:ln w="0"/>
                <a:solidFill>
                  <a:schemeClr val="bg2"/>
                </a:solidFill>
                <a:effectLst>
                  <a:innerShdw blurRad="63500" dist="50800" dir="13500000">
                    <a:srgbClr val="000000">
                      <a:alpha val="50000"/>
                    </a:srgbClr>
                  </a:innerShdw>
                </a:effectLst>
              </a:rPr>
              <a:t>Faculty Guide:</a:t>
            </a:r>
          </a:p>
          <a:p>
            <a:pPr algn="ctr"/>
            <a:endParaRPr lang="en-US" sz="4500" spc="50" dirty="0">
              <a:ln w="0"/>
              <a:solidFill>
                <a:schemeClr val="bg2"/>
              </a:solidFill>
              <a:effectLst>
                <a:innerShdw blurRad="63500" dist="50800" dir="13500000">
                  <a:srgbClr val="000000">
                    <a:alpha val="50000"/>
                  </a:srgbClr>
                </a:innerShdw>
              </a:effectLst>
            </a:endParaRPr>
          </a:p>
          <a:p>
            <a:pPr algn="ctr"/>
            <a:r>
              <a:rPr lang="en-US" sz="4500" spc="50" dirty="0">
                <a:ln w="0"/>
                <a:solidFill>
                  <a:schemeClr val="bg2"/>
                </a:solidFill>
                <a:effectLst>
                  <a:innerShdw blurRad="63500" dist="50800" dir="13500000">
                    <a:srgbClr val="000000">
                      <a:alpha val="50000"/>
                    </a:srgbClr>
                  </a:innerShdw>
                </a:effectLst>
              </a:rPr>
              <a:t>Darshita Madam</a:t>
            </a:r>
          </a:p>
          <a:p>
            <a:pPr algn="ctr"/>
            <a:endParaRPr lang="en-US" sz="4500" spc="50" dirty="0">
              <a:ln w="0"/>
              <a:solidFill>
                <a:schemeClr val="bg2"/>
              </a:solidFill>
              <a:effectLst>
                <a:innerShdw blurRad="63500" dist="50800" dir="13500000">
                  <a:srgbClr val="000000">
                    <a:alpha val="50000"/>
                  </a:srgbClr>
                </a:innerShdw>
              </a:effectLst>
            </a:endParaRPr>
          </a:p>
          <a:p>
            <a:pPr algn="ctr"/>
            <a:endParaRPr lang="en-US" sz="4500" spc="50" dirty="0">
              <a:ln w="0"/>
              <a:solidFill>
                <a:schemeClr val="bg2"/>
              </a:solidFill>
              <a:effectLst>
                <a:innerShdw blurRad="63500" dist="50800" dir="13500000">
                  <a:srgbClr val="000000">
                    <a:alpha val="50000"/>
                  </a:srgbClr>
                </a:innerShdw>
              </a:effectLst>
            </a:endParaRPr>
          </a:p>
          <a:p>
            <a:pPr algn="ctr"/>
            <a:r>
              <a:rPr lang="en-US" sz="5500" spc="50" dirty="0">
                <a:ln w="0"/>
                <a:solidFill>
                  <a:schemeClr val="bg2"/>
                </a:solidFill>
                <a:effectLst>
                  <a:innerShdw blurRad="63500" dist="50800" dir="13500000">
                    <a:srgbClr val="000000">
                      <a:alpha val="50000"/>
                    </a:srgbClr>
                  </a:innerShdw>
                </a:effectLst>
              </a:rPr>
              <a:t>THANK YOU</a:t>
            </a:r>
          </a:p>
        </p:txBody>
      </p:sp>
    </p:spTree>
    <p:extLst>
      <p:ext uri="{BB962C8B-B14F-4D97-AF65-F5344CB8AC3E}">
        <p14:creationId xmlns:p14="http://schemas.microsoft.com/office/powerpoint/2010/main" val="1875159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fill="hold" grpId="0" nodeType="withEffect">
                                  <p:stCondLst>
                                    <p:cond delay="0"/>
                                  </p:stCondLst>
                                  <p:childTnLst>
                                    <p:animMotion origin="layout" path="M 0 -0.55879 L 0 -2.45648 " pathEditMode="relative" rAng="0" ptsTypes="AA">
                                      <p:cBhvr>
                                        <p:cTn id="6" dur="15000" fill="hold"/>
                                        <p:tgtEl>
                                          <p:spTgt spid="6"/>
                                        </p:tgtEl>
                                        <p:attrNameLst>
                                          <p:attrName>ppt_x</p:attrName>
                                          <p:attrName>ppt_y</p:attrName>
                                        </p:attrNameLst>
                                      </p:cBhvr>
                                      <p:rCtr x="0" y="-94884"/>
                                    </p:animMotion>
                                  </p:childTnLst>
                                </p:cTn>
                              </p:par>
                            </p:childTnLst>
                          </p:cTn>
                        </p:par>
                        <p:par>
                          <p:cTn id="7" fill="hold">
                            <p:stCondLst>
                              <p:cond delay="15000"/>
                            </p:stCondLst>
                            <p:childTnLst>
                              <p:par>
                                <p:cTn id="8" presetID="1" presetClass="mediacall" presetSubtype="0" fill="hold" nodeType="afterEffect">
                                  <p:stCondLst>
                                    <p:cond delay="0"/>
                                  </p:stCondLst>
                                  <p:childTnLst>
                                    <p:cmd type="call" cmd="playFrom(0.0)">
                                      <p:cBhvr>
                                        <p:cTn id="9" dur="2037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0" repeatCount="indefinite" fill="hold" display="0">
                  <p:stCondLst>
                    <p:cond delay="indefinite"/>
                  </p:stCondLst>
                </p:cTn>
                <p:tgtEl>
                  <p:spTgt spid="5"/>
                </p:tgtEl>
              </p:cMediaNode>
            </p:video>
            <p:seq concurrent="1" nextAc="seek">
              <p:cTn id="11" restart="whenNotActive" fill="hold" evtFilter="cancelBubble" nodeType="interactiveSeq">
                <p:stCondLst>
                  <p:cond evt="onClick" delay="0">
                    <p:tgtEl>
                      <p:spTgt spid="5"/>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5"/>
                                        </p:tgtEl>
                                      </p:cBhvr>
                                    </p:cmd>
                                  </p:childTnLst>
                                </p:cTn>
                              </p:par>
                            </p:childTnLst>
                          </p:cTn>
                        </p:par>
                      </p:childTnLst>
                    </p:cTn>
                  </p:par>
                </p:childTnLst>
              </p:cTn>
              <p:nextCondLst>
                <p:cond evt="onClick" delay="0">
                  <p:tgtEl>
                    <p:spTgt spid="5"/>
                  </p:tgtEl>
                </p:cond>
              </p:nextCondLst>
            </p:seq>
          </p:childTnLst>
        </p:cTn>
      </p:par>
    </p:tnLst>
    <p:bldLst>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TotalTime>
  <Words>1337</Words>
  <Application>Microsoft Office PowerPoint</Application>
  <PresentationFormat>Widescreen</PresentationFormat>
  <Paragraphs>186</Paragraphs>
  <Slides>27</Slides>
  <Notes>9</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Agency FB</vt:lpstr>
      <vt:lpstr>Arial</vt:lpstr>
      <vt:lpstr>Bradley Hand ITC</vt:lpstr>
      <vt:lpstr>Calibri</vt:lpstr>
      <vt:lpstr>Calibri Light</vt:lpstr>
      <vt:lpstr>Castellar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Heer Ranpara</dc:creator>
  <cp:lastModifiedBy>Heer Ranpara</cp:lastModifiedBy>
  <cp:revision>7</cp:revision>
  <dcterms:created xsi:type="dcterms:W3CDTF">2026-10-23T16:20:11Z</dcterms:created>
  <dcterms:modified xsi:type="dcterms:W3CDTF">2026-10-24T09:38:36Z</dcterms:modified>
</cp:coreProperties>
</file>